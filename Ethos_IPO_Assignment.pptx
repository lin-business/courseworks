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16"/>
  </p:notesMasterIdLst>
  <p:handoutMasterIdLst>
    <p:handoutMasterId r:id="rId17"/>
  </p:handoutMasterIdLst>
  <p:sldIdLst>
    <p:sldId id="271" r:id="rId2"/>
    <p:sldId id="276" r:id="rId3"/>
    <p:sldId id="259" r:id="rId4"/>
    <p:sldId id="260" r:id="rId5"/>
    <p:sldId id="278" r:id="rId6"/>
    <p:sldId id="274" r:id="rId7"/>
    <p:sldId id="275" r:id="rId8"/>
    <p:sldId id="273" r:id="rId9"/>
    <p:sldId id="263" r:id="rId10"/>
    <p:sldId id="264" r:id="rId11"/>
    <p:sldId id="268" r:id="rId12"/>
    <p:sldId id="269" r:id="rId13"/>
    <p:sldId id="265" r:id="rId14"/>
    <p:sldId id="27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B847324F-D2F4-4791-A96F-D524EF13A193}">
          <p14:sldIdLst>
            <p14:sldId id="271"/>
          </p14:sldIdLst>
        </p14:section>
        <p14:section name="Investor selling thesis" id="{EEF83A00-BF36-4150-BA1D-84BB47FE2103}">
          <p14:sldIdLst>
            <p14:sldId id="276"/>
            <p14:sldId id="259"/>
          </p14:sldIdLst>
        </p14:section>
        <p14:section name="Risk factors" id="{CEEDEA5A-5A0D-4D1D-B925-618768DA022C}">
          <p14:sldIdLst>
            <p14:sldId id="260"/>
          </p14:sldIdLst>
        </p14:section>
        <p14:section name="Transaction summary" id="{6B49739C-A206-4237-A349-FB0144E303AE}">
          <p14:sldIdLst>
            <p14:sldId id="278"/>
            <p14:sldId id="274"/>
            <p14:sldId id="275"/>
            <p14:sldId id="273"/>
          </p14:sldIdLst>
        </p14:section>
        <p14:section name="Comparable companies" id="{090D452D-D1A1-4C29-BFC7-AB5E38E0DCF4}">
          <p14:sldIdLst>
            <p14:sldId id="263"/>
          </p14:sldIdLst>
        </p14:section>
        <p14:section name="Valuation" id="{72686552-6AF8-42C6-82F5-7AD77FFC6D68}">
          <p14:sldIdLst>
            <p14:sldId id="264"/>
            <p14:sldId id="268"/>
            <p14:sldId id="269"/>
          </p14:sldIdLst>
        </p14:section>
        <p14:section name="Valuation commentary" id="{32E2842B-E9B4-41CC-8DB3-4D8B8CEB5D8A}">
          <p14:sldIdLst>
            <p14:sldId id="265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FEC"/>
    <a:srgbClr val="0559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57" autoAdjust="0"/>
    <p:restoredTop sz="94660"/>
  </p:normalViewPr>
  <p:slideViewPr>
    <p:cSldViewPr snapToGrid="0">
      <p:cViewPr varScale="1">
        <p:scale>
          <a:sx n="88" d="100"/>
          <a:sy n="88" d="100"/>
        </p:scale>
        <p:origin x="174" y="57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ingq\Desktop\Boo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Jingq\Desktop\Book1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C:\Users\Jingq\Desktop\Book1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Jingq\Desktop\Book1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ingq\Desktop\Eaton_Comps_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ingq\Desktop\Eaton_Comps_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ingq\Desktop\LIFE_Stock_Data%20(1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Sheet1!$A$3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Sheet1!$B$2:$F$2</c:f>
              <c:strCache>
                <c:ptCount val="5"/>
                <c:pt idx="0">
                  <c:v>2023A</c:v>
                </c:pt>
                <c:pt idx="1">
                  <c:v>2024A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Sheet1!$B$3:$F$3</c:f>
              <c:numCache>
                <c:formatCode>General</c:formatCode>
                <c:ptCount val="5"/>
                <c:pt idx="0">
                  <c:v>159.75</c:v>
                </c:pt>
                <c:pt idx="1">
                  <c:v>254.93</c:v>
                </c:pt>
                <c:pt idx="2">
                  <c:v>386.88</c:v>
                </c:pt>
                <c:pt idx="3">
                  <c:v>541.63</c:v>
                </c:pt>
                <c:pt idx="4">
                  <c:v>704.13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94-42F6-8390-6AD6007A75EA}"/>
            </c:ext>
          </c:extLst>
        </c:ser>
        <c:ser>
          <c:idx val="1"/>
          <c:order val="1"/>
          <c:tx>
            <c:strRef>
              <c:f>Sheet1!$A$4</c:f>
              <c:strCache>
                <c:ptCount val="1"/>
                <c:pt idx="0">
                  <c:v>Net Income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Sheet1!$B$2:$F$2</c:f>
              <c:strCache>
                <c:ptCount val="5"/>
                <c:pt idx="0">
                  <c:v>2023A</c:v>
                </c:pt>
                <c:pt idx="1">
                  <c:v>2024A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Sheet1!$B$4:$F$4</c:f>
              <c:numCache>
                <c:formatCode>General</c:formatCode>
                <c:ptCount val="5"/>
                <c:pt idx="0">
                  <c:v>1.6</c:v>
                </c:pt>
                <c:pt idx="1">
                  <c:v>48.44</c:v>
                </c:pt>
                <c:pt idx="2">
                  <c:v>65.77</c:v>
                </c:pt>
                <c:pt idx="3">
                  <c:v>96.29</c:v>
                </c:pt>
                <c:pt idx="4">
                  <c:v>136.28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94-42F6-8390-6AD6007A75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609686768"/>
        <c:axId val="1609695408"/>
      </c:barChart>
      <c:lineChart>
        <c:grouping val="standard"/>
        <c:varyColors val="0"/>
        <c:ser>
          <c:idx val="2"/>
          <c:order val="2"/>
          <c:tx>
            <c:strRef>
              <c:f>Sheet1!$A$5</c:f>
              <c:strCache>
                <c:ptCount val="1"/>
                <c:pt idx="0">
                  <c:v>Gross Margin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Sheet1!$B$2:$F$2</c:f>
              <c:strCache>
                <c:ptCount val="5"/>
                <c:pt idx="0">
                  <c:v>2023A</c:v>
                </c:pt>
                <c:pt idx="1">
                  <c:v>2024A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Sheet1!$B$5:$F$5</c:f>
              <c:numCache>
                <c:formatCode>0%</c:formatCode>
                <c:ptCount val="5"/>
                <c:pt idx="0">
                  <c:v>0.96</c:v>
                </c:pt>
                <c:pt idx="1">
                  <c:v>0.97</c:v>
                </c:pt>
                <c:pt idx="2">
                  <c:v>0.98</c:v>
                </c:pt>
                <c:pt idx="3">
                  <c:v>0.98</c:v>
                </c:pt>
                <c:pt idx="4">
                  <c:v>0.98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994-42F6-8390-6AD6007A75EA}"/>
            </c:ext>
          </c:extLst>
        </c:ser>
        <c:ser>
          <c:idx val="3"/>
          <c:order val="3"/>
          <c:tx>
            <c:strRef>
              <c:f>Sheet1!$A$6</c:f>
              <c:strCache>
                <c:ptCount val="1"/>
                <c:pt idx="0">
                  <c:v>Adj. EBITDA Margin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Sheet1!$B$2:$F$2</c:f>
              <c:strCache>
                <c:ptCount val="5"/>
                <c:pt idx="0">
                  <c:v>2023A</c:v>
                </c:pt>
                <c:pt idx="1">
                  <c:v>2024A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Sheet1!$B$6:$F$6</c:f>
              <c:numCache>
                <c:formatCode>0.00%</c:formatCode>
                <c:ptCount val="5"/>
                <c:pt idx="0">
                  <c:v>4.0099999999999997E-2</c:v>
                </c:pt>
                <c:pt idx="1">
                  <c:v>0.22500000000000001</c:v>
                </c:pt>
                <c:pt idx="2">
                  <c:v>0.22839999999999999</c:v>
                </c:pt>
                <c:pt idx="3">
                  <c:v>0.26319999999999999</c:v>
                </c:pt>
                <c:pt idx="4">
                  <c:v>0.28249999999999997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994-42F6-8390-6AD6007A75EA}"/>
            </c:ext>
          </c:extLst>
        </c:ser>
        <c:ser>
          <c:idx val="4"/>
          <c:order val="4"/>
          <c:tx>
            <c:strRef>
              <c:f>Sheet1!$A$7</c:f>
              <c:strCache>
                <c:ptCount val="1"/>
                <c:pt idx="0">
                  <c:v>Net Income Margin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Sheet1!$B$2:$F$2</c:f>
              <c:strCache>
                <c:ptCount val="5"/>
                <c:pt idx="0">
                  <c:v>2023A</c:v>
                </c:pt>
                <c:pt idx="1">
                  <c:v>2024A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Sheet1!$B$7:$F$7</c:f>
              <c:numCache>
                <c:formatCode>0%</c:formatCode>
                <c:ptCount val="5"/>
                <c:pt idx="0">
                  <c:v>0.01</c:v>
                </c:pt>
                <c:pt idx="1">
                  <c:v>0.19</c:v>
                </c:pt>
                <c:pt idx="2">
                  <c:v>0.17</c:v>
                </c:pt>
                <c:pt idx="3" formatCode="0.00%">
                  <c:v>0.1777</c:v>
                </c:pt>
                <c:pt idx="4" formatCode="0.00%">
                  <c:v>0.19350000000000001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994-42F6-8390-6AD6007A75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09684368"/>
        <c:axId val="1609683888"/>
      </c:lineChart>
      <c:catAx>
        <c:axId val="1609686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zh-CN"/>
          </a:p>
        </c:txPr>
        <c:crossAx val="1609695408"/>
        <c:crosses val="autoZero"/>
        <c:auto val="1"/>
        <c:lblAlgn val="ctr"/>
        <c:lblOffset val="100"/>
        <c:noMultiLvlLbl val="0"/>
      </c:catAx>
      <c:valAx>
        <c:axId val="160969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zh-CN"/>
          </a:p>
        </c:txPr>
        <c:crossAx val="1609686768"/>
        <c:crosses val="autoZero"/>
        <c:crossBetween val="between"/>
      </c:valAx>
      <c:valAx>
        <c:axId val="1609683888"/>
        <c:scaling>
          <c:orientation val="minMax"/>
          <c:max val="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zh-CN"/>
          </a:p>
        </c:txPr>
        <c:crossAx val="1609684368"/>
        <c:crosses val="max"/>
        <c:crossBetween val="between"/>
      </c:valAx>
      <c:catAx>
        <c:axId val="16096843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0968388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256294515199025E-2"/>
          <c:y val="0.80192119101256598"/>
          <c:w val="0.97482652650801205"/>
          <c:h val="0.147117371917319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>
                  <a:lumMod val="50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6708035426956387E-2"/>
          <c:y val="0"/>
          <c:w val="0.92658392914608734"/>
          <c:h val="0.86698083170822149"/>
        </c:manualLayout>
      </c:layout>
      <c:doughnutChart>
        <c:varyColors val="1"/>
        <c:ser>
          <c:idx val="0"/>
          <c:order val="0"/>
          <c:tx>
            <c:strRef>
              <c:f>Sheet2!$B$8</c:f>
              <c:strCache>
                <c:ptCount val="1"/>
                <c:pt idx="0">
                  <c:v>2023A</c:v>
                </c:pt>
              </c:strCache>
            </c:strRef>
          </c:tx>
          <c:dPt>
            <c:idx val="0"/>
            <c:bubble3D val="0"/>
            <c:spPr>
              <a:solidFill>
                <a:srgbClr val="8CBE4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C29-47F4-977F-F4790F618E8D}"/>
              </c:ext>
            </c:extLst>
          </c:dPt>
          <c:dPt>
            <c:idx val="1"/>
            <c:bubble3D val="0"/>
            <c:spPr>
              <a:solidFill>
                <a:srgbClr val="25997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C29-47F4-977F-F4790F618E8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C29-47F4-977F-F4790F618E8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C29-47F4-977F-F4790F618E8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C29-47F4-977F-F4790F618E8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C29-47F4-977F-F4790F618E8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C29-47F4-977F-F4790F618E8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FC29-47F4-977F-F4790F618E8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FC29-47F4-977F-F4790F618E8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FC29-47F4-977F-F4790F618E8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FC29-47F4-977F-F4790F618E8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FC29-47F4-977F-F4790F618E8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FC29-47F4-977F-F4790F618E8D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FC29-47F4-977F-F4790F618E8D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FC29-47F4-977F-F4790F618E8D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FC29-47F4-977F-F4790F618E8D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FC29-47F4-977F-F4790F618E8D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FC29-47F4-977F-F4790F618E8D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FC29-47F4-977F-F4790F618E8D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FC29-47F4-977F-F4790F618E8D}"/>
              </c:ext>
            </c:extLst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9-FC29-47F4-977F-F4790F618E8D}"/>
              </c:ext>
            </c:extLst>
          </c:dPt>
          <c:dPt>
            <c:idx val="21"/>
            <c:bubble3D val="0"/>
            <c:spPr>
              <a:solidFill>
                <a:schemeClr val="accent4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B-FC29-47F4-977F-F4790F618E8D}"/>
              </c:ext>
            </c:extLst>
          </c:dPt>
          <c:dPt>
            <c:idx val="22"/>
            <c:bubble3D val="0"/>
            <c:spPr>
              <a:solidFill>
                <a:schemeClr val="accent5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D-FC29-47F4-977F-F4790F618E8D}"/>
              </c:ext>
            </c:extLst>
          </c:dPt>
          <c:dPt>
            <c:idx val="23"/>
            <c:bubble3D val="0"/>
            <c:spPr>
              <a:solidFill>
                <a:schemeClr val="accent6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F-FC29-47F4-977F-F4790F618E8D}"/>
              </c:ext>
            </c:extLst>
          </c:dPt>
          <c:dPt>
            <c:idx val="24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1-FC29-47F4-977F-F4790F618E8D}"/>
              </c:ext>
            </c:extLst>
          </c:dPt>
          <c:dPt>
            <c:idx val="2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3-FC29-47F4-977F-F4790F618E8D}"/>
              </c:ext>
            </c:extLst>
          </c:dPt>
          <c:dPt>
            <c:idx val="26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5-FC29-47F4-977F-F4790F618E8D}"/>
              </c:ext>
            </c:extLst>
          </c:dPt>
          <c:dPt>
            <c:idx val="27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7-FC29-47F4-977F-F4790F618E8D}"/>
              </c:ext>
            </c:extLst>
          </c:dPt>
          <c:dPt>
            <c:idx val="28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9-FC29-47F4-977F-F4790F618E8D}"/>
              </c:ext>
            </c:extLst>
          </c:dPt>
          <c:dPt>
            <c:idx val="29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B-FC29-47F4-977F-F4790F618E8D}"/>
              </c:ext>
            </c:extLst>
          </c:dPt>
          <c:dPt>
            <c:idx val="30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D-FC29-47F4-977F-F4790F618E8D}"/>
              </c:ext>
            </c:extLst>
          </c:dPt>
          <c:dPt>
            <c:idx val="31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F-FC29-47F4-977F-F4790F618E8D}"/>
              </c:ext>
            </c:extLst>
          </c:dPt>
          <c:dPt>
            <c:idx val="32"/>
            <c:bubble3D val="0"/>
            <c:spPr>
              <a:solidFill>
                <a:schemeClr val="accent3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1-FC29-47F4-977F-F4790F618E8D}"/>
              </c:ext>
            </c:extLst>
          </c:dPt>
          <c:dPt>
            <c:idx val="33"/>
            <c:bubble3D val="0"/>
            <c:spPr>
              <a:solidFill>
                <a:schemeClr val="accent4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3-FC29-47F4-977F-F4790F618E8D}"/>
              </c:ext>
            </c:extLst>
          </c:dPt>
          <c:dPt>
            <c:idx val="34"/>
            <c:bubble3D val="0"/>
            <c:spPr>
              <a:solidFill>
                <a:schemeClr val="accent5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5-FC29-47F4-977F-F4790F618E8D}"/>
              </c:ext>
            </c:extLst>
          </c:dPt>
          <c:dPt>
            <c:idx val="35"/>
            <c:bubble3D val="0"/>
            <c:spPr>
              <a:solidFill>
                <a:schemeClr val="accent6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7-FC29-47F4-977F-F4790F618E8D}"/>
              </c:ext>
            </c:extLst>
          </c:dPt>
          <c:dPt>
            <c:idx val="36"/>
            <c:bubble3D val="0"/>
            <c:spPr>
              <a:solidFill>
                <a:schemeClr val="accent1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9-FC29-47F4-977F-F4790F618E8D}"/>
              </c:ext>
            </c:extLst>
          </c:dPt>
          <c:dPt>
            <c:idx val="37"/>
            <c:bubble3D val="0"/>
            <c:spPr>
              <a:solidFill>
                <a:schemeClr val="accent2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B-FC29-47F4-977F-F4790F618E8D}"/>
              </c:ext>
            </c:extLst>
          </c:dPt>
          <c:dPt>
            <c:idx val="38"/>
            <c:bubble3D val="0"/>
            <c:spPr>
              <a:solidFill>
                <a:schemeClr val="accent3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D-FC29-47F4-977F-F4790F618E8D}"/>
              </c:ext>
            </c:extLst>
          </c:dPt>
          <c:dPt>
            <c:idx val="39"/>
            <c:bubble3D val="0"/>
            <c:spPr>
              <a:solidFill>
                <a:schemeClr val="accent4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F-FC29-47F4-977F-F4790F618E8D}"/>
              </c:ext>
            </c:extLst>
          </c:dPt>
          <c:dPt>
            <c:idx val="40"/>
            <c:bubble3D val="0"/>
            <c:spPr>
              <a:solidFill>
                <a:schemeClr val="accent5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1-FC29-47F4-977F-F4790F618E8D}"/>
              </c:ext>
            </c:extLst>
          </c:dPt>
          <c:dPt>
            <c:idx val="41"/>
            <c:bubble3D val="0"/>
            <c:spPr>
              <a:solidFill>
                <a:schemeClr val="accent6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3-FC29-47F4-977F-F4790F618E8D}"/>
              </c:ext>
            </c:extLst>
          </c:dPt>
          <c:dPt>
            <c:idx val="42"/>
            <c:bubble3D val="0"/>
            <c:spPr>
              <a:solidFill>
                <a:schemeClr val="accent1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5-FC29-47F4-977F-F4790F618E8D}"/>
              </c:ext>
            </c:extLst>
          </c:dPt>
          <c:dPt>
            <c:idx val="43"/>
            <c:bubble3D val="0"/>
            <c:spPr>
              <a:solidFill>
                <a:schemeClr val="accent2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7-FC29-47F4-977F-F4790F618E8D}"/>
              </c:ext>
            </c:extLst>
          </c:dPt>
          <c:dPt>
            <c:idx val="44"/>
            <c:bubble3D val="0"/>
            <c:spPr>
              <a:solidFill>
                <a:schemeClr val="accent3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9-FC29-47F4-977F-F4790F618E8D}"/>
              </c:ext>
            </c:extLst>
          </c:dPt>
          <c:dPt>
            <c:idx val="45"/>
            <c:bubble3D val="0"/>
            <c:spPr>
              <a:solidFill>
                <a:schemeClr val="accent4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B-FC29-47F4-977F-F4790F618E8D}"/>
              </c:ext>
            </c:extLst>
          </c:dPt>
          <c:dPt>
            <c:idx val="46"/>
            <c:bubble3D val="0"/>
            <c:spPr>
              <a:solidFill>
                <a:schemeClr val="accent5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D-FC29-47F4-977F-F4790F618E8D}"/>
              </c:ext>
            </c:extLst>
          </c:dPt>
          <c:dPt>
            <c:idx val="47"/>
            <c:bubble3D val="0"/>
            <c:spPr>
              <a:solidFill>
                <a:schemeClr val="accent6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F-FC29-47F4-977F-F4790F618E8D}"/>
              </c:ext>
            </c:extLst>
          </c:dPt>
          <c:dPt>
            <c:idx val="48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1-FC29-47F4-977F-F4790F618E8D}"/>
              </c:ext>
            </c:extLst>
          </c:dPt>
          <c:dPt>
            <c:idx val="49"/>
            <c:bubble3D val="0"/>
            <c:spPr>
              <a:solidFill>
                <a:schemeClr val="accent2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3-FC29-47F4-977F-F4790F618E8D}"/>
              </c:ext>
            </c:extLst>
          </c:dPt>
          <c:dPt>
            <c:idx val="50"/>
            <c:bubble3D val="0"/>
            <c:spPr>
              <a:solidFill>
                <a:schemeClr val="accent3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5-FC29-47F4-977F-F4790F618E8D}"/>
              </c:ext>
            </c:extLst>
          </c:dPt>
          <c:dPt>
            <c:idx val="51"/>
            <c:bubble3D val="0"/>
            <c:spPr>
              <a:solidFill>
                <a:schemeClr val="accent4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7-FC29-47F4-977F-F4790F618E8D}"/>
              </c:ext>
            </c:extLst>
          </c:dPt>
          <c:dPt>
            <c:idx val="52"/>
            <c:bubble3D val="0"/>
            <c:spPr>
              <a:solidFill>
                <a:schemeClr val="accent5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9-FC29-47F4-977F-F4790F618E8D}"/>
              </c:ext>
            </c:extLst>
          </c:dPt>
          <c:dPt>
            <c:idx val="53"/>
            <c:bubble3D val="0"/>
            <c:spPr>
              <a:solidFill>
                <a:schemeClr val="accent6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B-FC29-47F4-977F-F4790F618E8D}"/>
              </c:ext>
            </c:extLst>
          </c:dPt>
          <c:dPt>
            <c:idx val="54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D-FC29-47F4-977F-F4790F618E8D}"/>
              </c:ext>
            </c:extLst>
          </c:dPt>
          <c:dPt>
            <c:idx val="55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F-FC29-47F4-977F-F4790F618E8D}"/>
              </c:ext>
            </c:extLst>
          </c:dPt>
          <c:dPt>
            <c:idx val="56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1-FC29-47F4-977F-F4790F618E8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2F49FEC-1669-40C5-B0F1-4F155BD59C59}" type="VALUE">
                      <a:rPr lang="en-US" altLang="zh-CN"/>
                      <a:pPr/>
                      <a:t>[VALUE]</a:t>
                    </a:fld>
                    <a:endParaRPr lang="en-US" altLang="zh-CN" baseline="0"/>
                  </a:p>
                  <a:p>
                    <a:fld id="{1236E87F-D842-422A-841F-BDC4F246FF54}" type="PERCENTAGE">
                      <a:rPr lang="en-US" altLang="zh-CN" baseline="0"/>
                      <a:pPr/>
                      <a:t>[PERCENTAGE]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C29-47F4-977F-F4790F618E8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19EAF2E-9195-4A87-B6F1-3BD96D9E2B1D}" type="VALUE">
                      <a:rPr lang="en-US" altLang="zh-CN"/>
                      <a:pPr/>
                      <a:t>[VALUE]</a:t>
                    </a:fld>
                    <a:endParaRPr lang="en-US" altLang="zh-CN" baseline="0"/>
                  </a:p>
                  <a:p>
                    <a:fld id="{9050422E-B93A-4E71-B1FA-3AB6671D1E61}" type="PERCENTAGE">
                      <a:rPr lang="en-US" altLang="zh-CN" baseline="0"/>
                      <a:pPr/>
                      <a:t>[PERCENTAGE]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C29-47F4-977F-F4790F618E8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Sheet2!$A$9:$A$10</c:f>
              <c:strCache>
                <c:ptCount val="2"/>
                <c:pt idx="0">
                  <c:v>DTC</c:v>
                </c:pt>
                <c:pt idx="1">
                  <c:v>Third-Party</c:v>
                </c:pt>
              </c:strCache>
            </c:strRef>
          </c:cat>
          <c:val>
            <c:numRef>
              <c:f>Sheet2!$B$9:$B$10</c:f>
              <c:numCache>
                <c:formatCode>_ * #,##0_ ;_ * \-#,##0_ ;_ * "-"??_ ;_ @_ </c:formatCode>
                <c:ptCount val="2"/>
                <c:pt idx="0">
                  <c:v>39610</c:v>
                </c:pt>
                <c:pt idx="1">
                  <c:v>32408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72-FC29-47F4-977F-F4790F618E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3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9742146295549151"/>
          <c:y val="0.87397399127804187"/>
          <c:w val="0.60354060306677781"/>
          <c:h val="0.126026008721958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>
                  <a:lumMod val="50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6708035426956387E-2"/>
          <c:y val="0"/>
          <c:w val="0.92658392914608734"/>
          <c:h val="0.86698083170822149"/>
        </c:manualLayout>
      </c:layout>
      <c:doughnutChart>
        <c:varyColors val="1"/>
        <c:ser>
          <c:idx val="0"/>
          <c:order val="0"/>
          <c:tx>
            <c:strRef>
              <c:f>Sheet2!$C$8</c:f>
              <c:strCache>
                <c:ptCount val="1"/>
                <c:pt idx="0">
                  <c:v>2024A</c:v>
                </c:pt>
              </c:strCache>
            </c:strRef>
          </c:tx>
          <c:dPt>
            <c:idx val="0"/>
            <c:bubble3D val="0"/>
            <c:spPr>
              <a:solidFill>
                <a:srgbClr val="8CBE4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C29-47F4-977F-F4790F618E8D}"/>
              </c:ext>
            </c:extLst>
          </c:dPt>
          <c:dPt>
            <c:idx val="1"/>
            <c:bubble3D val="0"/>
            <c:spPr>
              <a:solidFill>
                <a:srgbClr val="25997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C29-47F4-977F-F4790F618E8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C29-47F4-977F-F4790F618E8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C29-47F4-977F-F4790F618E8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C29-47F4-977F-F4790F618E8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C29-47F4-977F-F4790F618E8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C29-47F4-977F-F4790F618E8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FC29-47F4-977F-F4790F618E8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FC29-47F4-977F-F4790F618E8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FC29-47F4-977F-F4790F618E8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FC29-47F4-977F-F4790F618E8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FC29-47F4-977F-F4790F618E8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FC29-47F4-977F-F4790F618E8D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FC29-47F4-977F-F4790F618E8D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FC29-47F4-977F-F4790F618E8D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FC29-47F4-977F-F4790F618E8D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FC29-47F4-977F-F4790F618E8D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FC29-47F4-977F-F4790F618E8D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FC29-47F4-977F-F4790F618E8D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FC29-47F4-977F-F4790F618E8D}"/>
              </c:ext>
            </c:extLst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9-FC29-47F4-977F-F4790F618E8D}"/>
              </c:ext>
            </c:extLst>
          </c:dPt>
          <c:dPt>
            <c:idx val="21"/>
            <c:bubble3D val="0"/>
            <c:spPr>
              <a:solidFill>
                <a:schemeClr val="accent4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B-FC29-47F4-977F-F4790F618E8D}"/>
              </c:ext>
            </c:extLst>
          </c:dPt>
          <c:dPt>
            <c:idx val="22"/>
            <c:bubble3D val="0"/>
            <c:spPr>
              <a:solidFill>
                <a:schemeClr val="accent5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D-FC29-47F4-977F-F4790F618E8D}"/>
              </c:ext>
            </c:extLst>
          </c:dPt>
          <c:dPt>
            <c:idx val="23"/>
            <c:bubble3D val="0"/>
            <c:spPr>
              <a:solidFill>
                <a:schemeClr val="accent6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F-FC29-47F4-977F-F4790F618E8D}"/>
              </c:ext>
            </c:extLst>
          </c:dPt>
          <c:dPt>
            <c:idx val="24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1-FC29-47F4-977F-F4790F618E8D}"/>
              </c:ext>
            </c:extLst>
          </c:dPt>
          <c:dPt>
            <c:idx val="2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3-FC29-47F4-977F-F4790F618E8D}"/>
              </c:ext>
            </c:extLst>
          </c:dPt>
          <c:dPt>
            <c:idx val="26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5-FC29-47F4-977F-F4790F618E8D}"/>
              </c:ext>
            </c:extLst>
          </c:dPt>
          <c:dPt>
            <c:idx val="27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7-FC29-47F4-977F-F4790F618E8D}"/>
              </c:ext>
            </c:extLst>
          </c:dPt>
          <c:dPt>
            <c:idx val="28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9-FC29-47F4-977F-F4790F618E8D}"/>
              </c:ext>
            </c:extLst>
          </c:dPt>
          <c:dPt>
            <c:idx val="29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B-FC29-47F4-977F-F4790F618E8D}"/>
              </c:ext>
            </c:extLst>
          </c:dPt>
          <c:dPt>
            <c:idx val="30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D-FC29-47F4-977F-F4790F618E8D}"/>
              </c:ext>
            </c:extLst>
          </c:dPt>
          <c:dPt>
            <c:idx val="31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F-FC29-47F4-977F-F4790F618E8D}"/>
              </c:ext>
            </c:extLst>
          </c:dPt>
          <c:dPt>
            <c:idx val="32"/>
            <c:bubble3D val="0"/>
            <c:spPr>
              <a:solidFill>
                <a:schemeClr val="accent3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1-FC29-47F4-977F-F4790F618E8D}"/>
              </c:ext>
            </c:extLst>
          </c:dPt>
          <c:dPt>
            <c:idx val="33"/>
            <c:bubble3D val="0"/>
            <c:spPr>
              <a:solidFill>
                <a:schemeClr val="accent4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3-FC29-47F4-977F-F4790F618E8D}"/>
              </c:ext>
            </c:extLst>
          </c:dPt>
          <c:dPt>
            <c:idx val="34"/>
            <c:bubble3D val="0"/>
            <c:spPr>
              <a:solidFill>
                <a:schemeClr val="accent5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5-FC29-47F4-977F-F4790F618E8D}"/>
              </c:ext>
            </c:extLst>
          </c:dPt>
          <c:dPt>
            <c:idx val="35"/>
            <c:bubble3D val="0"/>
            <c:spPr>
              <a:solidFill>
                <a:schemeClr val="accent6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7-FC29-47F4-977F-F4790F618E8D}"/>
              </c:ext>
            </c:extLst>
          </c:dPt>
          <c:dPt>
            <c:idx val="36"/>
            <c:bubble3D val="0"/>
            <c:spPr>
              <a:solidFill>
                <a:schemeClr val="accent1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9-FC29-47F4-977F-F4790F618E8D}"/>
              </c:ext>
            </c:extLst>
          </c:dPt>
          <c:dPt>
            <c:idx val="37"/>
            <c:bubble3D val="0"/>
            <c:spPr>
              <a:solidFill>
                <a:schemeClr val="accent2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B-FC29-47F4-977F-F4790F618E8D}"/>
              </c:ext>
            </c:extLst>
          </c:dPt>
          <c:dPt>
            <c:idx val="38"/>
            <c:bubble3D val="0"/>
            <c:spPr>
              <a:solidFill>
                <a:schemeClr val="accent3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D-FC29-47F4-977F-F4790F618E8D}"/>
              </c:ext>
            </c:extLst>
          </c:dPt>
          <c:dPt>
            <c:idx val="39"/>
            <c:bubble3D val="0"/>
            <c:spPr>
              <a:solidFill>
                <a:schemeClr val="accent4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F-FC29-47F4-977F-F4790F618E8D}"/>
              </c:ext>
            </c:extLst>
          </c:dPt>
          <c:dPt>
            <c:idx val="40"/>
            <c:bubble3D val="0"/>
            <c:spPr>
              <a:solidFill>
                <a:schemeClr val="accent5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1-FC29-47F4-977F-F4790F618E8D}"/>
              </c:ext>
            </c:extLst>
          </c:dPt>
          <c:dPt>
            <c:idx val="41"/>
            <c:bubble3D val="0"/>
            <c:spPr>
              <a:solidFill>
                <a:schemeClr val="accent6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3-FC29-47F4-977F-F4790F618E8D}"/>
              </c:ext>
            </c:extLst>
          </c:dPt>
          <c:dPt>
            <c:idx val="42"/>
            <c:bubble3D val="0"/>
            <c:spPr>
              <a:solidFill>
                <a:schemeClr val="accent1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5-FC29-47F4-977F-F4790F618E8D}"/>
              </c:ext>
            </c:extLst>
          </c:dPt>
          <c:dPt>
            <c:idx val="43"/>
            <c:bubble3D val="0"/>
            <c:spPr>
              <a:solidFill>
                <a:schemeClr val="accent2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7-FC29-47F4-977F-F4790F618E8D}"/>
              </c:ext>
            </c:extLst>
          </c:dPt>
          <c:dPt>
            <c:idx val="44"/>
            <c:bubble3D val="0"/>
            <c:spPr>
              <a:solidFill>
                <a:schemeClr val="accent3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9-FC29-47F4-977F-F4790F618E8D}"/>
              </c:ext>
            </c:extLst>
          </c:dPt>
          <c:dPt>
            <c:idx val="45"/>
            <c:bubble3D val="0"/>
            <c:spPr>
              <a:solidFill>
                <a:schemeClr val="accent4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B-FC29-47F4-977F-F4790F618E8D}"/>
              </c:ext>
            </c:extLst>
          </c:dPt>
          <c:dPt>
            <c:idx val="46"/>
            <c:bubble3D val="0"/>
            <c:spPr>
              <a:solidFill>
                <a:schemeClr val="accent5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D-FC29-47F4-977F-F4790F618E8D}"/>
              </c:ext>
            </c:extLst>
          </c:dPt>
          <c:dPt>
            <c:idx val="47"/>
            <c:bubble3D val="0"/>
            <c:spPr>
              <a:solidFill>
                <a:schemeClr val="accent6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F-FC29-47F4-977F-F4790F618E8D}"/>
              </c:ext>
            </c:extLst>
          </c:dPt>
          <c:dPt>
            <c:idx val="48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1-FC29-47F4-977F-F4790F618E8D}"/>
              </c:ext>
            </c:extLst>
          </c:dPt>
          <c:dPt>
            <c:idx val="49"/>
            <c:bubble3D val="0"/>
            <c:spPr>
              <a:solidFill>
                <a:schemeClr val="accent2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3-FC29-47F4-977F-F4790F618E8D}"/>
              </c:ext>
            </c:extLst>
          </c:dPt>
          <c:dPt>
            <c:idx val="50"/>
            <c:bubble3D val="0"/>
            <c:spPr>
              <a:solidFill>
                <a:schemeClr val="accent3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5-FC29-47F4-977F-F4790F618E8D}"/>
              </c:ext>
            </c:extLst>
          </c:dPt>
          <c:dPt>
            <c:idx val="51"/>
            <c:bubble3D val="0"/>
            <c:spPr>
              <a:solidFill>
                <a:schemeClr val="accent4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7-FC29-47F4-977F-F4790F618E8D}"/>
              </c:ext>
            </c:extLst>
          </c:dPt>
          <c:dPt>
            <c:idx val="52"/>
            <c:bubble3D val="0"/>
            <c:spPr>
              <a:solidFill>
                <a:schemeClr val="accent5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9-FC29-47F4-977F-F4790F618E8D}"/>
              </c:ext>
            </c:extLst>
          </c:dPt>
          <c:dPt>
            <c:idx val="53"/>
            <c:bubble3D val="0"/>
            <c:spPr>
              <a:solidFill>
                <a:schemeClr val="accent6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B-FC29-47F4-977F-F4790F618E8D}"/>
              </c:ext>
            </c:extLst>
          </c:dPt>
          <c:dPt>
            <c:idx val="54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D-FC29-47F4-977F-F4790F618E8D}"/>
              </c:ext>
            </c:extLst>
          </c:dPt>
          <c:dPt>
            <c:idx val="55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F-FC29-47F4-977F-F4790F618E8D}"/>
              </c:ext>
            </c:extLst>
          </c:dPt>
          <c:dPt>
            <c:idx val="56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1-FC29-47F4-977F-F4790F618E8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2F49FEC-1669-40C5-B0F1-4F155BD59C59}" type="VALUE">
                      <a:rPr lang="en-US" altLang="zh-CN"/>
                      <a:pPr/>
                      <a:t>[VALUE]</a:t>
                    </a:fld>
                    <a:endParaRPr lang="en-US" altLang="zh-CN" baseline="0"/>
                  </a:p>
                  <a:p>
                    <a:fld id="{1236E87F-D842-422A-841F-BDC4F246FF54}" type="PERCENTAGE">
                      <a:rPr lang="en-US" altLang="zh-CN" baseline="0"/>
                      <a:pPr/>
                      <a:t>[PERCENTAGE]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C29-47F4-977F-F4790F618E8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D48B39B-90DB-4E8C-9E8B-6405C515E718}" type="VALUE">
                      <a:rPr lang="en-US" altLang="zh-CN" smtClean="0"/>
                      <a:pPr/>
                      <a:t>[VALUE]</a:t>
                    </a:fld>
                    <a:endParaRPr lang="en-US" altLang="zh-CN" baseline="0" dirty="0"/>
                  </a:p>
                  <a:p>
                    <a:fld id="{9050422E-B93A-4E71-B1FA-3AB6671D1E61}" type="PERCENTAGE">
                      <a:rPr lang="en-US" altLang="zh-CN" baseline="0"/>
                      <a:pPr/>
                      <a:t>[PERCENTAGE]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C29-47F4-977F-F4790F618E8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Sheet2!$A$9:$A$10</c:f>
              <c:strCache>
                <c:ptCount val="2"/>
                <c:pt idx="0">
                  <c:v>DTC</c:v>
                </c:pt>
                <c:pt idx="1">
                  <c:v>Third-Party</c:v>
                </c:pt>
              </c:strCache>
            </c:strRef>
          </c:cat>
          <c:val>
            <c:numRef>
              <c:f>Sheet2!$C$9:$C$10</c:f>
              <c:numCache>
                <c:formatCode>_ * #,##0_ ;_ * \-#,##0_ ;_ * "-"??_ ;_ @_ </c:formatCode>
                <c:ptCount val="2"/>
                <c:pt idx="0">
                  <c:v>70193</c:v>
                </c:pt>
                <c:pt idx="1">
                  <c:v>57430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72-FC29-47F4-977F-F4790F618E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3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9742146295549151"/>
          <c:y val="0.87397399127804187"/>
          <c:w val="0.60354060306677781"/>
          <c:h val="0.126026008721958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>
                  <a:lumMod val="50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6708035426956387E-2"/>
          <c:y val="0"/>
          <c:w val="0.92658392914608734"/>
          <c:h val="0.86698083170822149"/>
        </c:manualLayout>
      </c:layout>
      <c:doughnutChart>
        <c:varyColors val="1"/>
        <c:ser>
          <c:idx val="0"/>
          <c:order val="0"/>
          <c:tx>
            <c:strRef>
              <c:f>Sheet2!$D$8</c:f>
              <c:strCache>
                <c:ptCount val="1"/>
                <c:pt idx="0">
                  <c:v>2025E</c:v>
                </c:pt>
              </c:strCache>
            </c:strRef>
          </c:tx>
          <c:dPt>
            <c:idx val="0"/>
            <c:bubble3D val="0"/>
            <c:spPr>
              <a:solidFill>
                <a:srgbClr val="8CBE4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C29-47F4-977F-F4790F618E8D}"/>
              </c:ext>
            </c:extLst>
          </c:dPt>
          <c:dPt>
            <c:idx val="1"/>
            <c:bubble3D val="0"/>
            <c:spPr>
              <a:solidFill>
                <a:srgbClr val="25997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C29-47F4-977F-F4790F618E8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C29-47F4-977F-F4790F618E8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C29-47F4-977F-F4790F618E8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C29-47F4-977F-F4790F618E8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C29-47F4-977F-F4790F618E8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C29-47F4-977F-F4790F618E8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FC29-47F4-977F-F4790F618E8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FC29-47F4-977F-F4790F618E8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FC29-47F4-977F-F4790F618E8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FC29-47F4-977F-F4790F618E8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FC29-47F4-977F-F4790F618E8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FC29-47F4-977F-F4790F618E8D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FC29-47F4-977F-F4790F618E8D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FC29-47F4-977F-F4790F618E8D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FC29-47F4-977F-F4790F618E8D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FC29-47F4-977F-F4790F618E8D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FC29-47F4-977F-F4790F618E8D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FC29-47F4-977F-F4790F618E8D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FC29-47F4-977F-F4790F618E8D}"/>
              </c:ext>
            </c:extLst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9-FC29-47F4-977F-F4790F618E8D}"/>
              </c:ext>
            </c:extLst>
          </c:dPt>
          <c:dPt>
            <c:idx val="21"/>
            <c:bubble3D val="0"/>
            <c:spPr>
              <a:solidFill>
                <a:schemeClr val="accent4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B-FC29-47F4-977F-F4790F618E8D}"/>
              </c:ext>
            </c:extLst>
          </c:dPt>
          <c:dPt>
            <c:idx val="22"/>
            <c:bubble3D val="0"/>
            <c:spPr>
              <a:solidFill>
                <a:schemeClr val="accent5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D-FC29-47F4-977F-F4790F618E8D}"/>
              </c:ext>
            </c:extLst>
          </c:dPt>
          <c:dPt>
            <c:idx val="23"/>
            <c:bubble3D val="0"/>
            <c:spPr>
              <a:solidFill>
                <a:schemeClr val="accent6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F-FC29-47F4-977F-F4790F618E8D}"/>
              </c:ext>
            </c:extLst>
          </c:dPt>
          <c:dPt>
            <c:idx val="24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1-FC29-47F4-977F-F4790F618E8D}"/>
              </c:ext>
            </c:extLst>
          </c:dPt>
          <c:dPt>
            <c:idx val="2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3-FC29-47F4-977F-F4790F618E8D}"/>
              </c:ext>
            </c:extLst>
          </c:dPt>
          <c:dPt>
            <c:idx val="26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5-FC29-47F4-977F-F4790F618E8D}"/>
              </c:ext>
            </c:extLst>
          </c:dPt>
          <c:dPt>
            <c:idx val="27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7-FC29-47F4-977F-F4790F618E8D}"/>
              </c:ext>
            </c:extLst>
          </c:dPt>
          <c:dPt>
            <c:idx val="28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9-FC29-47F4-977F-F4790F618E8D}"/>
              </c:ext>
            </c:extLst>
          </c:dPt>
          <c:dPt>
            <c:idx val="29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B-FC29-47F4-977F-F4790F618E8D}"/>
              </c:ext>
            </c:extLst>
          </c:dPt>
          <c:dPt>
            <c:idx val="30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D-FC29-47F4-977F-F4790F618E8D}"/>
              </c:ext>
            </c:extLst>
          </c:dPt>
          <c:dPt>
            <c:idx val="31"/>
            <c:bubble3D val="0"/>
            <c:spPr>
              <a:solidFill>
                <a:schemeClr val="accent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F-FC29-47F4-977F-F4790F618E8D}"/>
              </c:ext>
            </c:extLst>
          </c:dPt>
          <c:dPt>
            <c:idx val="32"/>
            <c:bubble3D val="0"/>
            <c:spPr>
              <a:solidFill>
                <a:schemeClr val="accent3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1-FC29-47F4-977F-F4790F618E8D}"/>
              </c:ext>
            </c:extLst>
          </c:dPt>
          <c:dPt>
            <c:idx val="33"/>
            <c:bubble3D val="0"/>
            <c:spPr>
              <a:solidFill>
                <a:schemeClr val="accent4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3-FC29-47F4-977F-F4790F618E8D}"/>
              </c:ext>
            </c:extLst>
          </c:dPt>
          <c:dPt>
            <c:idx val="34"/>
            <c:bubble3D val="0"/>
            <c:spPr>
              <a:solidFill>
                <a:schemeClr val="accent5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5-FC29-47F4-977F-F4790F618E8D}"/>
              </c:ext>
            </c:extLst>
          </c:dPt>
          <c:dPt>
            <c:idx val="35"/>
            <c:bubble3D val="0"/>
            <c:spPr>
              <a:solidFill>
                <a:schemeClr val="accent6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7-FC29-47F4-977F-F4790F618E8D}"/>
              </c:ext>
            </c:extLst>
          </c:dPt>
          <c:dPt>
            <c:idx val="36"/>
            <c:bubble3D val="0"/>
            <c:spPr>
              <a:solidFill>
                <a:schemeClr val="accent1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9-FC29-47F4-977F-F4790F618E8D}"/>
              </c:ext>
            </c:extLst>
          </c:dPt>
          <c:dPt>
            <c:idx val="37"/>
            <c:bubble3D val="0"/>
            <c:spPr>
              <a:solidFill>
                <a:schemeClr val="accent2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B-FC29-47F4-977F-F4790F618E8D}"/>
              </c:ext>
            </c:extLst>
          </c:dPt>
          <c:dPt>
            <c:idx val="38"/>
            <c:bubble3D val="0"/>
            <c:spPr>
              <a:solidFill>
                <a:schemeClr val="accent3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D-FC29-47F4-977F-F4790F618E8D}"/>
              </c:ext>
            </c:extLst>
          </c:dPt>
          <c:dPt>
            <c:idx val="39"/>
            <c:bubble3D val="0"/>
            <c:spPr>
              <a:solidFill>
                <a:schemeClr val="accent4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F-FC29-47F4-977F-F4790F618E8D}"/>
              </c:ext>
            </c:extLst>
          </c:dPt>
          <c:dPt>
            <c:idx val="40"/>
            <c:bubble3D val="0"/>
            <c:spPr>
              <a:solidFill>
                <a:schemeClr val="accent5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1-FC29-47F4-977F-F4790F618E8D}"/>
              </c:ext>
            </c:extLst>
          </c:dPt>
          <c:dPt>
            <c:idx val="41"/>
            <c:bubble3D val="0"/>
            <c:spPr>
              <a:solidFill>
                <a:schemeClr val="accent6">
                  <a:lumMod val="70000"/>
                  <a:lumOff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3-FC29-47F4-977F-F4790F618E8D}"/>
              </c:ext>
            </c:extLst>
          </c:dPt>
          <c:dPt>
            <c:idx val="42"/>
            <c:bubble3D val="0"/>
            <c:spPr>
              <a:solidFill>
                <a:schemeClr val="accent1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5-FC29-47F4-977F-F4790F618E8D}"/>
              </c:ext>
            </c:extLst>
          </c:dPt>
          <c:dPt>
            <c:idx val="43"/>
            <c:bubble3D val="0"/>
            <c:spPr>
              <a:solidFill>
                <a:schemeClr val="accent2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7-FC29-47F4-977F-F4790F618E8D}"/>
              </c:ext>
            </c:extLst>
          </c:dPt>
          <c:dPt>
            <c:idx val="44"/>
            <c:bubble3D val="0"/>
            <c:spPr>
              <a:solidFill>
                <a:schemeClr val="accent3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9-FC29-47F4-977F-F4790F618E8D}"/>
              </c:ext>
            </c:extLst>
          </c:dPt>
          <c:dPt>
            <c:idx val="45"/>
            <c:bubble3D val="0"/>
            <c:spPr>
              <a:solidFill>
                <a:schemeClr val="accent4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B-FC29-47F4-977F-F4790F618E8D}"/>
              </c:ext>
            </c:extLst>
          </c:dPt>
          <c:dPt>
            <c:idx val="46"/>
            <c:bubble3D val="0"/>
            <c:spPr>
              <a:solidFill>
                <a:schemeClr val="accent5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D-FC29-47F4-977F-F4790F618E8D}"/>
              </c:ext>
            </c:extLst>
          </c:dPt>
          <c:dPt>
            <c:idx val="47"/>
            <c:bubble3D val="0"/>
            <c:spPr>
              <a:solidFill>
                <a:schemeClr val="accent6">
                  <a:lumMod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5F-FC29-47F4-977F-F4790F618E8D}"/>
              </c:ext>
            </c:extLst>
          </c:dPt>
          <c:dPt>
            <c:idx val="48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1-FC29-47F4-977F-F4790F618E8D}"/>
              </c:ext>
            </c:extLst>
          </c:dPt>
          <c:dPt>
            <c:idx val="49"/>
            <c:bubble3D val="0"/>
            <c:spPr>
              <a:solidFill>
                <a:schemeClr val="accent2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3-FC29-47F4-977F-F4790F618E8D}"/>
              </c:ext>
            </c:extLst>
          </c:dPt>
          <c:dPt>
            <c:idx val="50"/>
            <c:bubble3D val="0"/>
            <c:spPr>
              <a:solidFill>
                <a:schemeClr val="accent3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5-FC29-47F4-977F-F4790F618E8D}"/>
              </c:ext>
            </c:extLst>
          </c:dPt>
          <c:dPt>
            <c:idx val="51"/>
            <c:bubble3D val="0"/>
            <c:spPr>
              <a:solidFill>
                <a:schemeClr val="accent4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7-FC29-47F4-977F-F4790F618E8D}"/>
              </c:ext>
            </c:extLst>
          </c:dPt>
          <c:dPt>
            <c:idx val="52"/>
            <c:bubble3D val="0"/>
            <c:spPr>
              <a:solidFill>
                <a:schemeClr val="accent5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9-FC29-47F4-977F-F4790F618E8D}"/>
              </c:ext>
            </c:extLst>
          </c:dPt>
          <c:dPt>
            <c:idx val="53"/>
            <c:bubble3D val="0"/>
            <c:spPr>
              <a:solidFill>
                <a:schemeClr val="accent6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B-FC29-47F4-977F-F4790F618E8D}"/>
              </c:ext>
            </c:extLst>
          </c:dPt>
          <c:dPt>
            <c:idx val="54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D-FC29-47F4-977F-F4790F618E8D}"/>
              </c:ext>
            </c:extLst>
          </c:dPt>
          <c:dPt>
            <c:idx val="55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6F-FC29-47F4-977F-F4790F618E8D}"/>
              </c:ext>
            </c:extLst>
          </c:dPt>
          <c:dPt>
            <c:idx val="56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71-FC29-47F4-977F-F4790F618E8D}"/>
              </c:ext>
            </c:extLst>
          </c:dPt>
          <c:dLbls>
            <c:dLbl>
              <c:idx val="0"/>
              <c:layout>
                <c:manualLayout>
                  <c:x val="-1.2735370832217712E-2"/>
                  <c:y val="0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 i="0" u="none" strike="noStrike" kern="1200" baseline="0">
                        <a:solidFill>
                          <a:schemeClr val="tx2">
                            <a:lumMod val="50000"/>
                          </a:schemeClr>
                        </a:solidFill>
                        <a:latin typeface="Aptos" panose="020B0004020202020204" pitchFamily="34" charset="0"/>
                        <a:ea typeface="+mn-ea"/>
                        <a:cs typeface="+mn-cs"/>
                      </a:defRPr>
                    </a:pPr>
                    <a:fld id="{E2F49FEC-1669-40C5-B0F1-4F155BD59C59}" type="VALUE">
                      <a:rPr lang="en-US" altLang="zh-CN" sz="800"/>
                      <a:pPr>
                        <a:defRPr sz="7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defRPr>
                      </a:pPr>
                      <a:t>[VALUE]</a:t>
                    </a:fld>
                    <a:endParaRPr lang="en-US" altLang="zh-CN" sz="700" baseline="0" dirty="0"/>
                  </a:p>
                  <a:p>
                    <a:pPr>
                      <a:defRPr sz="700" b="1">
                        <a:solidFill>
                          <a:schemeClr val="tx2">
                            <a:lumMod val="50000"/>
                          </a:schemeClr>
                        </a:solidFill>
                        <a:latin typeface="Aptos" panose="020B0004020202020204" pitchFamily="34" charset="0"/>
                      </a:defRPr>
                    </a:pPr>
                    <a:fld id="{1236E87F-D842-422A-841F-BDC4F246FF54}" type="PERCENTAGE">
                      <a:rPr lang="en-US" altLang="zh-CN" sz="800" baseline="0"/>
                      <a:pPr>
                        <a:defRPr sz="7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Aptos" panose="020B0004020202020204" pitchFamily="34" charset="0"/>
                        </a:defRPr>
                      </a:pPr>
                      <a:t>[PERCENTAGE]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2">
                          <a:lumMod val="50000"/>
                        </a:schemeClr>
                      </a:solidFill>
                      <a:latin typeface="Aptos" panose="020B0004020202020204" pitchFamily="34" charset="0"/>
                      <a:ea typeface="+mn-ea"/>
                      <a:cs typeface="+mn-cs"/>
                    </a:defRPr>
                  </a:pPr>
                  <a:endParaRPr lang="en-US" altLang="zh-CN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27942254485791"/>
                      <c:h val="0.4197241975405649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C29-47F4-977F-F4790F618E8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19EAF2E-9195-4A87-B6F1-3BD96D9E2B1D}" type="VALUE">
                      <a:rPr lang="en-US" altLang="zh-CN"/>
                      <a:pPr/>
                      <a:t>[VALUE]</a:t>
                    </a:fld>
                    <a:endParaRPr lang="en-US" altLang="zh-CN" baseline="0" dirty="0"/>
                  </a:p>
                  <a:p>
                    <a:fld id="{9050422E-B93A-4E71-B1FA-3AB6671D1E61}" type="PERCENTAGE">
                      <a:rPr lang="en-US" altLang="zh-CN" baseline="0"/>
                      <a:pPr/>
                      <a:t>[PERCENTAGE]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C29-47F4-977F-F4790F618E8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Sheet2!$A$9:$A$10</c:f>
              <c:strCache>
                <c:ptCount val="2"/>
                <c:pt idx="0">
                  <c:v>DTC</c:v>
                </c:pt>
                <c:pt idx="1">
                  <c:v>Third-Party</c:v>
                </c:pt>
              </c:strCache>
            </c:strRef>
          </c:cat>
          <c:val>
            <c:numRef>
              <c:f>Sheet2!$D$9:$D$10</c:f>
              <c:numCache>
                <c:formatCode>_ * #,##0_ ;_ * \-#,##0_ ;_ * "-"??_ ;_ @_ </c:formatCode>
                <c:ptCount val="2"/>
                <c:pt idx="0">
                  <c:v>100470</c:v>
                </c:pt>
                <c:pt idx="1">
                  <c:v>96530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72-FC29-47F4-977F-F4790F618E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3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9742146295549151"/>
          <c:y val="0.87397399127804187"/>
          <c:w val="0.60354060306677781"/>
          <c:h val="0.126026008721958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>
                  <a:lumMod val="50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dirty="0">
                <a:latin typeface="Aptos" panose="020B0004020202020204" pitchFamily="34" charset="0"/>
              </a:rPr>
              <a:t>Estimated Price per</a:t>
            </a:r>
            <a:r>
              <a:rPr lang="en-US" altLang="zh-CN" baseline="0" dirty="0">
                <a:latin typeface="Aptos" panose="020B0004020202020204" pitchFamily="34" charset="0"/>
              </a:rPr>
              <a:t> Share across Various Metrics</a:t>
            </a:r>
            <a:endParaRPr lang="en-US" altLang="zh-CN" dirty="0">
              <a:latin typeface="Aptos" panose="020B00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17"/>
          <c:order val="17"/>
          <c:tx>
            <c:strRef>
              <c:f>'Comparable Company Analysis (2)'!$A$46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'Comparable Company Analysis (2)'!$B$28:$D$28</c:f>
              <c:strCache>
                <c:ptCount val="3"/>
                <c:pt idx="0">
                  <c:v>EV / LTM Revenue ($M)</c:v>
                </c:pt>
                <c:pt idx="1">
                  <c:v>EV / LTM EBITDA ($M)</c:v>
                </c:pt>
                <c:pt idx="2">
                  <c:v>P/E (TTM)</c:v>
                </c:pt>
              </c:strCache>
            </c:strRef>
          </c:cat>
          <c:val>
            <c:numRef>
              <c:f>'Comparable Company Analysis (2)'!$B$46:$D$46</c:f>
              <c:numCache>
                <c:formatCode>General</c:formatCode>
                <c:ptCount val="3"/>
                <c:pt idx="0">
                  <c:v>14.593682603036658</c:v>
                </c:pt>
                <c:pt idx="1">
                  <c:v>14.902147410357585</c:v>
                </c:pt>
                <c:pt idx="2">
                  <c:v>15.99418226435537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9A-4044-BDD8-AB2DAF25D2AE}"/>
            </c:ext>
          </c:extLst>
        </c:ser>
        <c:ser>
          <c:idx val="18"/>
          <c:order val="18"/>
          <c:tx>
            <c:strRef>
              <c:f>'Comparable Company Analysis (2)'!$A$47</c:f>
              <c:strCache>
                <c:ptCount val="1"/>
                <c:pt idx="0">
                  <c:v>Median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'Comparable Company Analysis (2)'!$B$28:$D$28</c:f>
              <c:strCache>
                <c:ptCount val="3"/>
                <c:pt idx="0">
                  <c:v>EV / LTM Revenue ($M)</c:v>
                </c:pt>
                <c:pt idx="1">
                  <c:v>EV / LTM EBITDA ($M)</c:v>
                </c:pt>
                <c:pt idx="2">
                  <c:v>P/E (TTM)</c:v>
                </c:pt>
              </c:strCache>
            </c:strRef>
          </c:cat>
          <c:val>
            <c:numRef>
              <c:f>'Comparable Company Analysis (2)'!$B$47:$D$47</c:f>
              <c:numCache>
                <c:formatCode>General</c:formatCode>
                <c:ptCount val="3"/>
                <c:pt idx="0">
                  <c:v>12.090848704427142</c:v>
                </c:pt>
                <c:pt idx="1">
                  <c:v>12.261447537004647</c:v>
                </c:pt>
                <c:pt idx="2">
                  <c:v>23.164703560579294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9A-4044-BDD8-AB2DAF25D2AE}"/>
            </c:ext>
          </c:extLst>
        </c:ser>
        <c:ser>
          <c:idx val="19"/>
          <c:order val="19"/>
          <c:tx>
            <c:strRef>
              <c:f>'Comparable Company Analysis (2)'!$A$48</c:f>
              <c:strCache>
                <c:ptCount val="1"/>
                <c:pt idx="0">
                  <c:v>Min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'Comparable Company Analysis (2)'!$B$28:$D$28</c:f>
              <c:strCache>
                <c:ptCount val="3"/>
                <c:pt idx="0">
                  <c:v>EV / LTM Revenue ($M)</c:v>
                </c:pt>
                <c:pt idx="1">
                  <c:v>EV / LTM EBITDA ($M)</c:v>
                </c:pt>
                <c:pt idx="2">
                  <c:v>P/E (TTM)</c:v>
                </c:pt>
              </c:strCache>
            </c:strRef>
          </c:cat>
          <c:val>
            <c:numRef>
              <c:f>'Comparable Company Analysis (2)'!$B$48:$D$48</c:f>
              <c:numCache>
                <c:formatCode>General</c:formatCode>
                <c:ptCount val="3"/>
                <c:pt idx="0">
                  <c:v>3.5817125187258059</c:v>
                </c:pt>
                <c:pt idx="1">
                  <c:v>8.16015732831017</c:v>
                </c:pt>
                <c:pt idx="2">
                  <c:v>4.6703687543984955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9A-4044-BDD8-AB2DAF25D2AE}"/>
            </c:ext>
          </c:extLst>
        </c:ser>
        <c:ser>
          <c:idx val="20"/>
          <c:order val="20"/>
          <c:tx>
            <c:strRef>
              <c:f>'Comparable Company Analysis (2)'!$A$49</c:f>
              <c:strCache>
                <c:ptCount val="1"/>
                <c:pt idx="0">
                  <c:v>Max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'Comparable Company Analysis (2)'!$B$28:$D$28</c:f>
              <c:strCache>
                <c:ptCount val="3"/>
                <c:pt idx="0">
                  <c:v>EV / LTM Revenue ($M)</c:v>
                </c:pt>
                <c:pt idx="1">
                  <c:v>EV / LTM EBITDA ($M)</c:v>
                </c:pt>
                <c:pt idx="2">
                  <c:v>P/E (TTM)</c:v>
                </c:pt>
              </c:strCache>
            </c:strRef>
          </c:cat>
          <c:val>
            <c:numRef>
              <c:f>'Comparable Company Analysis (2)'!$B$49:$D$49</c:f>
              <c:numCache>
                <c:formatCode>General</c:formatCode>
                <c:ptCount val="3"/>
                <c:pt idx="0">
                  <c:v>28.585098026270501</c:v>
                </c:pt>
                <c:pt idx="1">
                  <c:v>24.226368559063744</c:v>
                </c:pt>
                <c:pt idx="2">
                  <c:v>31.691787976275506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29A-4044-BDD8-AB2DAF25D2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21898015"/>
        <c:axId val="1221897055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'Comparable Company Analysis (2)'!$A$29</c15:sqref>
                        </c15:formulaRef>
                      </c:ext>
                    </c:extLst>
                    <c:strCache>
                      <c:ptCount val="1"/>
                      <c:pt idx="0">
                        <c:v>Peer Multiple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'Comparable Company Analysis (2)'!$B$29:$D$29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729A-4044-BDD8-AB2DAF25D2AE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(2)'!$A$30</c15:sqref>
                        </c15:formulaRef>
                      </c:ext>
                    </c:extLst>
                    <c:strCache>
                      <c:ptCount val="1"/>
                      <c:pt idx="0">
                        <c:v>Mean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(2)'!$B$30:$D$30</c15:sqref>
                        </c15:formulaRef>
                      </c:ext>
                    </c:extLst>
                    <c:numCache>
                      <c:formatCode>0.0\x</c:formatCode>
                      <c:ptCount val="3"/>
                      <c:pt idx="0">
                        <c:v>2.5365000000000002</c:v>
                      </c:pt>
                      <c:pt idx="1">
                        <c:v>11.47725</c:v>
                      </c:pt>
                      <c:pt idx="2">
                        <c:v>19.657250000000001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729A-4044-BDD8-AB2DAF25D2AE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(2)'!$A$31</c15:sqref>
                        </c15:formulaRef>
                      </c:ext>
                    </c:extLst>
                    <c:strCache>
                      <c:ptCount val="1"/>
                      <c:pt idx="0">
                        <c:v>Median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(2)'!$B$31:$D$31</c15:sqref>
                        </c15:formulaRef>
                      </c:ext>
                    </c:extLst>
                    <c:numCache>
                      <c:formatCode>0.0\x</c:formatCode>
                      <c:ptCount val="3"/>
                      <c:pt idx="0">
                        <c:v>2.0350000000000001</c:v>
                      </c:pt>
                      <c:pt idx="1">
                        <c:v>9.14</c:v>
                      </c:pt>
                      <c:pt idx="2">
                        <c:v>28.47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729A-4044-BDD8-AB2DAF25D2AE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(2)'!$A$32</c15:sqref>
                        </c15:formulaRef>
                      </c:ext>
                    </c:extLst>
                    <c:strCache>
                      <c:ptCount val="1"/>
                      <c:pt idx="0">
                        <c:v>Min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(2)'!$B$32:$D$32</c15:sqref>
                        </c15:formulaRef>
                      </c:ext>
                    </c:extLst>
                    <c:numCache>
                      <c:formatCode>0.0\x</c:formatCode>
                      <c:ptCount val="3"/>
                      <c:pt idx="0">
                        <c:v>0.33</c:v>
                      </c:pt>
                      <c:pt idx="1">
                        <c:v>5.51</c:v>
                      </c:pt>
                      <c:pt idx="2">
                        <c:v>5.74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729A-4044-BDD8-AB2DAF25D2AE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(2)'!$A$33</c15:sqref>
                        </c15:formulaRef>
                      </c:ext>
                    </c:extLst>
                    <c:strCache>
                      <c:ptCount val="1"/>
                      <c:pt idx="0">
                        <c:v>Max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(2)'!$B$33:$D$33</c15:sqref>
                        </c15:formulaRef>
                      </c:ext>
                    </c:extLst>
                    <c:numCache>
                      <c:formatCode>0.0\x</c:formatCode>
                      <c:ptCount val="3"/>
                      <c:pt idx="0">
                        <c:v>5.34</c:v>
                      </c:pt>
                      <c:pt idx="1">
                        <c:v>19.73</c:v>
                      </c:pt>
                      <c:pt idx="2">
                        <c:v>38.950000000000003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729A-4044-BDD8-AB2DAF25D2AE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(2)'!$A$34</c15:sqref>
                        </c15:formulaRef>
                      </c:ext>
                    </c:extLst>
                    <c:strCache>
                      <c:ptCount val="1"/>
                      <c:pt idx="0">
                        <c:v>Implied EV ($M)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(2)'!$B$34:$D$34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729A-4044-BDD8-AB2DAF25D2AE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(2)'!$A$35</c15:sqref>
                        </c15:formulaRef>
                      </c:ext>
                    </c:extLst>
                    <c:strCache>
                      <c:ptCount val="1"/>
                      <c:pt idx="0">
                        <c:v>Mean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(2)'!$B$35:$D$35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872.80965000000015</c:v>
                      </c:pt>
                      <c:pt idx="1">
                        <c:v>894.07777500000009</c:v>
                      </c:pt>
                      <c:pt idx="2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729A-4044-BDD8-AB2DAF25D2AE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(2)'!$A$36</c15:sqref>
                        </c15:formulaRef>
                      </c:ext>
                    </c:extLst>
                    <c:strCache>
                      <c:ptCount val="1"/>
                      <c:pt idx="0">
                        <c:v>Median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(2)'!$B$36:$D$36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700.24350000000004</c:v>
                      </c:pt>
                      <c:pt idx="1">
                        <c:v>712.00600000000009</c:v>
                      </c:pt>
                      <c:pt idx="2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729A-4044-BDD8-AB2DAF25D2AE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(2)'!$A$37</c15:sqref>
                        </c15:formulaRef>
                      </c:ext>
                    </c:extLst>
                    <c:strCache>
                      <c:ptCount val="1"/>
                      <c:pt idx="0">
                        <c:v>Min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(2)'!$B$37:$D$37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113.55300000000001</c:v>
                      </c:pt>
                      <c:pt idx="1">
                        <c:v>429.22900000000004</c:v>
                      </c:pt>
                      <c:pt idx="2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729A-4044-BDD8-AB2DAF25D2AE}"/>
                  </c:ext>
                </c:extLst>
              </c15:ser>
            </c15:filteredBarSeries>
            <c15:filteredB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(2)'!$A$38</c15:sqref>
                        </c15:formulaRef>
                      </c:ext>
                    </c:extLst>
                    <c:strCache>
                      <c:ptCount val="1"/>
                      <c:pt idx="0">
                        <c:v>Max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(2)'!$B$38:$D$38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1837.4940000000001</c:v>
                      </c:pt>
                      <c:pt idx="1">
                        <c:v>1536.9670000000001</c:v>
                      </c:pt>
                      <c:pt idx="2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729A-4044-BDD8-AB2DAF25D2AE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(2)'!$A$39</c15:sqref>
                        </c15:formulaRef>
                      </c:ext>
                    </c:extLst>
                    <c:strCache>
                      <c:ptCount val="1"/>
                      <c:pt idx="0">
                        <c:v>Implied Equity Value ($M)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(2)'!$B$39:$D$39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729A-4044-BDD8-AB2DAF25D2AE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(2)'!$A$40</c15:sqref>
                        </c15:formulaRef>
                      </c:ext>
                    </c:extLst>
                    <c:strCache>
                      <c:ptCount val="1"/>
                      <c:pt idx="0">
                        <c:v>Mean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(2)'!$B$40:$D$40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1006.2096500000001</c:v>
                      </c:pt>
                      <c:pt idx="1">
                        <c:v>1027.4777750000001</c:v>
                      </c:pt>
                      <c:pt idx="2">
                        <c:v>1102.7717250000001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729A-4044-BDD8-AB2DAF25D2AE}"/>
                  </c:ext>
                </c:extLst>
              </c15:ser>
            </c15:filteredBarSeries>
            <c15:filteredB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(2)'!$A$41</c15:sqref>
                        </c15:formulaRef>
                      </c:ext>
                    </c:extLst>
                    <c:strCache>
                      <c:ptCount val="1"/>
                      <c:pt idx="0">
                        <c:v>Median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(2)'!$B$41:$D$41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833.64350000000002</c:v>
                      </c:pt>
                      <c:pt idx="1">
                        <c:v>845.40600000000006</c:v>
                      </c:pt>
                      <c:pt idx="2">
                        <c:v>1597.1669999999999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729A-4044-BDD8-AB2DAF25D2AE}"/>
                  </c:ext>
                </c:extLst>
              </c15:ser>
            </c15:filteredBarSeries>
            <c15:filteredBar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(2)'!$A$42</c15:sqref>
                        </c15:formulaRef>
                      </c:ext>
                    </c:extLst>
                    <c:strCache>
                      <c:ptCount val="1"/>
                      <c:pt idx="0">
                        <c:v>Min</c:v>
                      </c:pt>
                    </c:strCache>
                  </c:strRef>
                </c:tx>
                <c:spPr>
                  <a:solidFill>
                    <a:schemeClr val="accent2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(2)'!$B$42:$D$42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246.95300000000003</c:v>
                      </c:pt>
                      <c:pt idx="1">
                        <c:v>562.62900000000002</c:v>
                      </c:pt>
                      <c:pt idx="2">
                        <c:v>322.01400000000001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729A-4044-BDD8-AB2DAF25D2AE}"/>
                  </c:ext>
                </c:extLst>
              </c15:ser>
            </c15:filteredBarSeries>
            <c15:filteredBar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(2)'!$A$43</c15:sqref>
                        </c15:formulaRef>
                      </c:ext>
                    </c:extLst>
                    <c:strCache>
                      <c:ptCount val="1"/>
                      <c:pt idx="0">
                        <c:v>Max</c:v>
                      </c:pt>
                    </c:strCache>
                  </c:strRef>
                </c:tx>
                <c:spPr>
                  <a:solidFill>
                    <a:schemeClr val="accent3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(2)'!$B$43:$D$43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1970.8940000000002</c:v>
                      </c:pt>
                      <c:pt idx="1">
                        <c:v>1670.3670000000002</c:v>
                      </c:pt>
                      <c:pt idx="2">
                        <c:v>2185.0950000000003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729A-4044-BDD8-AB2DAF25D2AE}"/>
                  </c:ext>
                </c:extLst>
              </c15:ser>
            </c15:filteredBarSeries>
            <c15:filteredBar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(2)'!$A$44</c15:sqref>
                        </c15:formulaRef>
                      </c:ext>
                    </c:extLst>
                    <c:strCache>
                      <c:ptCount val="1"/>
                      <c:pt idx="0">
                        <c:v>Diluted Shares Outstanding</c:v>
                      </c:pt>
                    </c:strCache>
                  </c:strRef>
                </c:tx>
                <c:spPr>
                  <a:solidFill>
                    <a:schemeClr val="accent4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(2)'!$B$44:$D$44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68.948302999999996</c:v>
                      </c:pt>
                      <c:pt idx="1">
                        <c:v>68.948302999999996</c:v>
                      </c:pt>
                      <c:pt idx="2">
                        <c:v>68.948302999999996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729A-4044-BDD8-AB2DAF25D2AE}"/>
                  </c:ext>
                </c:extLst>
              </c15:ser>
            </c15:filteredBarSeries>
            <c15:filteredBarSeries>
              <c15:ser>
                <c:idx val="16"/>
                <c:order val="1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(2)'!$A$45</c15:sqref>
                        </c15:formulaRef>
                      </c:ext>
                    </c:extLst>
                    <c:strCache>
                      <c:ptCount val="1"/>
                      <c:pt idx="0">
                        <c:v>Implied Price per Share</c:v>
                      </c:pt>
                    </c:strCache>
                  </c:strRef>
                </c:tx>
                <c:spPr>
                  <a:solidFill>
                    <a:schemeClr val="accent5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(2)'!$B$45:$D$45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729A-4044-BDD8-AB2DAF25D2AE}"/>
                  </c:ext>
                </c:extLst>
              </c15:ser>
            </c15:filteredBarSeries>
            <c15:filteredBarSeries>
              <c15:ser>
                <c:idx val="21"/>
                <c:order val="2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(2)'!$A$50</c15:sqref>
                        </c15:formulaRef>
                      </c:ext>
                    </c:extLst>
                    <c:strCache>
                      <c:ptCount val="1"/>
                      <c:pt idx="0">
                        <c:v>Difference</c:v>
                      </c:pt>
                    </c:strCache>
                  </c:strRef>
                </c:tx>
                <c:spPr>
                  <a:solidFill>
                    <a:schemeClr val="accent4">
                      <a:lumMod val="8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(2)'!$B$50:$D$50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25.003385507544696</c:v>
                      </c:pt>
                      <c:pt idx="1">
                        <c:v>16.066211230753574</c:v>
                      </c:pt>
                      <c:pt idx="2">
                        <c:v>27.021419221877011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5-729A-4044-BDD8-AB2DAF25D2AE}"/>
                  </c:ext>
                </c:extLst>
              </c15:ser>
            </c15:filteredBarSeries>
            <c15:filteredBarSeries>
              <c15:ser>
                <c:idx val="22"/>
                <c:order val="2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(2)'!$A$51</c15:sqref>
                        </c15:formulaRef>
                      </c:ext>
                    </c:extLst>
                    <c:strCache>
                      <c:ptCount val="1"/>
                      <c:pt idx="0">
                        <c:v>Current Stock Price</c:v>
                      </c:pt>
                    </c:strCache>
                  </c:strRef>
                </c:tx>
                <c:spPr>
                  <a:solidFill>
                    <a:schemeClr val="accent5">
                      <a:lumMod val="8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(2)'!$B$51:$D$51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13.81</c:v>
                      </c:pt>
                      <c:pt idx="1">
                        <c:v>13.81</c:v>
                      </c:pt>
                      <c:pt idx="2">
                        <c:v>13.81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6-729A-4044-BDD8-AB2DAF25D2AE}"/>
                  </c:ext>
                </c:extLst>
              </c15:ser>
            </c15:filteredBarSeries>
          </c:ext>
        </c:extLst>
      </c:barChart>
      <c:catAx>
        <c:axId val="1221898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zh-CN"/>
          </a:p>
        </c:txPr>
        <c:crossAx val="1221897055"/>
        <c:crosses val="autoZero"/>
        <c:auto val="1"/>
        <c:lblAlgn val="ctr"/>
        <c:lblOffset val="100"/>
        <c:noMultiLvlLbl val="0"/>
      </c:catAx>
      <c:valAx>
        <c:axId val="1221897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zh-CN"/>
          </a:p>
        </c:txPr>
        <c:crossAx val="122189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dirty="0">
                <a:latin typeface="Aptos" panose="020B0004020202020204" pitchFamily="34" charset="0"/>
              </a:rPr>
              <a:t>Difference between Metrics</a:t>
            </a:r>
            <a:r>
              <a:rPr lang="en-US" altLang="zh-CN" baseline="0" dirty="0">
                <a:latin typeface="Aptos" panose="020B0004020202020204" pitchFamily="34" charset="0"/>
              </a:rPr>
              <a:t> and Current Stock Price</a:t>
            </a:r>
            <a:endParaRPr lang="en-US" altLang="zh-CN" dirty="0">
              <a:latin typeface="Aptos" panose="020B00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19"/>
          <c:order val="19"/>
          <c:tx>
            <c:strRef>
              <c:f>'Comparable Company Analysis (2)'!$A$48</c:f>
              <c:strCache>
                <c:ptCount val="1"/>
                <c:pt idx="0">
                  <c:v>Min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'Comparable Company Analysis (2)'!$B$28:$D$28</c:f>
              <c:strCache>
                <c:ptCount val="3"/>
                <c:pt idx="0">
                  <c:v>EV / LTM Revenue ($M)</c:v>
                </c:pt>
                <c:pt idx="1">
                  <c:v>EV / LTM EBITDA ($M)</c:v>
                </c:pt>
                <c:pt idx="2">
                  <c:v>P/E (TTM)</c:v>
                </c:pt>
              </c:strCache>
            </c:strRef>
          </c:cat>
          <c:val>
            <c:numRef>
              <c:f>'Comparable Company Analysis (2)'!$B$48:$D$48</c:f>
              <c:numCache>
                <c:formatCode>General</c:formatCode>
                <c:ptCount val="3"/>
                <c:pt idx="0">
                  <c:v>3.5817125187258059</c:v>
                </c:pt>
                <c:pt idx="1">
                  <c:v>8.16015732831017</c:v>
                </c:pt>
                <c:pt idx="2">
                  <c:v>4.6703687543984955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20-4458-BF6D-9BE45AA02A85}"/>
            </c:ext>
          </c:extLst>
        </c:ser>
        <c:ser>
          <c:idx val="20"/>
          <c:order val="20"/>
          <c:tx>
            <c:strRef>
              <c:f>'Comparable Company Analysis (2)'!$A$49</c:f>
              <c:strCache>
                <c:ptCount val="1"/>
                <c:pt idx="0">
                  <c:v>Max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2920-4458-BF6D-9BE45AA02A85}"/>
              </c:ext>
            </c:extLst>
          </c:dPt>
          <c:dLbls>
            <c:delete val="1"/>
          </c:dLbls>
          <c:cat>
            <c:strRef>
              <c:f>'Comparable Company Analysis (2)'!$B$28:$D$28</c:f>
              <c:strCache>
                <c:ptCount val="3"/>
                <c:pt idx="0">
                  <c:v>EV / LTM Revenue ($M)</c:v>
                </c:pt>
                <c:pt idx="1">
                  <c:v>EV / LTM EBITDA ($M)</c:v>
                </c:pt>
                <c:pt idx="2">
                  <c:v>P/E (TTM)</c:v>
                </c:pt>
              </c:strCache>
            </c:strRef>
          </c:cat>
          <c:val>
            <c:numRef>
              <c:f>'Comparable Company Analysis (2)'!$B$49:$D$49</c:f>
              <c:numCache>
                <c:formatCode>General</c:formatCode>
                <c:ptCount val="3"/>
                <c:pt idx="0">
                  <c:v>28.585098026270501</c:v>
                </c:pt>
                <c:pt idx="1">
                  <c:v>24.226368559063744</c:v>
                </c:pt>
                <c:pt idx="2">
                  <c:v>31.691787976275506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20-4458-BF6D-9BE45AA02A85}"/>
            </c:ext>
          </c:extLst>
        </c:ser>
        <c:ser>
          <c:idx val="21"/>
          <c:order val="21"/>
          <c:tx>
            <c:strRef>
              <c:f>'Comparable Company Analysis (2)'!$A$50</c:f>
              <c:strCache>
                <c:ptCount val="1"/>
                <c:pt idx="0">
                  <c:v>Difference</c:v>
                </c:pt>
              </c:strCache>
              <c:extLst xmlns:c15="http://schemas.microsoft.com/office/drawing/2012/chart"/>
            </c:strRef>
          </c:tx>
          <c:spPr>
            <a:noFill/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zh-CN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'Comparable Company Analysis (2)'!$B$28:$D$28</c:f>
              <c:strCache>
                <c:ptCount val="3"/>
                <c:pt idx="0">
                  <c:v>EV / LTM Revenue ($M)</c:v>
                </c:pt>
                <c:pt idx="1">
                  <c:v>EV / LTM EBITDA ($M)</c:v>
                </c:pt>
                <c:pt idx="2">
                  <c:v>P/E (TTM)</c:v>
                </c:pt>
              </c:strCache>
              <c:extLst xmlns:c15="http://schemas.microsoft.com/office/drawing/2012/chart"/>
            </c:strRef>
          </c:cat>
          <c:val>
            <c:numRef>
              <c:f>'Comparable Company Analysis (2)'!$B$50:$D$50</c:f>
              <c:numCache>
                <c:formatCode>General</c:formatCode>
                <c:ptCount val="3"/>
                <c:pt idx="0">
                  <c:v>25.003385507544696</c:v>
                </c:pt>
                <c:pt idx="1">
                  <c:v>16.066211230753574</c:v>
                </c:pt>
                <c:pt idx="2">
                  <c:v>27.021419221877011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2-2920-4458-BF6D-9BE45AA02A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221898015"/>
        <c:axId val="1221897055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'Comparable Company Analysis (2)'!$A$29</c15:sqref>
                        </c15:formulaRef>
                      </c:ext>
                    </c:extLst>
                    <c:strCache>
                      <c:ptCount val="1"/>
                      <c:pt idx="0">
                        <c:v>Peer Multiple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'Comparable Company Analysis (2)'!$B$29:$D$29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2920-4458-BF6D-9BE45AA02A85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(2)'!$A$30</c15:sqref>
                        </c15:formulaRef>
                      </c:ext>
                    </c:extLst>
                    <c:strCache>
                      <c:ptCount val="1"/>
                      <c:pt idx="0">
                        <c:v>Mean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(2)'!$B$30:$D$30</c15:sqref>
                        </c15:formulaRef>
                      </c:ext>
                    </c:extLst>
                    <c:numCache>
                      <c:formatCode>0.0\x</c:formatCode>
                      <c:ptCount val="3"/>
                      <c:pt idx="0">
                        <c:v>2.5365000000000002</c:v>
                      </c:pt>
                      <c:pt idx="1">
                        <c:v>11.47725</c:v>
                      </c:pt>
                      <c:pt idx="2">
                        <c:v>19.657250000000001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2920-4458-BF6D-9BE45AA02A85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(2)'!$A$31</c15:sqref>
                        </c15:formulaRef>
                      </c:ext>
                    </c:extLst>
                    <c:strCache>
                      <c:ptCount val="1"/>
                      <c:pt idx="0">
                        <c:v>Median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(2)'!$B$31:$D$31</c15:sqref>
                        </c15:formulaRef>
                      </c:ext>
                    </c:extLst>
                    <c:numCache>
                      <c:formatCode>0.0\x</c:formatCode>
                      <c:ptCount val="3"/>
                      <c:pt idx="0">
                        <c:v>2.0350000000000001</c:v>
                      </c:pt>
                      <c:pt idx="1">
                        <c:v>9.14</c:v>
                      </c:pt>
                      <c:pt idx="2">
                        <c:v>28.47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2920-4458-BF6D-9BE45AA02A8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(2)'!$A$32</c15:sqref>
                        </c15:formulaRef>
                      </c:ext>
                    </c:extLst>
                    <c:strCache>
                      <c:ptCount val="1"/>
                      <c:pt idx="0">
                        <c:v>Min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(2)'!$B$32:$D$32</c15:sqref>
                        </c15:formulaRef>
                      </c:ext>
                    </c:extLst>
                    <c:numCache>
                      <c:formatCode>0.0\x</c:formatCode>
                      <c:ptCount val="3"/>
                      <c:pt idx="0">
                        <c:v>0.33</c:v>
                      </c:pt>
                      <c:pt idx="1">
                        <c:v>5.51</c:v>
                      </c:pt>
                      <c:pt idx="2">
                        <c:v>5.74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2920-4458-BF6D-9BE45AA02A85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(2)'!$A$33</c15:sqref>
                        </c15:formulaRef>
                      </c:ext>
                    </c:extLst>
                    <c:strCache>
                      <c:ptCount val="1"/>
                      <c:pt idx="0">
                        <c:v>Max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(2)'!$B$33:$D$33</c15:sqref>
                        </c15:formulaRef>
                      </c:ext>
                    </c:extLst>
                    <c:numCache>
                      <c:formatCode>0.0\x</c:formatCode>
                      <c:ptCount val="3"/>
                      <c:pt idx="0">
                        <c:v>5.34</c:v>
                      </c:pt>
                      <c:pt idx="1">
                        <c:v>19.73</c:v>
                      </c:pt>
                      <c:pt idx="2">
                        <c:v>38.950000000000003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2920-4458-BF6D-9BE45AA02A85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(2)'!$A$34</c15:sqref>
                        </c15:formulaRef>
                      </c:ext>
                    </c:extLst>
                    <c:strCache>
                      <c:ptCount val="1"/>
                      <c:pt idx="0">
                        <c:v>Implied EV ($M)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(2)'!$B$34:$D$34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2920-4458-BF6D-9BE45AA02A85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(2)'!$A$35</c15:sqref>
                        </c15:formulaRef>
                      </c:ext>
                    </c:extLst>
                    <c:strCache>
                      <c:ptCount val="1"/>
                      <c:pt idx="0">
                        <c:v>Mean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(2)'!$B$35:$D$35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872.80965000000015</c:v>
                      </c:pt>
                      <c:pt idx="1">
                        <c:v>894.07777500000009</c:v>
                      </c:pt>
                      <c:pt idx="2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2920-4458-BF6D-9BE45AA02A85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(2)'!$A$36</c15:sqref>
                        </c15:formulaRef>
                      </c:ext>
                    </c:extLst>
                    <c:strCache>
                      <c:ptCount val="1"/>
                      <c:pt idx="0">
                        <c:v>Median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(2)'!$B$36:$D$36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700.24350000000004</c:v>
                      </c:pt>
                      <c:pt idx="1">
                        <c:v>712.00600000000009</c:v>
                      </c:pt>
                      <c:pt idx="2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2920-4458-BF6D-9BE45AA02A85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(2)'!$A$37</c15:sqref>
                        </c15:formulaRef>
                      </c:ext>
                    </c:extLst>
                    <c:strCache>
                      <c:ptCount val="1"/>
                      <c:pt idx="0">
                        <c:v>Min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(2)'!$B$37:$D$37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113.55300000000001</c:v>
                      </c:pt>
                      <c:pt idx="1">
                        <c:v>429.22900000000004</c:v>
                      </c:pt>
                      <c:pt idx="2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2920-4458-BF6D-9BE45AA02A85}"/>
                  </c:ext>
                </c:extLst>
              </c15:ser>
            </c15:filteredBarSeries>
            <c15:filteredB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(2)'!$A$38</c15:sqref>
                        </c15:formulaRef>
                      </c:ext>
                    </c:extLst>
                    <c:strCache>
                      <c:ptCount val="1"/>
                      <c:pt idx="0">
                        <c:v>Max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(2)'!$B$38:$D$38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1837.4940000000001</c:v>
                      </c:pt>
                      <c:pt idx="1">
                        <c:v>1536.9670000000001</c:v>
                      </c:pt>
                      <c:pt idx="2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2920-4458-BF6D-9BE45AA02A85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(2)'!$A$39</c15:sqref>
                        </c15:formulaRef>
                      </c:ext>
                    </c:extLst>
                    <c:strCache>
                      <c:ptCount val="1"/>
                      <c:pt idx="0">
                        <c:v>Implied Equity Value ($M)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(2)'!$B$39:$D$39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2920-4458-BF6D-9BE45AA02A85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(2)'!$A$40</c15:sqref>
                        </c15:formulaRef>
                      </c:ext>
                    </c:extLst>
                    <c:strCache>
                      <c:ptCount val="1"/>
                      <c:pt idx="0">
                        <c:v>Mean</c:v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(2)'!$B$40:$D$40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1006.2096500000001</c:v>
                      </c:pt>
                      <c:pt idx="1">
                        <c:v>1027.4777750000001</c:v>
                      </c:pt>
                      <c:pt idx="2">
                        <c:v>1102.7717250000001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2920-4458-BF6D-9BE45AA02A85}"/>
                  </c:ext>
                </c:extLst>
              </c15:ser>
            </c15:filteredBarSeries>
            <c15:filteredB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(2)'!$A$41</c15:sqref>
                        </c15:formulaRef>
                      </c:ext>
                    </c:extLst>
                    <c:strCache>
                      <c:ptCount val="1"/>
                      <c:pt idx="0">
                        <c:v>Median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(2)'!$B$41:$D$41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833.64350000000002</c:v>
                      </c:pt>
                      <c:pt idx="1">
                        <c:v>845.40600000000006</c:v>
                      </c:pt>
                      <c:pt idx="2">
                        <c:v>1597.1669999999999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2920-4458-BF6D-9BE45AA02A85}"/>
                  </c:ext>
                </c:extLst>
              </c15:ser>
            </c15:filteredBarSeries>
            <c15:filteredBar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(2)'!$A$42</c15:sqref>
                        </c15:formulaRef>
                      </c:ext>
                    </c:extLst>
                    <c:strCache>
                      <c:ptCount val="1"/>
                      <c:pt idx="0">
                        <c:v>Min</c:v>
                      </c:pt>
                    </c:strCache>
                  </c:strRef>
                </c:tx>
                <c:spPr>
                  <a:solidFill>
                    <a:schemeClr val="accent2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(2)'!$B$42:$D$42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246.95300000000003</c:v>
                      </c:pt>
                      <c:pt idx="1">
                        <c:v>562.62900000000002</c:v>
                      </c:pt>
                      <c:pt idx="2">
                        <c:v>322.01400000000001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2920-4458-BF6D-9BE45AA02A85}"/>
                  </c:ext>
                </c:extLst>
              </c15:ser>
            </c15:filteredBarSeries>
            <c15:filteredBar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(2)'!$A$43</c15:sqref>
                        </c15:formulaRef>
                      </c:ext>
                    </c:extLst>
                    <c:strCache>
                      <c:ptCount val="1"/>
                      <c:pt idx="0">
                        <c:v>Max</c:v>
                      </c:pt>
                    </c:strCache>
                  </c:strRef>
                </c:tx>
                <c:spPr>
                  <a:solidFill>
                    <a:schemeClr val="accent3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(2)'!$B$43:$D$43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1970.8940000000002</c:v>
                      </c:pt>
                      <c:pt idx="1">
                        <c:v>1670.3670000000002</c:v>
                      </c:pt>
                      <c:pt idx="2">
                        <c:v>2185.0950000000003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2920-4458-BF6D-9BE45AA02A85}"/>
                  </c:ext>
                </c:extLst>
              </c15:ser>
            </c15:filteredBarSeries>
            <c15:filteredBar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(2)'!$A$44</c15:sqref>
                        </c15:formulaRef>
                      </c:ext>
                    </c:extLst>
                    <c:strCache>
                      <c:ptCount val="1"/>
                      <c:pt idx="0">
                        <c:v>Diluted Shares Outstanding</c:v>
                      </c:pt>
                    </c:strCache>
                  </c:strRef>
                </c:tx>
                <c:spPr>
                  <a:solidFill>
                    <a:schemeClr val="accent4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(2)'!$B$44:$D$44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68.948302999999996</c:v>
                      </c:pt>
                      <c:pt idx="1">
                        <c:v>68.948302999999996</c:v>
                      </c:pt>
                      <c:pt idx="2">
                        <c:v>68.948302999999996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2920-4458-BF6D-9BE45AA02A85}"/>
                  </c:ext>
                </c:extLst>
              </c15:ser>
            </c15:filteredBarSeries>
            <c15:filteredBarSeries>
              <c15:ser>
                <c:idx val="16"/>
                <c:order val="1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(2)'!$A$45</c15:sqref>
                        </c15:formulaRef>
                      </c:ext>
                    </c:extLst>
                    <c:strCache>
                      <c:ptCount val="1"/>
                      <c:pt idx="0">
                        <c:v>Implied Price per Share</c:v>
                      </c:pt>
                    </c:strCache>
                  </c:strRef>
                </c:tx>
                <c:spPr>
                  <a:solidFill>
                    <a:schemeClr val="accent5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(2)'!$B$45:$D$45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2920-4458-BF6D-9BE45AA02A85}"/>
                  </c:ext>
                </c:extLst>
              </c15:ser>
            </c15:filteredBarSeries>
            <c15:filteredBarSeries>
              <c15:ser>
                <c:idx val="17"/>
                <c:order val="1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(2)'!$A$46</c15:sqref>
                        </c15:formulaRef>
                      </c:ext>
                    </c:extLst>
                    <c:strCache>
                      <c:ptCount val="1"/>
                      <c:pt idx="0">
                        <c:v>Mean</c:v>
                      </c:pt>
                    </c:strCache>
                  </c:strRef>
                </c:tx>
                <c:spPr>
                  <a:solidFill>
                    <a:schemeClr val="accent6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(2)'!$B$46:$D$46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14.593682603036658</c:v>
                      </c:pt>
                      <c:pt idx="1">
                        <c:v>14.902147410357585</c:v>
                      </c:pt>
                      <c:pt idx="2">
                        <c:v>15.99418226435537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5-2920-4458-BF6D-9BE45AA02A85}"/>
                  </c:ext>
                </c:extLst>
              </c15:ser>
            </c15:filteredBarSeries>
            <c15:filteredBarSeries>
              <c15:ser>
                <c:idx val="18"/>
                <c:order val="1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(2)'!$A$47</c15:sqref>
                        </c15:formulaRef>
                      </c:ext>
                    </c:extLst>
                    <c:strCache>
                      <c:ptCount val="1"/>
                      <c:pt idx="0">
                        <c:v>Median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(2)'!$B$28:$D$28</c15:sqref>
                        </c15:formulaRef>
                      </c:ext>
                    </c:extLst>
                    <c:strCache>
                      <c:ptCount val="3"/>
                      <c:pt idx="0">
                        <c:v>EV / LTM Revenue ($M)</c:v>
                      </c:pt>
                      <c:pt idx="1">
                        <c:v>EV / LTM EBITDA ($M)</c:v>
                      </c:pt>
                      <c:pt idx="2">
                        <c:v>P/E (TTM)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'Comparable Company Analysis (2)'!$B$47:$D$47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12.090848704427142</c:v>
                      </c:pt>
                      <c:pt idx="1">
                        <c:v>12.261447537004647</c:v>
                      </c:pt>
                      <c:pt idx="2">
                        <c:v>23.164703560579294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6-2920-4458-BF6D-9BE45AA02A85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2"/>
          <c:order val="22"/>
          <c:tx>
            <c:strRef>
              <c:f>'Comparable Company Analysis (2)'!$A$51</c:f>
              <c:strCache>
                <c:ptCount val="1"/>
                <c:pt idx="0">
                  <c:v>Current Stock Price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'Comparable Company Analysis (2)'!$B$28:$D$28</c:f>
              <c:strCache>
                <c:ptCount val="3"/>
                <c:pt idx="0">
                  <c:v>EV / LTM Revenue ($M)</c:v>
                </c:pt>
                <c:pt idx="1">
                  <c:v>EV / LTM EBITDA ($M)</c:v>
                </c:pt>
                <c:pt idx="2">
                  <c:v>P/E (TTM)</c:v>
                </c:pt>
              </c:strCache>
              <c:extLst xmlns:c15="http://schemas.microsoft.com/office/drawing/2012/chart"/>
            </c:strRef>
          </c:cat>
          <c:val>
            <c:numRef>
              <c:f>'Comparable Company Analysis (2)'!$B$51:$D$51</c:f>
              <c:numCache>
                <c:formatCode>General</c:formatCode>
                <c:ptCount val="3"/>
                <c:pt idx="0">
                  <c:v>13.81</c:v>
                </c:pt>
                <c:pt idx="1">
                  <c:v>13.81</c:v>
                </c:pt>
                <c:pt idx="2">
                  <c:v>13.81</c:v>
                </c:pt>
              </c:numCache>
              <c:extLst xmlns:c15="http://schemas.microsoft.com/office/drawing/2012/chart"/>
            </c:numRef>
          </c:val>
          <c:smooth val="0"/>
          <c:extLst>
            <c:ext xmlns:c16="http://schemas.microsoft.com/office/drawing/2014/chart" uri="{C3380CC4-5D6E-409C-BE32-E72D297353CC}">
              <c16:uniqueId val="{00000003-2920-4458-BF6D-9BE45AA02A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21898015"/>
        <c:axId val="1221897055"/>
      </c:lineChart>
      <c:catAx>
        <c:axId val="1221898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zh-CN"/>
          </a:p>
        </c:txPr>
        <c:crossAx val="1221897055"/>
        <c:crosses val="autoZero"/>
        <c:auto val="1"/>
        <c:lblAlgn val="ctr"/>
        <c:lblOffset val="100"/>
        <c:noMultiLvlLbl val="0"/>
      </c:catAx>
      <c:valAx>
        <c:axId val="1221897055"/>
        <c:scaling>
          <c:orientation val="minMax"/>
          <c:max val="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zh-CN"/>
          </a:p>
        </c:txPr>
        <c:crossAx val="122189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r>
              <a:rPr lang="en-US" altLang="zh-CN" dirty="0">
                <a:latin typeface="Aptos" panose="020B0004020202020204" pitchFamily="34" charset="0"/>
              </a:rPr>
              <a:t>LIFE Stock Price History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7.5644151288302583E-2"/>
          <c:y val="0.15595685335571302"/>
          <c:w val="0.89641579283158568"/>
          <c:h val="0.6674968528620443"/>
        </c:manualLayout>
      </c:layout>
      <c:lineChart>
        <c:grouping val="standard"/>
        <c:varyColors val="0"/>
        <c:ser>
          <c:idx val="0"/>
          <c:order val="0"/>
          <c:tx>
            <c:strRef>
              <c:f>'LIFE Daily Prices'!$B$1</c:f>
              <c:strCache>
                <c:ptCount val="1"/>
                <c:pt idx="0">
                  <c:v>Open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'LIFE Daily Prices'!$A$2:$A$49</c:f>
              <c:strCache>
                <c:ptCount val="48"/>
                <c:pt idx="0">
                  <c:v>Jan 30, 2026</c:v>
                </c:pt>
                <c:pt idx="1">
                  <c:v>Feb 2, 2026</c:v>
                </c:pt>
                <c:pt idx="2">
                  <c:v>Feb 3, 2026</c:v>
                </c:pt>
                <c:pt idx="3">
                  <c:v>Feb 4, 2026</c:v>
                </c:pt>
                <c:pt idx="4">
                  <c:v>Feb 5, 2026</c:v>
                </c:pt>
                <c:pt idx="5">
                  <c:v>Feb 6, 2026</c:v>
                </c:pt>
                <c:pt idx="6">
                  <c:v>Feb 9, 2026</c:v>
                </c:pt>
                <c:pt idx="7">
                  <c:v>Feb 10, 2026</c:v>
                </c:pt>
                <c:pt idx="8">
                  <c:v>Feb 11, 2026</c:v>
                </c:pt>
                <c:pt idx="9">
                  <c:v>Feb 12, 2026</c:v>
                </c:pt>
                <c:pt idx="10">
                  <c:v>Feb 13, 2026</c:v>
                </c:pt>
                <c:pt idx="11">
                  <c:v>Feb 17, 2026</c:v>
                </c:pt>
                <c:pt idx="12">
                  <c:v>Feb 18, 2026</c:v>
                </c:pt>
                <c:pt idx="13">
                  <c:v>Feb 19, 2026</c:v>
                </c:pt>
                <c:pt idx="14">
                  <c:v>Feb 20, 2026</c:v>
                </c:pt>
                <c:pt idx="15">
                  <c:v>Feb 23, 2026</c:v>
                </c:pt>
                <c:pt idx="16">
                  <c:v>Feb 24, 2026</c:v>
                </c:pt>
                <c:pt idx="17">
                  <c:v>Feb 25, 2026</c:v>
                </c:pt>
                <c:pt idx="18">
                  <c:v>Feb 26, 2026</c:v>
                </c:pt>
                <c:pt idx="19">
                  <c:v>Feb 27, 2026</c:v>
                </c:pt>
                <c:pt idx="20">
                  <c:v>Mar 2, 2026</c:v>
                </c:pt>
                <c:pt idx="21">
                  <c:v>Mar 3, 2026</c:v>
                </c:pt>
                <c:pt idx="22">
                  <c:v>Mar 4, 2026</c:v>
                </c:pt>
                <c:pt idx="23">
                  <c:v>Mar 5, 2026</c:v>
                </c:pt>
                <c:pt idx="24">
                  <c:v>Mar 6, 2026</c:v>
                </c:pt>
                <c:pt idx="25">
                  <c:v>Mar 9, 2026</c:v>
                </c:pt>
                <c:pt idx="26">
                  <c:v>Mar 10, 2026</c:v>
                </c:pt>
                <c:pt idx="27">
                  <c:v>Mar 11, 2026</c:v>
                </c:pt>
                <c:pt idx="28">
                  <c:v>Mar 12, 2026</c:v>
                </c:pt>
                <c:pt idx="29">
                  <c:v>Mar 13, 2026</c:v>
                </c:pt>
                <c:pt idx="30">
                  <c:v>Mar 16, 2026</c:v>
                </c:pt>
                <c:pt idx="31">
                  <c:v>Mar 17, 2026</c:v>
                </c:pt>
                <c:pt idx="32">
                  <c:v>Mar 18, 2026</c:v>
                </c:pt>
                <c:pt idx="33">
                  <c:v>Mar 19, 2026</c:v>
                </c:pt>
                <c:pt idx="34">
                  <c:v>Mar 20, 2026</c:v>
                </c:pt>
                <c:pt idx="35">
                  <c:v>Mar 23, 2026</c:v>
                </c:pt>
                <c:pt idx="36">
                  <c:v>Mar 24, 2026</c:v>
                </c:pt>
                <c:pt idx="37">
                  <c:v>Mar 25, 2026</c:v>
                </c:pt>
                <c:pt idx="38">
                  <c:v>Mar 26, 2026</c:v>
                </c:pt>
                <c:pt idx="39">
                  <c:v>Mar 27, 2026</c:v>
                </c:pt>
                <c:pt idx="40">
                  <c:v>Mar 30, 2026</c:v>
                </c:pt>
                <c:pt idx="41">
                  <c:v>Mar 31, 2026</c:v>
                </c:pt>
                <c:pt idx="42">
                  <c:v>Apr 1, 2026</c:v>
                </c:pt>
                <c:pt idx="43">
                  <c:v>Apr 2, 2026</c:v>
                </c:pt>
                <c:pt idx="44">
                  <c:v>Apr 6, 2026</c:v>
                </c:pt>
                <c:pt idx="45">
                  <c:v>Apr 7, 2026</c:v>
                </c:pt>
                <c:pt idx="46">
                  <c:v>Apr 8, 2026</c:v>
                </c:pt>
                <c:pt idx="47">
                  <c:v>Apr 9, 2026</c:v>
                </c:pt>
              </c:strCache>
              <c:extLst xmlns:c15="http://schemas.microsoft.com/office/drawing/2012/chart"/>
            </c:strRef>
          </c:cat>
          <c:val>
            <c:numRef>
              <c:f>'LIFE Daily Prices'!$B$2:$B$49</c:f>
              <c:numCache>
                <c:formatCode>\$#,##0.00</c:formatCode>
                <c:ptCount val="48"/>
                <c:pt idx="0">
                  <c:v>17.5</c:v>
                </c:pt>
                <c:pt idx="1">
                  <c:v>15.64</c:v>
                </c:pt>
                <c:pt idx="2">
                  <c:v>14</c:v>
                </c:pt>
                <c:pt idx="3">
                  <c:v>13.07</c:v>
                </c:pt>
                <c:pt idx="4">
                  <c:v>13.1</c:v>
                </c:pt>
                <c:pt idx="5">
                  <c:v>11.52</c:v>
                </c:pt>
                <c:pt idx="6">
                  <c:v>12.85</c:v>
                </c:pt>
                <c:pt idx="7">
                  <c:v>12.17</c:v>
                </c:pt>
                <c:pt idx="8">
                  <c:v>10.8</c:v>
                </c:pt>
                <c:pt idx="9">
                  <c:v>10.35</c:v>
                </c:pt>
                <c:pt idx="10">
                  <c:v>10.17</c:v>
                </c:pt>
                <c:pt idx="11">
                  <c:v>10.39</c:v>
                </c:pt>
                <c:pt idx="12">
                  <c:v>10.24</c:v>
                </c:pt>
                <c:pt idx="13">
                  <c:v>11.23</c:v>
                </c:pt>
                <c:pt idx="14">
                  <c:v>10.96</c:v>
                </c:pt>
                <c:pt idx="15">
                  <c:v>11.47</c:v>
                </c:pt>
                <c:pt idx="16">
                  <c:v>11.2</c:v>
                </c:pt>
                <c:pt idx="17">
                  <c:v>11.77</c:v>
                </c:pt>
                <c:pt idx="18">
                  <c:v>12.24</c:v>
                </c:pt>
                <c:pt idx="19">
                  <c:v>12.22</c:v>
                </c:pt>
                <c:pt idx="20">
                  <c:v>12.02</c:v>
                </c:pt>
                <c:pt idx="21">
                  <c:v>12.5</c:v>
                </c:pt>
                <c:pt idx="22">
                  <c:v>13.3</c:v>
                </c:pt>
                <c:pt idx="23">
                  <c:v>13.6</c:v>
                </c:pt>
                <c:pt idx="24">
                  <c:v>13.18</c:v>
                </c:pt>
                <c:pt idx="25">
                  <c:v>13.03</c:v>
                </c:pt>
                <c:pt idx="26">
                  <c:v>13.22</c:v>
                </c:pt>
                <c:pt idx="27">
                  <c:v>12.61</c:v>
                </c:pt>
                <c:pt idx="28">
                  <c:v>12.35</c:v>
                </c:pt>
                <c:pt idx="29">
                  <c:v>12.83</c:v>
                </c:pt>
                <c:pt idx="30">
                  <c:v>12.03</c:v>
                </c:pt>
                <c:pt idx="31">
                  <c:v>11.89</c:v>
                </c:pt>
                <c:pt idx="32">
                  <c:v>11.85</c:v>
                </c:pt>
                <c:pt idx="33">
                  <c:v>10.85</c:v>
                </c:pt>
                <c:pt idx="34">
                  <c:v>10.09</c:v>
                </c:pt>
                <c:pt idx="35">
                  <c:v>10.15</c:v>
                </c:pt>
                <c:pt idx="36">
                  <c:v>10.130000000000001</c:v>
                </c:pt>
                <c:pt idx="37">
                  <c:v>10.15</c:v>
                </c:pt>
                <c:pt idx="38">
                  <c:v>10.5</c:v>
                </c:pt>
                <c:pt idx="39">
                  <c:v>10.1</c:v>
                </c:pt>
                <c:pt idx="40">
                  <c:v>10.119999999999999</c:v>
                </c:pt>
                <c:pt idx="41">
                  <c:v>10.97</c:v>
                </c:pt>
                <c:pt idx="42">
                  <c:v>11.2</c:v>
                </c:pt>
                <c:pt idx="43">
                  <c:v>10.91</c:v>
                </c:pt>
                <c:pt idx="44">
                  <c:v>11.98</c:v>
                </c:pt>
                <c:pt idx="45">
                  <c:v>12.16</c:v>
                </c:pt>
                <c:pt idx="46">
                  <c:v>12.74</c:v>
                </c:pt>
                <c:pt idx="47">
                  <c:v>12.96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0-6DCD-4E9A-AD2E-B34C9DE68319}"/>
            </c:ext>
          </c:extLst>
        </c:ser>
        <c:ser>
          <c:idx val="3"/>
          <c:order val="3"/>
          <c:tx>
            <c:strRef>
              <c:f>'LIFE Daily Prices'!$E$1</c:f>
              <c:strCache>
                <c:ptCount val="1"/>
                <c:pt idx="0">
                  <c:v>Close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'LIFE Daily Prices'!$A$2:$A$49</c:f>
              <c:strCache>
                <c:ptCount val="48"/>
                <c:pt idx="0">
                  <c:v>Jan 30, 2026</c:v>
                </c:pt>
                <c:pt idx="1">
                  <c:v>Feb 2, 2026</c:v>
                </c:pt>
                <c:pt idx="2">
                  <c:v>Feb 3, 2026</c:v>
                </c:pt>
                <c:pt idx="3">
                  <c:v>Feb 4, 2026</c:v>
                </c:pt>
                <c:pt idx="4">
                  <c:v>Feb 5, 2026</c:v>
                </c:pt>
                <c:pt idx="5">
                  <c:v>Feb 6, 2026</c:v>
                </c:pt>
                <c:pt idx="6">
                  <c:v>Feb 9, 2026</c:v>
                </c:pt>
                <c:pt idx="7">
                  <c:v>Feb 10, 2026</c:v>
                </c:pt>
                <c:pt idx="8">
                  <c:v>Feb 11, 2026</c:v>
                </c:pt>
                <c:pt idx="9">
                  <c:v>Feb 12, 2026</c:v>
                </c:pt>
                <c:pt idx="10">
                  <c:v>Feb 13, 2026</c:v>
                </c:pt>
                <c:pt idx="11">
                  <c:v>Feb 17, 2026</c:v>
                </c:pt>
                <c:pt idx="12">
                  <c:v>Feb 18, 2026</c:v>
                </c:pt>
                <c:pt idx="13">
                  <c:v>Feb 19, 2026</c:v>
                </c:pt>
                <c:pt idx="14">
                  <c:v>Feb 20, 2026</c:v>
                </c:pt>
                <c:pt idx="15">
                  <c:v>Feb 23, 2026</c:v>
                </c:pt>
                <c:pt idx="16">
                  <c:v>Feb 24, 2026</c:v>
                </c:pt>
                <c:pt idx="17">
                  <c:v>Feb 25, 2026</c:v>
                </c:pt>
                <c:pt idx="18">
                  <c:v>Feb 26, 2026</c:v>
                </c:pt>
                <c:pt idx="19">
                  <c:v>Feb 27, 2026</c:v>
                </c:pt>
                <c:pt idx="20">
                  <c:v>Mar 2, 2026</c:v>
                </c:pt>
                <c:pt idx="21">
                  <c:v>Mar 3, 2026</c:v>
                </c:pt>
                <c:pt idx="22">
                  <c:v>Mar 4, 2026</c:v>
                </c:pt>
                <c:pt idx="23">
                  <c:v>Mar 5, 2026</c:v>
                </c:pt>
                <c:pt idx="24">
                  <c:v>Mar 6, 2026</c:v>
                </c:pt>
                <c:pt idx="25">
                  <c:v>Mar 9, 2026</c:v>
                </c:pt>
                <c:pt idx="26">
                  <c:v>Mar 10, 2026</c:v>
                </c:pt>
                <c:pt idx="27">
                  <c:v>Mar 11, 2026</c:v>
                </c:pt>
                <c:pt idx="28">
                  <c:v>Mar 12, 2026</c:v>
                </c:pt>
                <c:pt idx="29">
                  <c:v>Mar 13, 2026</c:v>
                </c:pt>
                <c:pt idx="30">
                  <c:v>Mar 16, 2026</c:v>
                </c:pt>
                <c:pt idx="31">
                  <c:v>Mar 17, 2026</c:v>
                </c:pt>
                <c:pt idx="32">
                  <c:v>Mar 18, 2026</c:v>
                </c:pt>
                <c:pt idx="33">
                  <c:v>Mar 19, 2026</c:v>
                </c:pt>
                <c:pt idx="34">
                  <c:v>Mar 20, 2026</c:v>
                </c:pt>
                <c:pt idx="35">
                  <c:v>Mar 23, 2026</c:v>
                </c:pt>
                <c:pt idx="36">
                  <c:v>Mar 24, 2026</c:v>
                </c:pt>
                <c:pt idx="37">
                  <c:v>Mar 25, 2026</c:v>
                </c:pt>
                <c:pt idx="38">
                  <c:v>Mar 26, 2026</c:v>
                </c:pt>
                <c:pt idx="39">
                  <c:v>Mar 27, 2026</c:v>
                </c:pt>
                <c:pt idx="40">
                  <c:v>Mar 30, 2026</c:v>
                </c:pt>
                <c:pt idx="41">
                  <c:v>Mar 31, 2026</c:v>
                </c:pt>
                <c:pt idx="42">
                  <c:v>Apr 1, 2026</c:v>
                </c:pt>
                <c:pt idx="43">
                  <c:v>Apr 2, 2026</c:v>
                </c:pt>
                <c:pt idx="44">
                  <c:v>Apr 6, 2026</c:v>
                </c:pt>
                <c:pt idx="45">
                  <c:v>Apr 7, 2026</c:v>
                </c:pt>
                <c:pt idx="46">
                  <c:v>Apr 8, 2026</c:v>
                </c:pt>
                <c:pt idx="47">
                  <c:v>Apr 9, 2026</c:v>
                </c:pt>
              </c:strCache>
            </c:strRef>
          </c:cat>
          <c:val>
            <c:numRef>
              <c:f>'LIFE Daily Prices'!$E$2:$E$49</c:f>
              <c:numCache>
                <c:formatCode>\$#,##0.00</c:formatCode>
                <c:ptCount val="48"/>
                <c:pt idx="0">
                  <c:v>15.05</c:v>
                </c:pt>
                <c:pt idx="1">
                  <c:v>13.9</c:v>
                </c:pt>
                <c:pt idx="2">
                  <c:v>12.73</c:v>
                </c:pt>
                <c:pt idx="3">
                  <c:v>13.15</c:v>
                </c:pt>
                <c:pt idx="4">
                  <c:v>11.55</c:v>
                </c:pt>
                <c:pt idx="5">
                  <c:v>12.79</c:v>
                </c:pt>
                <c:pt idx="6">
                  <c:v>12.27</c:v>
                </c:pt>
                <c:pt idx="7">
                  <c:v>10.5</c:v>
                </c:pt>
                <c:pt idx="8">
                  <c:v>10.31</c:v>
                </c:pt>
                <c:pt idx="9">
                  <c:v>10.25</c:v>
                </c:pt>
                <c:pt idx="10">
                  <c:v>10.29</c:v>
                </c:pt>
                <c:pt idx="11">
                  <c:v>10.08</c:v>
                </c:pt>
                <c:pt idx="12">
                  <c:v>11.2</c:v>
                </c:pt>
                <c:pt idx="13">
                  <c:v>10.89</c:v>
                </c:pt>
                <c:pt idx="14">
                  <c:v>10.8</c:v>
                </c:pt>
                <c:pt idx="15">
                  <c:v>11</c:v>
                </c:pt>
                <c:pt idx="16">
                  <c:v>11.44</c:v>
                </c:pt>
                <c:pt idx="17">
                  <c:v>11.84</c:v>
                </c:pt>
                <c:pt idx="18">
                  <c:v>12.28</c:v>
                </c:pt>
                <c:pt idx="19">
                  <c:v>12.35</c:v>
                </c:pt>
                <c:pt idx="20">
                  <c:v>12.59</c:v>
                </c:pt>
                <c:pt idx="21">
                  <c:v>13.16</c:v>
                </c:pt>
                <c:pt idx="22">
                  <c:v>13.51</c:v>
                </c:pt>
                <c:pt idx="23">
                  <c:v>13.45</c:v>
                </c:pt>
                <c:pt idx="24">
                  <c:v>13.16</c:v>
                </c:pt>
                <c:pt idx="25">
                  <c:v>13.24</c:v>
                </c:pt>
                <c:pt idx="26">
                  <c:v>12.79</c:v>
                </c:pt>
                <c:pt idx="27">
                  <c:v>12.61</c:v>
                </c:pt>
                <c:pt idx="28">
                  <c:v>12.5</c:v>
                </c:pt>
                <c:pt idx="29">
                  <c:v>12.14</c:v>
                </c:pt>
                <c:pt idx="30">
                  <c:v>11.94</c:v>
                </c:pt>
                <c:pt idx="31">
                  <c:v>11.91</c:v>
                </c:pt>
                <c:pt idx="32">
                  <c:v>10.8</c:v>
                </c:pt>
                <c:pt idx="33">
                  <c:v>10</c:v>
                </c:pt>
                <c:pt idx="34">
                  <c:v>9.85</c:v>
                </c:pt>
                <c:pt idx="35">
                  <c:v>10.130000000000001</c:v>
                </c:pt>
                <c:pt idx="36">
                  <c:v>10.09</c:v>
                </c:pt>
                <c:pt idx="37">
                  <c:v>10.68</c:v>
                </c:pt>
                <c:pt idx="38">
                  <c:v>10.1</c:v>
                </c:pt>
                <c:pt idx="39">
                  <c:v>10.130000000000001</c:v>
                </c:pt>
                <c:pt idx="40">
                  <c:v>10.9</c:v>
                </c:pt>
                <c:pt idx="41">
                  <c:v>11.17</c:v>
                </c:pt>
                <c:pt idx="42">
                  <c:v>11.13</c:v>
                </c:pt>
                <c:pt idx="43">
                  <c:v>11.87</c:v>
                </c:pt>
                <c:pt idx="44">
                  <c:v>12.2</c:v>
                </c:pt>
                <c:pt idx="45">
                  <c:v>12.57</c:v>
                </c:pt>
                <c:pt idx="46">
                  <c:v>12.95</c:v>
                </c:pt>
                <c:pt idx="47">
                  <c:v>13.88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CD-4E9A-AD2E-B34C9DE68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14897871"/>
        <c:axId val="1614896911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'LIFE Daily Prices'!$C$1</c15:sqref>
                        </c15:formulaRef>
                      </c:ext>
                    </c:extLst>
                    <c:strCache>
                      <c:ptCount val="1"/>
                      <c:pt idx="0">
                        <c:v>High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'LIFE Daily Prices'!$A$2:$A$49</c15:sqref>
                        </c15:formulaRef>
                      </c:ext>
                    </c:extLst>
                    <c:strCache>
                      <c:ptCount val="48"/>
                      <c:pt idx="0">
                        <c:v>Jan 30, 2026</c:v>
                      </c:pt>
                      <c:pt idx="1">
                        <c:v>Feb 2, 2026</c:v>
                      </c:pt>
                      <c:pt idx="2">
                        <c:v>Feb 3, 2026</c:v>
                      </c:pt>
                      <c:pt idx="3">
                        <c:v>Feb 4, 2026</c:v>
                      </c:pt>
                      <c:pt idx="4">
                        <c:v>Feb 5, 2026</c:v>
                      </c:pt>
                      <c:pt idx="5">
                        <c:v>Feb 6, 2026</c:v>
                      </c:pt>
                      <c:pt idx="6">
                        <c:v>Feb 9, 2026</c:v>
                      </c:pt>
                      <c:pt idx="7">
                        <c:v>Feb 10, 2026</c:v>
                      </c:pt>
                      <c:pt idx="8">
                        <c:v>Feb 11, 2026</c:v>
                      </c:pt>
                      <c:pt idx="9">
                        <c:v>Feb 12, 2026</c:v>
                      </c:pt>
                      <c:pt idx="10">
                        <c:v>Feb 13, 2026</c:v>
                      </c:pt>
                      <c:pt idx="11">
                        <c:v>Feb 17, 2026</c:v>
                      </c:pt>
                      <c:pt idx="12">
                        <c:v>Feb 18, 2026</c:v>
                      </c:pt>
                      <c:pt idx="13">
                        <c:v>Feb 19, 2026</c:v>
                      </c:pt>
                      <c:pt idx="14">
                        <c:v>Feb 20, 2026</c:v>
                      </c:pt>
                      <c:pt idx="15">
                        <c:v>Feb 23, 2026</c:v>
                      </c:pt>
                      <c:pt idx="16">
                        <c:v>Feb 24, 2026</c:v>
                      </c:pt>
                      <c:pt idx="17">
                        <c:v>Feb 25, 2026</c:v>
                      </c:pt>
                      <c:pt idx="18">
                        <c:v>Feb 26, 2026</c:v>
                      </c:pt>
                      <c:pt idx="19">
                        <c:v>Feb 27, 2026</c:v>
                      </c:pt>
                      <c:pt idx="20">
                        <c:v>Mar 2, 2026</c:v>
                      </c:pt>
                      <c:pt idx="21">
                        <c:v>Mar 3, 2026</c:v>
                      </c:pt>
                      <c:pt idx="22">
                        <c:v>Mar 4, 2026</c:v>
                      </c:pt>
                      <c:pt idx="23">
                        <c:v>Mar 5, 2026</c:v>
                      </c:pt>
                      <c:pt idx="24">
                        <c:v>Mar 6, 2026</c:v>
                      </c:pt>
                      <c:pt idx="25">
                        <c:v>Mar 9, 2026</c:v>
                      </c:pt>
                      <c:pt idx="26">
                        <c:v>Mar 10, 2026</c:v>
                      </c:pt>
                      <c:pt idx="27">
                        <c:v>Mar 11, 2026</c:v>
                      </c:pt>
                      <c:pt idx="28">
                        <c:v>Mar 12, 2026</c:v>
                      </c:pt>
                      <c:pt idx="29">
                        <c:v>Mar 13, 2026</c:v>
                      </c:pt>
                      <c:pt idx="30">
                        <c:v>Mar 16, 2026</c:v>
                      </c:pt>
                      <c:pt idx="31">
                        <c:v>Mar 17, 2026</c:v>
                      </c:pt>
                      <c:pt idx="32">
                        <c:v>Mar 18, 2026</c:v>
                      </c:pt>
                      <c:pt idx="33">
                        <c:v>Mar 19, 2026</c:v>
                      </c:pt>
                      <c:pt idx="34">
                        <c:v>Mar 20, 2026</c:v>
                      </c:pt>
                      <c:pt idx="35">
                        <c:v>Mar 23, 2026</c:v>
                      </c:pt>
                      <c:pt idx="36">
                        <c:v>Mar 24, 2026</c:v>
                      </c:pt>
                      <c:pt idx="37">
                        <c:v>Mar 25, 2026</c:v>
                      </c:pt>
                      <c:pt idx="38">
                        <c:v>Mar 26, 2026</c:v>
                      </c:pt>
                      <c:pt idx="39">
                        <c:v>Mar 27, 2026</c:v>
                      </c:pt>
                      <c:pt idx="40">
                        <c:v>Mar 30, 2026</c:v>
                      </c:pt>
                      <c:pt idx="41">
                        <c:v>Mar 31, 2026</c:v>
                      </c:pt>
                      <c:pt idx="42">
                        <c:v>Apr 1, 2026</c:v>
                      </c:pt>
                      <c:pt idx="43">
                        <c:v>Apr 2, 2026</c:v>
                      </c:pt>
                      <c:pt idx="44">
                        <c:v>Apr 6, 2026</c:v>
                      </c:pt>
                      <c:pt idx="45">
                        <c:v>Apr 7, 2026</c:v>
                      </c:pt>
                      <c:pt idx="46">
                        <c:v>Apr 8, 2026</c:v>
                      </c:pt>
                      <c:pt idx="47">
                        <c:v>Apr 9, 2026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'LIFE Daily Prices'!$C$2:$C$49</c15:sqref>
                        </c15:formulaRef>
                      </c:ext>
                    </c:extLst>
                    <c:numCache>
                      <c:formatCode>\$#,##0.00</c:formatCode>
                      <c:ptCount val="48"/>
                      <c:pt idx="0">
                        <c:v>17.8</c:v>
                      </c:pt>
                      <c:pt idx="1">
                        <c:v>16.03</c:v>
                      </c:pt>
                      <c:pt idx="2">
                        <c:v>14.47</c:v>
                      </c:pt>
                      <c:pt idx="3">
                        <c:v>13.23</c:v>
                      </c:pt>
                      <c:pt idx="4">
                        <c:v>13.36</c:v>
                      </c:pt>
                      <c:pt idx="5">
                        <c:v>13.92</c:v>
                      </c:pt>
                      <c:pt idx="6">
                        <c:v>13.54</c:v>
                      </c:pt>
                      <c:pt idx="7">
                        <c:v>12.56</c:v>
                      </c:pt>
                      <c:pt idx="8">
                        <c:v>11.11</c:v>
                      </c:pt>
                      <c:pt idx="9">
                        <c:v>10.67</c:v>
                      </c:pt>
                      <c:pt idx="10">
                        <c:v>11.07</c:v>
                      </c:pt>
                      <c:pt idx="11">
                        <c:v>10.85</c:v>
                      </c:pt>
                      <c:pt idx="12">
                        <c:v>11.23</c:v>
                      </c:pt>
                      <c:pt idx="13">
                        <c:v>11.23</c:v>
                      </c:pt>
                      <c:pt idx="14">
                        <c:v>11.15</c:v>
                      </c:pt>
                      <c:pt idx="15">
                        <c:v>11.95</c:v>
                      </c:pt>
                      <c:pt idx="16">
                        <c:v>11.96</c:v>
                      </c:pt>
                      <c:pt idx="17">
                        <c:v>12.2</c:v>
                      </c:pt>
                      <c:pt idx="18">
                        <c:v>12.3</c:v>
                      </c:pt>
                      <c:pt idx="19">
                        <c:v>12.6</c:v>
                      </c:pt>
                      <c:pt idx="20">
                        <c:v>12.65</c:v>
                      </c:pt>
                      <c:pt idx="21">
                        <c:v>13.26</c:v>
                      </c:pt>
                      <c:pt idx="22">
                        <c:v>13.62</c:v>
                      </c:pt>
                      <c:pt idx="23">
                        <c:v>13.97</c:v>
                      </c:pt>
                      <c:pt idx="24">
                        <c:v>13.28</c:v>
                      </c:pt>
                      <c:pt idx="25">
                        <c:v>13.26</c:v>
                      </c:pt>
                      <c:pt idx="26">
                        <c:v>13.58</c:v>
                      </c:pt>
                      <c:pt idx="27">
                        <c:v>13.04</c:v>
                      </c:pt>
                      <c:pt idx="28">
                        <c:v>12.83</c:v>
                      </c:pt>
                      <c:pt idx="29">
                        <c:v>13.2</c:v>
                      </c:pt>
                      <c:pt idx="30">
                        <c:v>12.45</c:v>
                      </c:pt>
                      <c:pt idx="31">
                        <c:v>12.55</c:v>
                      </c:pt>
                      <c:pt idx="32">
                        <c:v>11.93</c:v>
                      </c:pt>
                      <c:pt idx="33">
                        <c:v>10.93</c:v>
                      </c:pt>
                      <c:pt idx="34">
                        <c:v>10.89</c:v>
                      </c:pt>
                      <c:pt idx="35">
                        <c:v>10.52</c:v>
                      </c:pt>
                      <c:pt idx="36">
                        <c:v>10.49</c:v>
                      </c:pt>
                      <c:pt idx="37">
                        <c:v>10.73</c:v>
                      </c:pt>
                      <c:pt idx="38">
                        <c:v>10.6</c:v>
                      </c:pt>
                      <c:pt idx="39">
                        <c:v>10.33</c:v>
                      </c:pt>
                      <c:pt idx="40">
                        <c:v>11.22</c:v>
                      </c:pt>
                      <c:pt idx="41">
                        <c:v>11.36</c:v>
                      </c:pt>
                      <c:pt idx="42">
                        <c:v>11.66</c:v>
                      </c:pt>
                      <c:pt idx="43">
                        <c:v>12</c:v>
                      </c:pt>
                      <c:pt idx="44">
                        <c:v>12.33</c:v>
                      </c:pt>
                      <c:pt idx="45">
                        <c:v>12.62</c:v>
                      </c:pt>
                      <c:pt idx="46">
                        <c:v>13.05</c:v>
                      </c:pt>
                      <c:pt idx="47">
                        <c:v>13.95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6DCD-4E9A-AD2E-B34C9DE68319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Daily Prices'!$D$1</c15:sqref>
                        </c15:formulaRef>
                      </c:ext>
                    </c:extLst>
                    <c:strCache>
                      <c:ptCount val="1"/>
                      <c:pt idx="0">
                        <c:v>Low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Daily Prices'!$A$2:$A$49</c15:sqref>
                        </c15:formulaRef>
                      </c:ext>
                    </c:extLst>
                    <c:strCache>
                      <c:ptCount val="48"/>
                      <c:pt idx="0">
                        <c:v>Jan 30, 2026</c:v>
                      </c:pt>
                      <c:pt idx="1">
                        <c:v>Feb 2, 2026</c:v>
                      </c:pt>
                      <c:pt idx="2">
                        <c:v>Feb 3, 2026</c:v>
                      </c:pt>
                      <c:pt idx="3">
                        <c:v>Feb 4, 2026</c:v>
                      </c:pt>
                      <c:pt idx="4">
                        <c:v>Feb 5, 2026</c:v>
                      </c:pt>
                      <c:pt idx="5">
                        <c:v>Feb 6, 2026</c:v>
                      </c:pt>
                      <c:pt idx="6">
                        <c:v>Feb 9, 2026</c:v>
                      </c:pt>
                      <c:pt idx="7">
                        <c:v>Feb 10, 2026</c:v>
                      </c:pt>
                      <c:pt idx="8">
                        <c:v>Feb 11, 2026</c:v>
                      </c:pt>
                      <c:pt idx="9">
                        <c:v>Feb 12, 2026</c:v>
                      </c:pt>
                      <c:pt idx="10">
                        <c:v>Feb 13, 2026</c:v>
                      </c:pt>
                      <c:pt idx="11">
                        <c:v>Feb 17, 2026</c:v>
                      </c:pt>
                      <c:pt idx="12">
                        <c:v>Feb 18, 2026</c:v>
                      </c:pt>
                      <c:pt idx="13">
                        <c:v>Feb 19, 2026</c:v>
                      </c:pt>
                      <c:pt idx="14">
                        <c:v>Feb 20, 2026</c:v>
                      </c:pt>
                      <c:pt idx="15">
                        <c:v>Feb 23, 2026</c:v>
                      </c:pt>
                      <c:pt idx="16">
                        <c:v>Feb 24, 2026</c:v>
                      </c:pt>
                      <c:pt idx="17">
                        <c:v>Feb 25, 2026</c:v>
                      </c:pt>
                      <c:pt idx="18">
                        <c:v>Feb 26, 2026</c:v>
                      </c:pt>
                      <c:pt idx="19">
                        <c:v>Feb 27, 2026</c:v>
                      </c:pt>
                      <c:pt idx="20">
                        <c:v>Mar 2, 2026</c:v>
                      </c:pt>
                      <c:pt idx="21">
                        <c:v>Mar 3, 2026</c:v>
                      </c:pt>
                      <c:pt idx="22">
                        <c:v>Mar 4, 2026</c:v>
                      </c:pt>
                      <c:pt idx="23">
                        <c:v>Mar 5, 2026</c:v>
                      </c:pt>
                      <c:pt idx="24">
                        <c:v>Mar 6, 2026</c:v>
                      </c:pt>
                      <c:pt idx="25">
                        <c:v>Mar 9, 2026</c:v>
                      </c:pt>
                      <c:pt idx="26">
                        <c:v>Mar 10, 2026</c:v>
                      </c:pt>
                      <c:pt idx="27">
                        <c:v>Mar 11, 2026</c:v>
                      </c:pt>
                      <c:pt idx="28">
                        <c:v>Mar 12, 2026</c:v>
                      </c:pt>
                      <c:pt idx="29">
                        <c:v>Mar 13, 2026</c:v>
                      </c:pt>
                      <c:pt idx="30">
                        <c:v>Mar 16, 2026</c:v>
                      </c:pt>
                      <c:pt idx="31">
                        <c:v>Mar 17, 2026</c:v>
                      </c:pt>
                      <c:pt idx="32">
                        <c:v>Mar 18, 2026</c:v>
                      </c:pt>
                      <c:pt idx="33">
                        <c:v>Mar 19, 2026</c:v>
                      </c:pt>
                      <c:pt idx="34">
                        <c:v>Mar 20, 2026</c:v>
                      </c:pt>
                      <c:pt idx="35">
                        <c:v>Mar 23, 2026</c:v>
                      </c:pt>
                      <c:pt idx="36">
                        <c:v>Mar 24, 2026</c:v>
                      </c:pt>
                      <c:pt idx="37">
                        <c:v>Mar 25, 2026</c:v>
                      </c:pt>
                      <c:pt idx="38">
                        <c:v>Mar 26, 2026</c:v>
                      </c:pt>
                      <c:pt idx="39">
                        <c:v>Mar 27, 2026</c:v>
                      </c:pt>
                      <c:pt idx="40">
                        <c:v>Mar 30, 2026</c:v>
                      </c:pt>
                      <c:pt idx="41">
                        <c:v>Mar 31, 2026</c:v>
                      </c:pt>
                      <c:pt idx="42">
                        <c:v>Apr 1, 2026</c:v>
                      </c:pt>
                      <c:pt idx="43">
                        <c:v>Apr 2, 2026</c:v>
                      </c:pt>
                      <c:pt idx="44">
                        <c:v>Apr 6, 2026</c:v>
                      </c:pt>
                      <c:pt idx="45">
                        <c:v>Apr 7, 2026</c:v>
                      </c:pt>
                      <c:pt idx="46">
                        <c:v>Apr 8, 2026</c:v>
                      </c:pt>
                      <c:pt idx="47">
                        <c:v>Apr 9, 2026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Daily Prices'!$D$2:$D$49</c15:sqref>
                        </c15:formulaRef>
                      </c:ext>
                    </c:extLst>
                    <c:numCache>
                      <c:formatCode>\$#,##0.00</c:formatCode>
                      <c:ptCount val="48"/>
                      <c:pt idx="0">
                        <c:v>15.05</c:v>
                      </c:pt>
                      <c:pt idx="1">
                        <c:v>13</c:v>
                      </c:pt>
                      <c:pt idx="2">
                        <c:v>12.52</c:v>
                      </c:pt>
                      <c:pt idx="3">
                        <c:v>11.5</c:v>
                      </c:pt>
                      <c:pt idx="4">
                        <c:v>11.02</c:v>
                      </c:pt>
                      <c:pt idx="5">
                        <c:v>11.5</c:v>
                      </c:pt>
                      <c:pt idx="6">
                        <c:v>12.02</c:v>
                      </c:pt>
                      <c:pt idx="7">
                        <c:v>10.119999999999999</c:v>
                      </c:pt>
                      <c:pt idx="8">
                        <c:v>10.050000000000001</c:v>
                      </c:pt>
                      <c:pt idx="9">
                        <c:v>9.4499999999999993</c:v>
                      </c:pt>
                      <c:pt idx="10">
                        <c:v>10.17</c:v>
                      </c:pt>
                      <c:pt idx="11">
                        <c:v>9.9</c:v>
                      </c:pt>
                      <c:pt idx="12">
                        <c:v>10.11</c:v>
                      </c:pt>
                      <c:pt idx="13">
                        <c:v>10.56</c:v>
                      </c:pt>
                      <c:pt idx="14">
                        <c:v>10.52</c:v>
                      </c:pt>
                      <c:pt idx="15">
                        <c:v>10.6</c:v>
                      </c:pt>
                      <c:pt idx="16">
                        <c:v>10.83</c:v>
                      </c:pt>
                      <c:pt idx="17">
                        <c:v>11.44</c:v>
                      </c:pt>
                      <c:pt idx="18">
                        <c:v>11.25</c:v>
                      </c:pt>
                      <c:pt idx="19">
                        <c:v>11.5</c:v>
                      </c:pt>
                      <c:pt idx="20">
                        <c:v>11.5</c:v>
                      </c:pt>
                      <c:pt idx="21">
                        <c:v>11.95</c:v>
                      </c:pt>
                      <c:pt idx="22">
                        <c:v>12.81</c:v>
                      </c:pt>
                      <c:pt idx="23">
                        <c:v>12.85</c:v>
                      </c:pt>
                      <c:pt idx="24">
                        <c:v>12.6</c:v>
                      </c:pt>
                      <c:pt idx="25">
                        <c:v>12.33</c:v>
                      </c:pt>
                      <c:pt idx="26">
                        <c:v>12.44</c:v>
                      </c:pt>
                      <c:pt idx="27">
                        <c:v>12.01</c:v>
                      </c:pt>
                      <c:pt idx="28">
                        <c:v>12.16</c:v>
                      </c:pt>
                      <c:pt idx="29">
                        <c:v>11.97</c:v>
                      </c:pt>
                      <c:pt idx="30">
                        <c:v>11.74</c:v>
                      </c:pt>
                      <c:pt idx="31">
                        <c:v>11.84</c:v>
                      </c:pt>
                      <c:pt idx="32">
                        <c:v>10.75</c:v>
                      </c:pt>
                      <c:pt idx="33">
                        <c:v>9.98</c:v>
                      </c:pt>
                      <c:pt idx="34">
                        <c:v>9.69</c:v>
                      </c:pt>
                      <c:pt idx="35">
                        <c:v>10.050000000000001</c:v>
                      </c:pt>
                      <c:pt idx="36">
                        <c:v>9.73</c:v>
                      </c:pt>
                      <c:pt idx="37">
                        <c:v>10.050000000000001</c:v>
                      </c:pt>
                      <c:pt idx="38">
                        <c:v>9.9700000000000006</c:v>
                      </c:pt>
                      <c:pt idx="39">
                        <c:v>9.85</c:v>
                      </c:pt>
                      <c:pt idx="40">
                        <c:v>10.119999999999999</c:v>
                      </c:pt>
                      <c:pt idx="41">
                        <c:v>10.79</c:v>
                      </c:pt>
                      <c:pt idx="42">
                        <c:v>11.09</c:v>
                      </c:pt>
                      <c:pt idx="43">
                        <c:v>10.87</c:v>
                      </c:pt>
                      <c:pt idx="44">
                        <c:v>11.7</c:v>
                      </c:pt>
                      <c:pt idx="45">
                        <c:v>11.75</c:v>
                      </c:pt>
                      <c:pt idx="46">
                        <c:v>12.38</c:v>
                      </c:pt>
                      <c:pt idx="47">
                        <c:v>12.88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6DCD-4E9A-AD2E-B34C9DE68319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Daily Prices'!$F$1</c15:sqref>
                        </c15:formulaRef>
                      </c:ext>
                    </c:extLst>
                    <c:strCache>
                      <c:ptCount val="1"/>
                      <c:pt idx="0">
                        <c:v>Adj. Close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Daily Prices'!$A$2:$A$49</c15:sqref>
                        </c15:formulaRef>
                      </c:ext>
                    </c:extLst>
                    <c:strCache>
                      <c:ptCount val="48"/>
                      <c:pt idx="0">
                        <c:v>Jan 30, 2026</c:v>
                      </c:pt>
                      <c:pt idx="1">
                        <c:v>Feb 2, 2026</c:v>
                      </c:pt>
                      <c:pt idx="2">
                        <c:v>Feb 3, 2026</c:v>
                      </c:pt>
                      <c:pt idx="3">
                        <c:v>Feb 4, 2026</c:v>
                      </c:pt>
                      <c:pt idx="4">
                        <c:v>Feb 5, 2026</c:v>
                      </c:pt>
                      <c:pt idx="5">
                        <c:v>Feb 6, 2026</c:v>
                      </c:pt>
                      <c:pt idx="6">
                        <c:v>Feb 9, 2026</c:v>
                      </c:pt>
                      <c:pt idx="7">
                        <c:v>Feb 10, 2026</c:v>
                      </c:pt>
                      <c:pt idx="8">
                        <c:v>Feb 11, 2026</c:v>
                      </c:pt>
                      <c:pt idx="9">
                        <c:v>Feb 12, 2026</c:v>
                      </c:pt>
                      <c:pt idx="10">
                        <c:v>Feb 13, 2026</c:v>
                      </c:pt>
                      <c:pt idx="11">
                        <c:v>Feb 17, 2026</c:v>
                      </c:pt>
                      <c:pt idx="12">
                        <c:v>Feb 18, 2026</c:v>
                      </c:pt>
                      <c:pt idx="13">
                        <c:v>Feb 19, 2026</c:v>
                      </c:pt>
                      <c:pt idx="14">
                        <c:v>Feb 20, 2026</c:v>
                      </c:pt>
                      <c:pt idx="15">
                        <c:v>Feb 23, 2026</c:v>
                      </c:pt>
                      <c:pt idx="16">
                        <c:v>Feb 24, 2026</c:v>
                      </c:pt>
                      <c:pt idx="17">
                        <c:v>Feb 25, 2026</c:v>
                      </c:pt>
                      <c:pt idx="18">
                        <c:v>Feb 26, 2026</c:v>
                      </c:pt>
                      <c:pt idx="19">
                        <c:v>Feb 27, 2026</c:v>
                      </c:pt>
                      <c:pt idx="20">
                        <c:v>Mar 2, 2026</c:v>
                      </c:pt>
                      <c:pt idx="21">
                        <c:v>Mar 3, 2026</c:v>
                      </c:pt>
                      <c:pt idx="22">
                        <c:v>Mar 4, 2026</c:v>
                      </c:pt>
                      <c:pt idx="23">
                        <c:v>Mar 5, 2026</c:v>
                      </c:pt>
                      <c:pt idx="24">
                        <c:v>Mar 6, 2026</c:v>
                      </c:pt>
                      <c:pt idx="25">
                        <c:v>Mar 9, 2026</c:v>
                      </c:pt>
                      <c:pt idx="26">
                        <c:v>Mar 10, 2026</c:v>
                      </c:pt>
                      <c:pt idx="27">
                        <c:v>Mar 11, 2026</c:v>
                      </c:pt>
                      <c:pt idx="28">
                        <c:v>Mar 12, 2026</c:v>
                      </c:pt>
                      <c:pt idx="29">
                        <c:v>Mar 13, 2026</c:v>
                      </c:pt>
                      <c:pt idx="30">
                        <c:v>Mar 16, 2026</c:v>
                      </c:pt>
                      <c:pt idx="31">
                        <c:v>Mar 17, 2026</c:v>
                      </c:pt>
                      <c:pt idx="32">
                        <c:v>Mar 18, 2026</c:v>
                      </c:pt>
                      <c:pt idx="33">
                        <c:v>Mar 19, 2026</c:v>
                      </c:pt>
                      <c:pt idx="34">
                        <c:v>Mar 20, 2026</c:v>
                      </c:pt>
                      <c:pt idx="35">
                        <c:v>Mar 23, 2026</c:v>
                      </c:pt>
                      <c:pt idx="36">
                        <c:v>Mar 24, 2026</c:v>
                      </c:pt>
                      <c:pt idx="37">
                        <c:v>Mar 25, 2026</c:v>
                      </c:pt>
                      <c:pt idx="38">
                        <c:v>Mar 26, 2026</c:v>
                      </c:pt>
                      <c:pt idx="39">
                        <c:v>Mar 27, 2026</c:v>
                      </c:pt>
                      <c:pt idx="40">
                        <c:v>Mar 30, 2026</c:v>
                      </c:pt>
                      <c:pt idx="41">
                        <c:v>Mar 31, 2026</c:v>
                      </c:pt>
                      <c:pt idx="42">
                        <c:v>Apr 1, 2026</c:v>
                      </c:pt>
                      <c:pt idx="43">
                        <c:v>Apr 2, 2026</c:v>
                      </c:pt>
                      <c:pt idx="44">
                        <c:v>Apr 6, 2026</c:v>
                      </c:pt>
                      <c:pt idx="45">
                        <c:v>Apr 7, 2026</c:v>
                      </c:pt>
                      <c:pt idx="46">
                        <c:v>Apr 8, 2026</c:v>
                      </c:pt>
                      <c:pt idx="47">
                        <c:v>Apr 9, 2026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Daily Prices'!$F$2:$F$49</c15:sqref>
                        </c15:formulaRef>
                      </c:ext>
                    </c:extLst>
                    <c:numCache>
                      <c:formatCode>\$#,##0.00</c:formatCode>
                      <c:ptCount val="48"/>
                      <c:pt idx="0">
                        <c:v>15.05</c:v>
                      </c:pt>
                      <c:pt idx="1">
                        <c:v>13.9</c:v>
                      </c:pt>
                      <c:pt idx="2">
                        <c:v>12.73</c:v>
                      </c:pt>
                      <c:pt idx="3">
                        <c:v>13.15</c:v>
                      </c:pt>
                      <c:pt idx="4">
                        <c:v>11.55</c:v>
                      </c:pt>
                      <c:pt idx="5">
                        <c:v>12.79</c:v>
                      </c:pt>
                      <c:pt idx="6">
                        <c:v>12.27</c:v>
                      </c:pt>
                      <c:pt idx="7">
                        <c:v>10.5</c:v>
                      </c:pt>
                      <c:pt idx="8">
                        <c:v>10.31</c:v>
                      </c:pt>
                      <c:pt idx="9">
                        <c:v>10.25</c:v>
                      </c:pt>
                      <c:pt idx="10">
                        <c:v>10.29</c:v>
                      </c:pt>
                      <c:pt idx="11">
                        <c:v>10.08</c:v>
                      </c:pt>
                      <c:pt idx="12">
                        <c:v>11.2</c:v>
                      </c:pt>
                      <c:pt idx="13">
                        <c:v>10.89</c:v>
                      </c:pt>
                      <c:pt idx="14">
                        <c:v>10.8</c:v>
                      </c:pt>
                      <c:pt idx="15">
                        <c:v>11</c:v>
                      </c:pt>
                      <c:pt idx="16">
                        <c:v>11.44</c:v>
                      </c:pt>
                      <c:pt idx="17">
                        <c:v>11.84</c:v>
                      </c:pt>
                      <c:pt idx="18">
                        <c:v>12.28</c:v>
                      </c:pt>
                      <c:pt idx="19">
                        <c:v>12.35</c:v>
                      </c:pt>
                      <c:pt idx="20">
                        <c:v>12.59</c:v>
                      </c:pt>
                      <c:pt idx="21">
                        <c:v>13.16</c:v>
                      </c:pt>
                      <c:pt idx="22">
                        <c:v>13.51</c:v>
                      </c:pt>
                      <c:pt idx="23">
                        <c:v>13.45</c:v>
                      </c:pt>
                      <c:pt idx="24">
                        <c:v>13.16</c:v>
                      </c:pt>
                      <c:pt idx="25">
                        <c:v>13.24</c:v>
                      </c:pt>
                      <c:pt idx="26">
                        <c:v>12.79</c:v>
                      </c:pt>
                      <c:pt idx="27">
                        <c:v>12.61</c:v>
                      </c:pt>
                      <c:pt idx="28">
                        <c:v>12.5</c:v>
                      </c:pt>
                      <c:pt idx="29">
                        <c:v>12.14</c:v>
                      </c:pt>
                      <c:pt idx="30">
                        <c:v>11.94</c:v>
                      </c:pt>
                      <c:pt idx="31">
                        <c:v>11.91</c:v>
                      </c:pt>
                      <c:pt idx="32">
                        <c:v>10.8</c:v>
                      </c:pt>
                      <c:pt idx="33">
                        <c:v>10</c:v>
                      </c:pt>
                      <c:pt idx="34">
                        <c:v>9.85</c:v>
                      </c:pt>
                      <c:pt idx="35">
                        <c:v>10.130000000000001</c:v>
                      </c:pt>
                      <c:pt idx="36">
                        <c:v>10.09</c:v>
                      </c:pt>
                      <c:pt idx="37">
                        <c:v>10.68</c:v>
                      </c:pt>
                      <c:pt idx="38">
                        <c:v>10.1</c:v>
                      </c:pt>
                      <c:pt idx="39">
                        <c:v>10.130000000000001</c:v>
                      </c:pt>
                      <c:pt idx="40">
                        <c:v>10.9</c:v>
                      </c:pt>
                      <c:pt idx="41">
                        <c:v>11.17</c:v>
                      </c:pt>
                      <c:pt idx="42">
                        <c:v>11.13</c:v>
                      </c:pt>
                      <c:pt idx="43">
                        <c:v>11.87</c:v>
                      </c:pt>
                      <c:pt idx="44">
                        <c:v>12.2</c:v>
                      </c:pt>
                      <c:pt idx="45">
                        <c:v>12.57</c:v>
                      </c:pt>
                      <c:pt idx="46">
                        <c:v>12.95</c:v>
                      </c:pt>
                      <c:pt idx="47">
                        <c:v>13.88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6DCD-4E9A-AD2E-B34C9DE68319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Daily Prices'!$G$1</c15:sqref>
                        </c15:formulaRef>
                      </c:ext>
                    </c:extLst>
                    <c:strCache>
                      <c:ptCount val="1"/>
                      <c:pt idx="0">
                        <c:v>Change %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Daily Prices'!$A$2:$A$49</c15:sqref>
                        </c15:formulaRef>
                      </c:ext>
                    </c:extLst>
                    <c:strCache>
                      <c:ptCount val="48"/>
                      <c:pt idx="0">
                        <c:v>Jan 30, 2026</c:v>
                      </c:pt>
                      <c:pt idx="1">
                        <c:v>Feb 2, 2026</c:v>
                      </c:pt>
                      <c:pt idx="2">
                        <c:v>Feb 3, 2026</c:v>
                      </c:pt>
                      <c:pt idx="3">
                        <c:v>Feb 4, 2026</c:v>
                      </c:pt>
                      <c:pt idx="4">
                        <c:v>Feb 5, 2026</c:v>
                      </c:pt>
                      <c:pt idx="5">
                        <c:v>Feb 6, 2026</c:v>
                      </c:pt>
                      <c:pt idx="6">
                        <c:v>Feb 9, 2026</c:v>
                      </c:pt>
                      <c:pt idx="7">
                        <c:v>Feb 10, 2026</c:v>
                      </c:pt>
                      <c:pt idx="8">
                        <c:v>Feb 11, 2026</c:v>
                      </c:pt>
                      <c:pt idx="9">
                        <c:v>Feb 12, 2026</c:v>
                      </c:pt>
                      <c:pt idx="10">
                        <c:v>Feb 13, 2026</c:v>
                      </c:pt>
                      <c:pt idx="11">
                        <c:v>Feb 17, 2026</c:v>
                      </c:pt>
                      <c:pt idx="12">
                        <c:v>Feb 18, 2026</c:v>
                      </c:pt>
                      <c:pt idx="13">
                        <c:v>Feb 19, 2026</c:v>
                      </c:pt>
                      <c:pt idx="14">
                        <c:v>Feb 20, 2026</c:v>
                      </c:pt>
                      <c:pt idx="15">
                        <c:v>Feb 23, 2026</c:v>
                      </c:pt>
                      <c:pt idx="16">
                        <c:v>Feb 24, 2026</c:v>
                      </c:pt>
                      <c:pt idx="17">
                        <c:v>Feb 25, 2026</c:v>
                      </c:pt>
                      <c:pt idx="18">
                        <c:v>Feb 26, 2026</c:v>
                      </c:pt>
                      <c:pt idx="19">
                        <c:v>Feb 27, 2026</c:v>
                      </c:pt>
                      <c:pt idx="20">
                        <c:v>Mar 2, 2026</c:v>
                      </c:pt>
                      <c:pt idx="21">
                        <c:v>Mar 3, 2026</c:v>
                      </c:pt>
                      <c:pt idx="22">
                        <c:v>Mar 4, 2026</c:v>
                      </c:pt>
                      <c:pt idx="23">
                        <c:v>Mar 5, 2026</c:v>
                      </c:pt>
                      <c:pt idx="24">
                        <c:v>Mar 6, 2026</c:v>
                      </c:pt>
                      <c:pt idx="25">
                        <c:v>Mar 9, 2026</c:v>
                      </c:pt>
                      <c:pt idx="26">
                        <c:v>Mar 10, 2026</c:v>
                      </c:pt>
                      <c:pt idx="27">
                        <c:v>Mar 11, 2026</c:v>
                      </c:pt>
                      <c:pt idx="28">
                        <c:v>Mar 12, 2026</c:v>
                      </c:pt>
                      <c:pt idx="29">
                        <c:v>Mar 13, 2026</c:v>
                      </c:pt>
                      <c:pt idx="30">
                        <c:v>Mar 16, 2026</c:v>
                      </c:pt>
                      <c:pt idx="31">
                        <c:v>Mar 17, 2026</c:v>
                      </c:pt>
                      <c:pt idx="32">
                        <c:v>Mar 18, 2026</c:v>
                      </c:pt>
                      <c:pt idx="33">
                        <c:v>Mar 19, 2026</c:v>
                      </c:pt>
                      <c:pt idx="34">
                        <c:v>Mar 20, 2026</c:v>
                      </c:pt>
                      <c:pt idx="35">
                        <c:v>Mar 23, 2026</c:v>
                      </c:pt>
                      <c:pt idx="36">
                        <c:v>Mar 24, 2026</c:v>
                      </c:pt>
                      <c:pt idx="37">
                        <c:v>Mar 25, 2026</c:v>
                      </c:pt>
                      <c:pt idx="38">
                        <c:v>Mar 26, 2026</c:v>
                      </c:pt>
                      <c:pt idx="39">
                        <c:v>Mar 27, 2026</c:v>
                      </c:pt>
                      <c:pt idx="40">
                        <c:v>Mar 30, 2026</c:v>
                      </c:pt>
                      <c:pt idx="41">
                        <c:v>Mar 31, 2026</c:v>
                      </c:pt>
                      <c:pt idx="42">
                        <c:v>Apr 1, 2026</c:v>
                      </c:pt>
                      <c:pt idx="43">
                        <c:v>Apr 2, 2026</c:v>
                      </c:pt>
                      <c:pt idx="44">
                        <c:v>Apr 6, 2026</c:v>
                      </c:pt>
                      <c:pt idx="45">
                        <c:v>Apr 7, 2026</c:v>
                      </c:pt>
                      <c:pt idx="46">
                        <c:v>Apr 8, 2026</c:v>
                      </c:pt>
                      <c:pt idx="47">
                        <c:v>Apr 9, 2026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'LIFE Daily Prices'!$G$2:$G$49</c15:sqref>
                        </c15:formulaRef>
                      </c:ext>
                    </c:extLst>
                    <c:numCache>
                      <c:formatCode>0.00%</c:formatCode>
                      <c:ptCount val="48"/>
                      <c:pt idx="0">
                        <c:v>-0.10680000000000001</c:v>
                      </c:pt>
                      <c:pt idx="1">
                        <c:v>-7.6399999999999996E-2</c:v>
                      </c:pt>
                      <c:pt idx="2">
                        <c:v>-8.4199999999999997E-2</c:v>
                      </c:pt>
                      <c:pt idx="3">
                        <c:v>3.3000000000000002E-2</c:v>
                      </c:pt>
                      <c:pt idx="4">
                        <c:v>-0.1217</c:v>
                      </c:pt>
                      <c:pt idx="5">
                        <c:v>0.1074</c:v>
                      </c:pt>
                      <c:pt idx="6">
                        <c:v>-4.07E-2</c:v>
                      </c:pt>
                      <c:pt idx="7">
                        <c:v>-0.14430000000000001</c:v>
                      </c:pt>
                      <c:pt idx="8">
                        <c:v>-1.8100000000000002E-2</c:v>
                      </c:pt>
                      <c:pt idx="9">
                        <c:v>-5.7999999999999996E-3</c:v>
                      </c:pt>
                      <c:pt idx="10">
                        <c:v>3.8999999999999998E-3</c:v>
                      </c:pt>
                      <c:pt idx="11">
                        <c:v>-2.0400000000000001E-2</c:v>
                      </c:pt>
                      <c:pt idx="12">
                        <c:v>0.1111</c:v>
                      </c:pt>
                      <c:pt idx="13">
                        <c:v>-2.7699999999999999E-2</c:v>
                      </c:pt>
                      <c:pt idx="14">
                        <c:v>-8.3000000000000001E-3</c:v>
                      </c:pt>
                      <c:pt idx="15">
                        <c:v>1.8499999999999999E-2</c:v>
                      </c:pt>
                      <c:pt idx="16">
                        <c:v>0.04</c:v>
                      </c:pt>
                      <c:pt idx="17">
                        <c:v>3.5000000000000003E-2</c:v>
                      </c:pt>
                      <c:pt idx="18">
                        <c:v>3.7199999999999997E-2</c:v>
                      </c:pt>
                      <c:pt idx="19">
                        <c:v>5.7000000000000002E-3</c:v>
                      </c:pt>
                      <c:pt idx="20">
                        <c:v>1.9400000000000001E-2</c:v>
                      </c:pt>
                      <c:pt idx="21">
                        <c:v>4.53E-2</c:v>
                      </c:pt>
                      <c:pt idx="22">
                        <c:v>2.6599999999999999E-2</c:v>
                      </c:pt>
                      <c:pt idx="23">
                        <c:v>-4.4000000000000003E-3</c:v>
                      </c:pt>
                      <c:pt idx="24">
                        <c:v>-2.1600000000000001E-2</c:v>
                      </c:pt>
                      <c:pt idx="25">
                        <c:v>6.1000000000000004E-3</c:v>
                      </c:pt>
                      <c:pt idx="26">
                        <c:v>-3.4000000000000002E-2</c:v>
                      </c:pt>
                      <c:pt idx="27">
                        <c:v>-1.41E-2</c:v>
                      </c:pt>
                      <c:pt idx="28">
                        <c:v>-8.6999999999999994E-3</c:v>
                      </c:pt>
                      <c:pt idx="29">
                        <c:v>-2.8799999999999999E-2</c:v>
                      </c:pt>
                      <c:pt idx="30">
                        <c:v>-1.6500000000000001E-2</c:v>
                      </c:pt>
                      <c:pt idx="31">
                        <c:v>-2.8999999999999998E-3</c:v>
                      </c:pt>
                      <c:pt idx="32">
                        <c:v>-9.2799999999999994E-2</c:v>
                      </c:pt>
                      <c:pt idx="33">
                        <c:v>-7.4099999999999999E-2</c:v>
                      </c:pt>
                      <c:pt idx="34">
                        <c:v>-1.4999999999999999E-2</c:v>
                      </c:pt>
                      <c:pt idx="35">
                        <c:v>2.8400000000000002E-2</c:v>
                      </c:pt>
                      <c:pt idx="36">
                        <c:v>-3.8999999999999998E-3</c:v>
                      </c:pt>
                      <c:pt idx="37">
                        <c:v>5.8500000000000003E-2</c:v>
                      </c:pt>
                      <c:pt idx="38">
                        <c:v>-5.4300000000000001E-2</c:v>
                      </c:pt>
                      <c:pt idx="39">
                        <c:v>3.0000000000000001E-3</c:v>
                      </c:pt>
                      <c:pt idx="40">
                        <c:v>7.5999999999999998E-2</c:v>
                      </c:pt>
                      <c:pt idx="41">
                        <c:v>2.4799999999999999E-2</c:v>
                      </c:pt>
                      <c:pt idx="42">
                        <c:v>-3.5999999999999999E-3</c:v>
                      </c:pt>
                      <c:pt idx="43">
                        <c:v>6.6500000000000004E-2</c:v>
                      </c:pt>
                      <c:pt idx="44">
                        <c:v>2.7799999999999998E-2</c:v>
                      </c:pt>
                      <c:pt idx="45">
                        <c:v>3.0300000000000001E-2</c:v>
                      </c:pt>
                      <c:pt idx="46">
                        <c:v>3.0200000000000001E-2</c:v>
                      </c:pt>
                      <c:pt idx="47">
                        <c:v>7.1400000000000005E-2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6DCD-4E9A-AD2E-B34C9DE68319}"/>
                  </c:ext>
                </c:extLst>
              </c15:ser>
            </c15:filteredLineSeries>
          </c:ext>
        </c:extLst>
      </c:lineChart>
      <c:catAx>
        <c:axId val="1614897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zh-CN"/>
          </a:p>
        </c:txPr>
        <c:crossAx val="1614896911"/>
        <c:crosses val="autoZero"/>
        <c:auto val="1"/>
        <c:lblAlgn val="ctr"/>
        <c:lblOffset val="100"/>
        <c:noMultiLvlLbl val="0"/>
      </c:catAx>
      <c:valAx>
        <c:axId val="1614896911"/>
        <c:scaling>
          <c:orientation val="minMax"/>
          <c:min val="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zh-CN"/>
          </a:p>
        </c:txPr>
        <c:crossAx val="1614897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3DBEC6-EC3F-449A-0A7B-4B7BF01EEE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070CA-F3CF-D83D-976B-E84A419938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AE66D-7982-47AA-AE61-08B964675C33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F5105D-CA1D-EBAB-3C08-3D4895C1AB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A63EA-C3D2-0D06-D6F4-4B79D80722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A5D5D-7B18-4564-A012-1FBA9876CC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4891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BD42B-EC11-4E1C-83AD-AE0C4CFD9263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9EEC6-960A-404D-8087-3F7FC2978E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362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B7950-C619-2FDF-F19C-1D6FA5DB5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1B621-16A3-8FBD-5DFC-846F890F2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A499A7-1B9A-0678-F8CF-FC145EFA5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Weighting rationale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5AF40-0D1D-9D7F-C11E-8E6BF3E979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81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C5AF-98CA-6CE8-F984-83C8ABF1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EB7FA-24AD-E13C-1A9B-E0CC01959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B94E4-EDF1-A083-7D62-2DF44F599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source &amp; LBO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97A60-B96B-30FD-2DA0-EDDB6B80C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18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8E310-58DB-5251-FC32-552FD5471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7C46A-A649-D2F6-060C-3855AB99F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0C029-091A-989E-0CD3-063C333E1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E6EE-3736-E2ED-46AB-00300977CD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8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819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892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377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755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612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262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397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440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814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9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565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81243F5-FC4E-47F0-8322-7DA34B5E7558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7041643" cy="6857112"/>
          </a:xfrm>
          <a:custGeom>
            <a:avLst/>
            <a:gdLst>
              <a:gd name="connsiteX0" fmla="*/ 0 w 7041643"/>
              <a:gd name="connsiteY0" fmla="*/ 0 h 6857112"/>
              <a:gd name="connsiteX1" fmla="*/ 326035 w 7041643"/>
              <a:gd name="connsiteY1" fmla="*/ 0 h 6857112"/>
              <a:gd name="connsiteX2" fmla="*/ 3828551 w 7041643"/>
              <a:gd name="connsiteY2" fmla="*/ 0 h 6857112"/>
              <a:gd name="connsiteX3" fmla="*/ 5329819 w 7041643"/>
              <a:gd name="connsiteY3" fmla="*/ 4466762 h 6857112"/>
              <a:gd name="connsiteX4" fmla="*/ 7040824 w 7041643"/>
              <a:gd name="connsiteY4" fmla="*/ 6857112 h 6857112"/>
              <a:gd name="connsiteX5" fmla="*/ 47155 w 7041643"/>
              <a:gd name="connsiteY5" fmla="*/ 6857112 h 6857112"/>
              <a:gd name="connsiteX6" fmla="*/ 0 w 7041643"/>
              <a:gd name="connsiteY6" fmla="*/ 6857112 h 6857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41643" h="6857112">
                <a:moveTo>
                  <a:pt x="0" y="0"/>
                </a:moveTo>
                <a:lnTo>
                  <a:pt x="326035" y="0"/>
                </a:lnTo>
                <a:cubicBezTo>
                  <a:pt x="3828551" y="0"/>
                  <a:pt x="3828551" y="0"/>
                  <a:pt x="3828551" y="0"/>
                </a:cubicBezTo>
                <a:cubicBezTo>
                  <a:pt x="3828551" y="0"/>
                  <a:pt x="3254536" y="2908077"/>
                  <a:pt x="5329819" y="4466762"/>
                </a:cubicBezTo>
                <a:cubicBezTo>
                  <a:pt x="5329819" y="4466762"/>
                  <a:pt x="7084979" y="5986892"/>
                  <a:pt x="7040824" y="6857112"/>
                </a:cubicBezTo>
                <a:cubicBezTo>
                  <a:pt x="2081325" y="6857112"/>
                  <a:pt x="531481" y="6857112"/>
                  <a:pt x="47155" y="6857112"/>
                </a:cubicBezTo>
                <a:lnTo>
                  <a:pt x="0" y="6857112"/>
                </a:lnTo>
                <a:close/>
              </a:path>
            </a:pathLst>
          </a:custGeom>
          <a:gradFill>
            <a:gsLst>
              <a:gs pos="100000">
                <a:schemeClr val="accent3">
                  <a:lumMod val="75000"/>
                  <a:alpha val="0"/>
                </a:schemeClr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F81A76-A150-8492-232D-473D3AC4DE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8" r="14794"/>
          <a:stretch>
            <a:fillRect/>
          </a:stretch>
        </p:blipFill>
        <p:spPr>
          <a:xfrm>
            <a:off x="1" y="2744"/>
            <a:ext cx="6885880" cy="68552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D03C52-A6B4-5A86-85FD-B711E6199E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 rot="19002709">
            <a:off x="5483086" y="2343353"/>
            <a:ext cx="2320231" cy="37633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CFDC6D-D9E0-CC29-A018-F8D2C48A53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4565650" y="-20040"/>
            <a:ext cx="2320231" cy="3763338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C5553532-B1FC-46D4-A482-411C359FDB20}"/>
              </a:ext>
            </a:extLst>
          </p:cNvPr>
          <p:cNvSpPr>
            <a:spLocks/>
          </p:cNvSpPr>
          <p:nvPr userDrawn="1"/>
        </p:nvSpPr>
        <p:spPr bwMode="auto">
          <a:xfrm>
            <a:off x="3796014" y="0"/>
            <a:ext cx="2448386" cy="4078786"/>
          </a:xfrm>
          <a:custGeom>
            <a:avLst/>
            <a:gdLst>
              <a:gd name="connsiteX0" fmla="*/ 1148330 w 2448386"/>
              <a:gd name="connsiteY0" fmla="*/ 0 h 4078786"/>
              <a:gd name="connsiteX1" fmla="*/ 2448386 w 2448386"/>
              <a:gd name="connsiteY1" fmla="*/ 0 h 4078786"/>
              <a:gd name="connsiteX2" fmla="*/ 2394132 w 2448386"/>
              <a:gd name="connsiteY2" fmla="*/ 36993 h 4078786"/>
              <a:gd name="connsiteX3" fmla="*/ 1228698 w 2448386"/>
              <a:gd name="connsiteY3" fmla="*/ 4078786 h 4078786"/>
              <a:gd name="connsiteX4" fmla="*/ 15 w 2448386"/>
              <a:gd name="connsiteY4" fmla="*/ 2038856 h 4078786"/>
              <a:gd name="connsiteX5" fmla="*/ 1063714 w 2448386"/>
              <a:gd name="connsiteY5" fmla="*/ 88757 h 4078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48386" h="4078786">
                <a:moveTo>
                  <a:pt x="1148330" y="0"/>
                </a:moveTo>
                <a:lnTo>
                  <a:pt x="2448386" y="0"/>
                </a:lnTo>
                <a:lnTo>
                  <a:pt x="2394132" y="36993"/>
                </a:lnTo>
                <a:cubicBezTo>
                  <a:pt x="1448997" y="700305"/>
                  <a:pt x="111365" y="2074736"/>
                  <a:pt x="1228698" y="4078786"/>
                </a:cubicBezTo>
                <a:cubicBezTo>
                  <a:pt x="1228698" y="4078786"/>
                  <a:pt x="15" y="3114557"/>
                  <a:pt x="15" y="2038856"/>
                </a:cubicBezTo>
                <a:cubicBezTo>
                  <a:pt x="-3475" y="1363060"/>
                  <a:pt x="606067" y="580582"/>
                  <a:pt x="1063714" y="88757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883DF86-1F0D-4DD8-B9BC-E5068C548A76}"/>
              </a:ext>
            </a:extLst>
          </p:cNvPr>
          <p:cNvSpPr>
            <a:spLocks/>
          </p:cNvSpPr>
          <p:nvPr userDrawn="1"/>
        </p:nvSpPr>
        <p:spPr bwMode="auto">
          <a:xfrm>
            <a:off x="3294257" y="0"/>
            <a:ext cx="4186982" cy="6858000"/>
          </a:xfrm>
          <a:custGeom>
            <a:avLst/>
            <a:gdLst>
              <a:gd name="connsiteX0" fmla="*/ 394781 w 4186982"/>
              <a:gd name="connsiteY0" fmla="*/ 0 h 6858000"/>
              <a:gd name="connsiteX1" fmla="*/ 1623402 w 4186982"/>
              <a:gd name="connsiteY1" fmla="*/ 0 h 6858000"/>
              <a:gd name="connsiteX2" fmla="*/ 1602858 w 4186982"/>
              <a:gd name="connsiteY2" fmla="*/ 14964 h 6858000"/>
              <a:gd name="connsiteX3" fmla="*/ 1206489 w 4186982"/>
              <a:gd name="connsiteY3" fmla="*/ 655812 h 6858000"/>
              <a:gd name="connsiteX4" fmla="*/ 843617 w 4186982"/>
              <a:gd name="connsiteY4" fmla="*/ 1447120 h 6858000"/>
              <a:gd name="connsiteX5" fmla="*/ 921774 w 4186982"/>
              <a:gd name="connsiteY5" fmla="*/ 2851413 h 6858000"/>
              <a:gd name="connsiteX6" fmla="*/ 3830338 w 4186982"/>
              <a:gd name="connsiteY6" fmla="*/ 6245121 h 6858000"/>
              <a:gd name="connsiteX7" fmla="*/ 4131320 w 4186982"/>
              <a:gd name="connsiteY7" fmla="*/ 6725007 h 6858000"/>
              <a:gd name="connsiteX8" fmla="*/ 4186982 w 4186982"/>
              <a:gd name="connsiteY8" fmla="*/ 6858000 h 6858000"/>
              <a:gd name="connsiteX9" fmla="*/ 3470898 w 4186982"/>
              <a:gd name="connsiteY9" fmla="*/ 6858000 h 6858000"/>
              <a:gd name="connsiteX10" fmla="*/ 3382326 w 4186982"/>
              <a:gd name="connsiteY10" fmla="*/ 6654740 h 6858000"/>
              <a:gd name="connsiteX11" fmla="*/ 1507953 w 4186982"/>
              <a:gd name="connsiteY11" fmla="*/ 4205553 h 6858000"/>
              <a:gd name="connsiteX12" fmla="*/ 299955 w 4186982"/>
              <a:gd name="connsiteY12" fmla="*/ 1284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186982" h="6858000">
                <a:moveTo>
                  <a:pt x="394781" y="0"/>
                </a:moveTo>
                <a:lnTo>
                  <a:pt x="1623402" y="0"/>
                </a:lnTo>
                <a:lnTo>
                  <a:pt x="1602858" y="14964"/>
                </a:lnTo>
                <a:cubicBezTo>
                  <a:pt x="1524701" y="159852"/>
                  <a:pt x="1396300" y="371610"/>
                  <a:pt x="1206489" y="655812"/>
                </a:cubicBezTo>
                <a:cubicBezTo>
                  <a:pt x="1033427" y="934442"/>
                  <a:pt x="916191" y="1196354"/>
                  <a:pt x="843617" y="1447120"/>
                </a:cubicBezTo>
                <a:cubicBezTo>
                  <a:pt x="787790" y="1831629"/>
                  <a:pt x="804538" y="2294154"/>
                  <a:pt x="921774" y="2851413"/>
                </a:cubicBezTo>
                <a:cubicBezTo>
                  <a:pt x="1418630" y="4099674"/>
                  <a:pt x="2931530" y="5119458"/>
                  <a:pt x="3830338" y="6245121"/>
                </a:cubicBezTo>
                <a:cubicBezTo>
                  <a:pt x="3958041" y="6405507"/>
                  <a:pt x="4056943" y="6565942"/>
                  <a:pt x="4131320" y="6725007"/>
                </a:cubicBezTo>
                <a:lnTo>
                  <a:pt x="4186982" y="6858000"/>
                </a:lnTo>
                <a:lnTo>
                  <a:pt x="3470898" y="6858000"/>
                </a:lnTo>
                <a:lnTo>
                  <a:pt x="3382326" y="6654740"/>
                </a:lnTo>
                <a:cubicBezTo>
                  <a:pt x="2741954" y="5276236"/>
                  <a:pt x="1507953" y="4205553"/>
                  <a:pt x="1507953" y="4205553"/>
                </a:cubicBezTo>
                <a:cubicBezTo>
                  <a:pt x="1507953" y="4205553"/>
                  <a:pt x="-807460" y="1816511"/>
                  <a:pt x="299955" y="128421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255BFDE7-62D7-4666-8FAD-76C19C44F37A}"/>
              </a:ext>
            </a:extLst>
          </p:cNvPr>
          <p:cNvSpPr>
            <a:spLocks/>
          </p:cNvSpPr>
          <p:nvPr userDrawn="1"/>
        </p:nvSpPr>
        <p:spPr bwMode="auto">
          <a:xfrm>
            <a:off x="3935738" y="-6280"/>
            <a:ext cx="1511060" cy="3066611"/>
          </a:xfrm>
          <a:custGeom>
            <a:avLst/>
            <a:gdLst>
              <a:gd name="connsiteX0" fmla="*/ 508199 w 1511060"/>
              <a:gd name="connsiteY0" fmla="*/ 0 h 3066611"/>
              <a:gd name="connsiteX1" fmla="*/ 1511060 w 1511060"/>
              <a:gd name="connsiteY1" fmla="*/ 0 h 3066611"/>
              <a:gd name="connsiteX2" fmla="*/ 1474803 w 1511060"/>
              <a:gd name="connsiteY2" fmla="*/ 33441 h 3066611"/>
              <a:gd name="connsiteX3" fmla="*/ 370849 w 1511060"/>
              <a:gd name="connsiteY3" fmla="*/ 3066611 h 3066611"/>
              <a:gd name="connsiteX4" fmla="*/ 450241 w 1511060"/>
              <a:gd name="connsiteY4" fmla="*/ 81007 h 3066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1060" h="3066611">
                <a:moveTo>
                  <a:pt x="508199" y="0"/>
                </a:moveTo>
                <a:lnTo>
                  <a:pt x="1511060" y="0"/>
                </a:lnTo>
                <a:lnTo>
                  <a:pt x="1474803" y="33441"/>
                </a:lnTo>
                <a:cubicBezTo>
                  <a:pt x="864128" y="618864"/>
                  <a:pt x="-47574" y="1759741"/>
                  <a:pt x="370849" y="3066611"/>
                </a:cubicBezTo>
                <a:cubicBezTo>
                  <a:pt x="370849" y="3066611"/>
                  <a:pt x="-514205" y="1523734"/>
                  <a:pt x="450241" y="81007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EE6776D5-8714-4C55-A10A-F6A470AEBCA5}"/>
              </a:ext>
            </a:extLst>
          </p:cNvPr>
          <p:cNvSpPr/>
          <p:nvPr userDrawn="1"/>
        </p:nvSpPr>
        <p:spPr>
          <a:xfrm>
            <a:off x="212" y="1602507"/>
            <a:ext cx="7414970" cy="5245031"/>
          </a:xfrm>
          <a:prstGeom prst="rtTriangle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CF580F2-7A01-4B9B-80BF-335422753C4F}"/>
              </a:ext>
            </a:extLst>
          </p:cNvPr>
          <p:cNvSpPr/>
          <p:nvPr userDrawn="1"/>
        </p:nvSpPr>
        <p:spPr>
          <a:xfrm>
            <a:off x="214" y="1869209"/>
            <a:ext cx="5052768" cy="4978329"/>
          </a:xfrm>
          <a:prstGeom prst="rtTriangle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965256F4-3395-4121-88E3-07F2BAD1766A}"/>
              </a:ext>
            </a:extLst>
          </p:cNvPr>
          <p:cNvSpPr/>
          <p:nvPr userDrawn="1"/>
        </p:nvSpPr>
        <p:spPr>
          <a:xfrm rot="5400000">
            <a:off x="-1009300" y="999723"/>
            <a:ext cx="6857113" cy="4838514"/>
          </a:xfrm>
          <a:prstGeom prst="rtTriangle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683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594F"/>
          </a:solidFill>
          <a:ln w="12700">
            <a:solidFill>
              <a:srgbClr val="0B4D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Johnson &amp; Co. | FinTech Group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29800" y="6446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E7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Ethos IPO T</a:t>
            </a:r>
            <a:r>
              <a:rPr lang="en-US" altLang="zh-CN" sz="850" dirty="0">
                <a:solidFill>
                  <a:srgbClr val="5E7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ransaction Review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E7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09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5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851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tags" Target="../tags/tag3.xml"/><Relationship Id="rId7" Type="http://schemas.openxmlformats.org/officeDocument/2006/relationships/image" Target="../media/image5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svg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13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812DBA-4580-39BF-5DCF-05C0A9D9A8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idx="4294967295"/>
          </p:nvPr>
        </p:nvSpPr>
        <p:spPr>
          <a:xfrm>
            <a:off x="4660900" y="2700320"/>
            <a:ext cx="6937432" cy="1685534"/>
          </a:xfrm>
        </p:spPr>
        <p:txBody>
          <a:bodyPr>
            <a:normAutofit/>
          </a:bodyPr>
          <a:lstStyle/>
          <a:p>
            <a:pPr algn="r"/>
            <a:r>
              <a:rPr lang="en-US" altLang="zh-CN" sz="5400" b="1" dirty="0">
                <a:solidFill>
                  <a:schemeClr val="tx2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IPO TRANSACTION </a:t>
            </a:r>
            <a:r>
              <a:rPr lang="en-US" altLang="zh-CN" sz="4400" b="1" dirty="0">
                <a:solidFill>
                  <a:schemeClr val="tx2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REVIEW</a:t>
            </a:r>
            <a:endParaRPr lang="zh-CN" altLang="en-US" sz="8000" b="1" dirty="0">
              <a:solidFill>
                <a:schemeClr val="tx2"/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pic>
        <p:nvPicPr>
          <p:cNvPr id="8" name="Picture 2" descr="Best Life Insurance Company Reviews">
            <a:extLst>
              <a:ext uri="{FF2B5EF4-FFF2-40B4-BE49-F238E27FC236}">
                <a16:creationId xmlns:a16="http://schemas.microsoft.com/office/drawing/2014/main" id="{3232CCDA-ACBA-8350-3C7D-372783DF42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368" y="1644650"/>
            <a:ext cx="4615523" cy="891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849376D-354F-7E99-F557-A683DB3C0A4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272493" y="4572114"/>
            <a:ext cx="6248398" cy="689288"/>
            <a:chOff x="5272493" y="4572114"/>
            <a:chExt cx="6248398" cy="689288"/>
          </a:xfrm>
        </p:grpSpPr>
        <p:sp>
          <p:nvSpPr>
            <p:cNvPr id="7" name="Text Placeholder 5">
              <a:extLst>
                <a:ext uri="{FF2B5EF4-FFF2-40B4-BE49-F238E27FC236}">
                  <a16:creationId xmlns:a16="http://schemas.microsoft.com/office/drawing/2014/main" id="{813D5287-A266-339A-510E-112D96E1313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72493" y="4965131"/>
              <a:ext cx="6248398" cy="296271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dirty="0">
                  <a:solidFill>
                    <a:schemeClr val="tx2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Jasmine Lin, Shuonan Jiang, Yundi Yue</a:t>
              </a:r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2FD7E25B-0D22-DCC7-48FD-BAE423572C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608273" y="4572114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50" dirty="0">
                  <a:solidFill>
                    <a:schemeClr val="tx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April 13, 2026</a:t>
              </a:r>
              <a:endParaRPr lang="en-US" sz="1250" dirty="0">
                <a:solidFill>
                  <a:schemeClr val="tx2"/>
                </a:solidFill>
              </a:endParaRPr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B775579C-4012-755F-1974-1762613326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693873" y="4800714"/>
              <a:ext cx="27432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00" dirty="0">
                  <a:solidFill>
                    <a:schemeClr val="tx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Johnson &amp; Co. | FinTech Group</a:t>
              </a:r>
              <a:endParaRPr lang="en-US" sz="1100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4053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/>
          <p:cNvSpPr>
            <a:spLocks/>
          </p:cNvSpPr>
          <p:nvPr/>
        </p:nvSpPr>
        <p:spPr>
          <a:xfrm>
            <a:off x="6289804" y="1329943"/>
            <a:ext cx="5318758" cy="5038343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/>
          <p:cNvSpPr>
            <a:spLocks/>
          </p:cNvSpPr>
          <p:nvPr/>
        </p:nvSpPr>
        <p:spPr>
          <a:xfrm>
            <a:off x="548640" y="310896"/>
            <a:ext cx="250571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ETHOS EQUITY INVESTOR SELLING THESIS</a:t>
            </a:r>
            <a:endParaRPr lang="en-US" sz="900" dirty="0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548640" y="512064"/>
            <a:ext cx="931773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Technologies, Market &amp; Constituents</a:t>
            </a:r>
            <a:endParaRPr lang="en-US" sz="23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548640" y="990744"/>
            <a:ext cx="9566910" cy="176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Ethos combines differentiated technology, a broad life-insurance ecosystem, and a large underserved market to support scalable, capital-light growth</a:t>
            </a:r>
            <a:endParaRPr lang="en-US" sz="1150" dirty="0"/>
          </a:p>
        </p:txBody>
      </p:sp>
      <p:sp>
        <p:nvSpPr>
          <p:cNvPr id="5" name="Shape 3"/>
          <p:cNvSpPr>
            <a:spLocks/>
          </p:cNvSpPr>
          <p:nvPr/>
        </p:nvSpPr>
        <p:spPr>
          <a:xfrm>
            <a:off x="548640" y="1222248"/>
            <a:ext cx="11052000" cy="0"/>
          </a:xfrm>
          <a:prstGeom prst="line">
            <a:avLst/>
          </a:prstGeom>
          <a:noFill/>
          <a:ln w="12700">
            <a:solidFill>
              <a:srgbClr val="C8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542290" y="1324229"/>
            <a:ext cx="5547360" cy="5038344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228600" cy="164592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E7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  <p:sp>
        <p:nvSpPr>
          <p:cNvPr id="24" name="Text 5"/>
          <p:cNvSpPr>
            <a:spLocks/>
          </p:cNvSpPr>
          <p:nvPr/>
        </p:nvSpPr>
        <p:spPr>
          <a:xfrm>
            <a:off x="6428446" y="155854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200" b="1" dirty="0">
                <a:solidFill>
                  <a:srgbClr val="1F7A5C"/>
                </a:solidFill>
                <a:latin typeface="Aptos" pitchFamily="34" charset="0"/>
              </a:rPr>
              <a:t>Constituents</a:t>
            </a:r>
            <a:endParaRPr lang="en-US" altLang="zh-CN" sz="1100" dirty="0"/>
          </a:p>
        </p:txBody>
      </p:sp>
      <p:sp>
        <p:nvSpPr>
          <p:cNvPr id="26" name="Text 6"/>
          <p:cNvSpPr>
            <a:spLocks/>
          </p:cNvSpPr>
          <p:nvPr/>
        </p:nvSpPr>
        <p:spPr>
          <a:xfrm>
            <a:off x="6428446" y="1728590"/>
            <a:ext cx="4488942" cy="38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Life Insurance Ecosystem</a:t>
            </a:r>
            <a:endParaRPr lang="en-US" sz="2000" dirty="0"/>
          </a:p>
        </p:txBody>
      </p:sp>
      <p:sp>
        <p:nvSpPr>
          <p:cNvPr id="28" name="Text 5"/>
          <p:cNvSpPr>
            <a:spLocks/>
          </p:cNvSpPr>
          <p:nvPr/>
        </p:nvSpPr>
        <p:spPr>
          <a:xfrm>
            <a:off x="6426044" y="4284212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5C"/>
                </a:solidFill>
                <a:latin typeface="Aptos" pitchFamily="34" charset="0"/>
              </a:rPr>
              <a:t>Market Opportunities</a:t>
            </a:r>
            <a:endParaRPr lang="en-US" sz="1200" dirty="0"/>
          </a:p>
        </p:txBody>
      </p:sp>
      <p:sp>
        <p:nvSpPr>
          <p:cNvPr id="29" name="Text 6"/>
          <p:cNvSpPr>
            <a:spLocks/>
          </p:cNvSpPr>
          <p:nvPr/>
        </p:nvSpPr>
        <p:spPr>
          <a:xfrm>
            <a:off x="6426044" y="4441554"/>
            <a:ext cx="4488942" cy="385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 and Expansive Demand</a:t>
            </a:r>
            <a:endParaRPr lang="en-US" sz="2000" dirty="0"/>
          </a:p>
        </p:txBody>
      </p:sp>
      <p:sp>
        <p:nvSpPr>
          <p:cNvPr id="49" name="Text 5"/>
          <p:cNvSpPr>
            <a:spLocks/>
          </p:cNvSpPr>
          <p:nvPr/>
        </p:nvSpPr>
        <p:spPr>
          <a:xfrm>
            <a:off x="742444" y="1411661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5C"/>
                </a:solidFill>
                <a:latin typeface="Aptos" pitchFamily="34" charset="0"/>
              </a:rPr>
              <a:t>Core Technologies</a:t>
            </a:r>
            <a:endParaRPr lang="en-US" sz="1200" dirty="0"/>
          </a:p>
        </p:txBody>
      </p:sp>
      <p:pic>
        <p:nvPicPr>
          <p:cNvPr id="13" name="Graphic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8525" y="3269621"/>
            <a:ext cx="670721" cy="670721"/>
          </a:xfrm>
          <a:prstGeom prst="rect">
            <a:avLst/>
          </a:prstGeom>
        </p:spPr>
      </p:pic>
      <p:pic>
        <p:nvPicPr>
          <p:cNvPr id="17" name="Graphic 1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00303" y="2058907"/>
            <a:ext cx="615004" cy="615004"/>
          </a:xfrm>
          <a:prstGeom prst="rect">
            <a:avLst/>
          </a:prstGeom>
        </p:spPr>
      </p:pic>
      <p:pic>
        <p:nvPicPr>
          <p:cNvPr id="19" name="Graphic 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63135" y="3269621"/>
            <a:ext cx="708820" cy="708820"/>
          </a:xfrm>
          <a:prstGeom prst="rect">
            <a:avLst/>
          </a:prstGeom>
        </p:spPr>
      </p:pic>
      <p:sp>
        <p:nvSpPr>
          <p:cNvPr id="20" name="Text 18"/>
          <p:cNvSpPr>
            <a:spLocks/>
          </p:cNvSpPr>
          <p:nvPr/>
        </p:nvSpPr>
        <p:spPr>
          <a:xfrm>
            <a:off x="742444" y="166200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Underwriting Engine</a:t>
            </a:r>
            <a:endParaRPr lang="en-US" sz="125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" name="Shape 20"/>
          <p:cNvSpPr>
            <a:spLocks/>
          </p:cNvSpPr>
          <p:nvPr/>
        </p:nvSpPr>
        <p:spPr>
          <a:xfrm>
            <a:off x="748349" y="1871976"/>
            <a:ext cx="1620000" cy="4730"/>
          </a:xfrm>
          <a:prstGeom prst="line">
            <a:avLst/>
          </a:prstGeom>
          <a:noFill/>
          <a:ln w="12700">
            <a:solidFill>
              <a:srgbClr val="D8ECE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3" name="Text 18"/>
          <p:cNvSpPr>
            <a:spLocks/>
          </p:cNvSpPr>
          <p:nvPr/>
        </p:nvSpPr>
        <p:spPr>
          <a:xfrm>
            <a:off x="737678" y="2517385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Application Engine</a:t>
            </a:r>
            <a:endParaRPr lang="en-US" sz="125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0" name="Shape 20"/>
          <p:cNvSpPr>
            <a:spLocks/>
          </p:cNvSpPr>
          <p:nvPr/>
        </p:nvSpPr>
        <p:spPr>
          <a:xfrm flipV="1">
            <a:off x="743586" y="2732720"/>
            <a:ext cx="1512000" cy="4445"/>
          </a:xfrm>
          <a:prstGeom prst="line">
            <a:avLst/>
          </a:prstGeom>
          <a:noFill/>
          <a:ln w="12700">
            <a:solidFill>
              <a:srgbClr val="D8ECE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4" name="Text 18"/>
          <p:cNvSpPr>
            <a:spLocks/>
          </p:cNvSpPr>
          <p:nvPr/>
        </p:nvSpPr>
        <p:spPr>
          <a:xfrm>
            <a:off x="753112" y="3408353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Agent OS</a:t>
            </a:r>
            <a:endParaRPr lang="en-US" sz="125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6" name="Shape 20"/>
          <p:cNvSpPr>
            <a:spLocks/>
          </p:cNvSpPr>
          <p:nvPr/>
        </p:nvSpPr>
        <p:spPr>
          <a:xfrm flipV="1">
            <a:off x="765494" y="3616483"/>
            <a:ext cx="828000" cy="4920"/>
          </a:xfrm>
          <a:prstGeom prst="line">
            <a:avLst/>
          </a:prstGeom>
          <a:noFill/>
          <a:ln w="12700">
            <a:solidFill>
              <a:srgbClr val="D8EC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18"/>
          <p:cNvSpPr>
            <a:spLocks/>
          </p:cNvSpPr>
          <p:nvPr/>
        </p:nvSpPr>
        <p:spPr>
          <a:xfrm>
            <a:off x="742444" y="4286693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Policy Administration</a:t>
            </a:r>
            <a:endParaRPr lang="en-US" sz="125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9" name="Shape 20"/>
          <p:cNvSpPr>
            <a:spLocks/>
          </p:cNvSpPr>
          <p:nvPr/>
        </p:nvSpPr>
        <p:spPr>
          <a:xfrm flipV="1">
            <a:off x="753109" y="4487861"/>
            <a:ext cx="1692000" cy="4129"/>
          </a:xfrm>
          <a:prstGeom prst="line">
            <a:avLst/>
          </a:prstGeom>
          <a:noFill/>
          <a:ln w="12700">
            <a:solidFill>
              <a:srgbClr val="D8EC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20"/>
          <p:cNvSpPr>
            <a:spLocks/>
          </p:cNvSpPr>
          <p:nvPr/>
        </p:nvSpPr>
        <p:spPr>
          <a:xfrm>
            <a:off x="659765" y="5361214"/>
            <a:ext cx="5215128" cy="898546"/>
          </a:xfrm>
          <a:prstGeom prst="roundRect">
            <a:avLst>
              <a:gd name="adj" fmla="val 10417"/>
            </a:avLst>
          </a:prstGeom>
          <a:solidFill>
            <a:srgbClr val="E7F3EE"/>
          </a:solidFill>
          <a:ln w="12700">
            <a:solidFill>
              <a:srgbClr val="E7F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21"/>
          <p:cNvSpPr>
            <a:spLocks/>
          </p:cNvSpPr>
          <p:nvPr/>
        </p:nvSpPr>
        <p:spPr>
          <a:xfrm>
            <a:off x="771019" y="5359758"/>
            <a:ext cx="5021975" cy="8985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Underlying foundation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43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Intelligence </a:t>
            </a:r>
            <a:r>
              <a:rPr lang="en-US" sz="1150" dirty="0" err="1">
                <a:solidFill>
                  <a:srgbClr val="143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LayerAll</a:t>
            </a:r>
            <a:r>
              <a:rPr lang="en-US" sz="1150" dirty="0">
                <a:solidFill>
                  <a:srgbClr val="143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four functional modules share a unified data infrastructure, forming a closed loop.</a:t>
            </a:r>
            <a:r>
              <a:rPr lang="zh-CN" altLang="en-US" sz="1150" dirty="0">
                <a:solidFill>
                  <a:srgbClr val="143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150" dirty="0">
                <a:solidFill>
                  <a:srgbClr val="143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sz="1150" dirty="0">
                <a:solidFill>
                  <a:srgbClr val="143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interaction feeds back into underwriting accuracy, marketing conversion, and product pricing. This is the core source of the platform's compounding competitive moat</a:t>
            </a:r>
            <a:endParaRPr lang="en-US" sz="1150" dirty="0"/>
          </a:p>
        </p:txBody>
      </p:sp>
      <p:pic>
        <p:nvPicPr>
          <p:cNvPr id="42" name="Picture 2" descr="Best Life Insurance Company Reviews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817" y="3060490"/>
            <a:ext cx="1029731" cy="19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Straight Arrow Connector 43"/>
          <p:cNvCxnSpPr>
            <a:cxnSpLocks/>
          </p:cNvCxnSpPr>
          <p:nvPr/>
        </p:nvCxnSpPr>
        <p:spPr>
          <a:xfrm flipV="1">
            <a:off x="7312243" y="3321133"/>
            <a:ext cx="487046" cy="266318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/>
          </p:cNvCxnSpPr>
          <p:nvPr/>
        </p:nvCxnSpPr>
        <p:spPr>
          <a:xfrm>
            <a:off x="7915682" y="2666464"/>
            <a:ext cx="0" cy="324656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cxnSpLocks/>
          </p:cNvCxnSpPr>
          <p:nvPr/>
        </p:nvCxnSpPr>
        <p:spPr>
          <a:xfrm flipH="1" flipV="1">
            <a:off x="8014173" y="3321133"/>
            <a:ext cx="520065" cy="266318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cxnSpLocks/>
          </p:cNvCxnSpPr>
          <p:nvPr/>
        </p:nvCxnSpPr>
        <p:spPr>
          <a:xfrm flipV="1">
            <a:off x="7027383" y="2541606"/>
            <a:ext cx="613410" cy="737051"/>
          </a:xfrm>
          <a:prstGeom prst="straightConnector1">
            <a:avLst/>
          </a:prstGeom>
          <a:ln w="28575">
            <a:solidFill>
              <a:schemeClr val="tx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cxnSpLocks/>
          </p:cNvCxnSpPr>
          <p:nvPr/>
        </p:nvCxnSpPr>
        <p:spPr>
          <a:xfrm>
            <a:off x="8169893" y="2527345"/>
            <a:ext cx="613410" cy="737051"/>
          </a:xfrm>
          <a:prstGeom prst="straightConnector1">
            <a:avLst/>
          </a:prstGeom>
          <a:ln w="28575">
            <a:solidFill>
              <a:schemeClr val="tx2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cxnSpLocks/>
          </p:cNvCxnSpPr>
          <p:nvPr/>
        </p:nvCxnSpPr>
        <p:spPr>
          <a:xfrm>
            <a:off x="7334088" y="3719678"/>
            <a:ext cx="1168106" cy="0"/>
          </a:xfrm>
          <a:prstGeom prst="straightConnector1">
            <a:avLst/>
          </a:prstGeom>
          <a:ln w="28575">
            <a:solidFill>
              <a:schemeClr val="tx2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Picture 6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0110" y="1512941"/>
            <a:ext cx="1857192" cy="259758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schemeClr val="tx2">
                <a:alpha val="40000"/>
              </a:schemeClr>
            </a:outerShdw>
          </a:effectLst>
        </p:spPr>
      </p:pic>
      <p:cxnSp>
        <p:nvCxnSpPr>
          <p:cNvPr id="72" name="Connector: Elbow 71"/>
          <p:cNvCxnSpPr>
            <a:cxnSpLocks/>
            <a:stCxn id="13" idx="1"/>
            <a:endCxn id="17" idx="1"/>
          </p:cNvCxnSpPr>
          <p:nvPr/>
        </p:nvCxnSpPr>
        <p:spPr>
          <a:xfrm rot="10800000" flipH="1">
            <a:off x="6658525" y="2366410"/>
            <a:ext cx="941778" cy="1238573"/>
          </a:xfrm>
          <a:prstGeom prst="bentConnector3">
            <a:avLst>
              <a:gd name="adj1" fmla="val -24273"/>
            </a:avLst>
          </a:prstGeom>
          <a:ln w="28575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/>
          <p:cNvCxnSpPr>
            <a:cxnSpLocks/>
            <a:stCxn id="19" idx="3"/>
            <a:endCxn id="17" idx="3"/>
          </p:cNvCxnSpPr>
          <p:nvPr/>
        </p:nvCxnSpPr>
        <p:spPr>
          <a:xfrm flipH="1" flipV="1">
            <a:off x="8215307" y="2366409"/>
            <a:ext cx="1056648" cy="1257622"/>
          </a:xfrm>
          <a:prstGeom prst="bentConnector3">
            <a:avLst>
              <a:gd name="adj1" fmla="val -21634"/>
            </a:avLst>
          </a:prstGeom>
          <a:ln w="28575">
            <a:solidFill>
              <a:schemeClr val="tx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18"/>
          <p:cNvSpPr>
            <a:spLocks/>
          </p:cNvSpPr>
          <p:nvPr/>
        </p:nvSpPr>
        <p:spPr>
          <a:xfrm>
            <a:off x="743584" y="1886024"/>
            <a:ext cx="5270500" cy="575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250" dirty="0"/>
              <a:t>The underwriting engine analyzes up to </a:t>
            </a:r>
            <a:r>
              <a:rPr lang="en-US" altLang="zh-CN" sz="1250" b="1" dirty="0"/>
              <a:t>250,000 data points </a:t>
            </a:r>
            <a:r>
              <a:rPr lang="en-US" altLang="zh-CN" sz="1250" dirty="0"/>
              <a:t>per application and delivers decisions for </a:t>
            </a:r>
            <a:r>
              <a:rPr lang="en-US" altLang="zh-CN" sz="1250" b="1" dirty="0"/>
              <a:t>95% of applicants within 10 minutes</a:t>
            </a:r>
            <a:r>
              <a:rPr lang="en-US" altLang="zh-CN" sz="1250" dirty="0"/>
              <a:t>, versus four to eight weeks traditionally, while continuously improving accuracy</a:t>
            </a:r>
          </a:p>
        </p:txBody>
      </p:sp>
      <p:sp>
        <p:nvSpPr>
          <p:cNvPr id="9" name="Text 18"/>
          <p:cNvSpPr>
            <a:spLocks/>
          </p:cNvSpPr>
          <p:nvPr/>
        </p:nvSpPr>
        <p:spPr>
          <a:xfrm>
            <a:off x="735331" y="2762884"/>
            <a:ext cx="5320030" cy="5854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altLang="zh-CN" sz="1250" dirty="0"/>
              <a:t>Ethos offers a </a:t>
            </a:r>
            <a:r>
              <a:rPr lang="en-US" altLang="zh-CN" sz="1250" b="1" dirty="0"/>
              <a:t>fully digital application process </a:t>
            </a:r>
            <a:r>
              <a:rPr lang="en-US" altLang="zh-CN" sz="1250" dirty="0"/>
              <a:t>with no medical exam or paper forms. It verifies applicant disclosures in </a:t>
            </a:r>
            <a:r>
              <a:rPr lang="en-US" altLang="zh-CN" sz="1250" b="1" dirty="0"/>
              <a:t>real time </a:t>
            </a:r>
            <a:r>
              <a:rPr lang="en-US" altLang="zh-CN" sz="1250" dirty="0"/>
              <a:t>against third-party data, reducing errors and fraud while recommending suitable products</a:t>
            </a:r>
          </a:p>
        </p:txBody>
      </p:sp>
      <p:sp>
        <p:nvSpPr>
          <p:cNvPr id="11" name="Text 18"/>
          <p:cNvSpPr>
            <a:spLocks/>
          </p:cNvSpPr>
          <p:nvPr/>
        </p:nvSpPr>
        <p:spPr>
          <a:xfrm>
            <a:off x="747075" y="3646647"/>
            <a:ext cx="5241925" cy="5938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250" dirty="0"/>
              <a:t>Agent OS combines quoting, application submission, case management, and commission payments in one interface, enabling </a:t>
            </a:r>
            <a:r>
              <a:rPr lang="en-US" altLang="zh-CN" sz="1250" b="1" dirty="0"/>
              <a:t>next-day agent payments</a:t>
            </a:r>
            <a:r>
              <a:rPr lang="en-US" altLang="zh-CN" sz="1250" dirty="0"/>
              <a:t>. It also includes CRM tools and incentives to support follow-up and productivity</a:t>
            </a:r>
          </a:p>
        </p:txBody>
      </p:sp>
      <p:sp>
        <p:nvSpPr>
          <p:cNvPr id="14" name="Text 18"/>
          <p:cNvSpPr>
            <a:spLocks/>
          </p:cNvSpPr>
          <p:nvPr/>
        </p:nvSpPr>
        <p:spPr>
          <a:xfrm>
            <a:off x="735965" y="4518025"/>
            <a:ext cx="5241925" cy="723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250" dirty="0"/>
              <a:t>Built on a cloud-native proprietary system, this layer supports the full policy lifecycle, including contract generation, premium collection, policy changes, and self-service. It also </a:t>
            </a:r>
            <a:r>
              <a:rPr lang="en-US" altLang="zh-CN" sz="1250" b="1" dirty="0"/>
              <a:t>enables faster product launches and pricing updates, reducing reliance on legacy carrier systems</a:t>
            </a:r>
          </a:p>
        </p:txBody>
      </p:sp>
      <p:sp>
        <p:nvSpPr>
          <p:cNvPr id="15" name="Text 18"/>
          <p:cNvSpPr>
            <a:spLocks/>
          </p:cNvSpPr>
          <p:nvPr/>
        </p:nvSpPr>
        <p:spPr>
          <a:xfrm>
            <a:off x="6324602" y="4657565"/>
            <a:ext cx="5318758" cy="16625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80000" indent="-180000">
              <a:buSzPct val="70000"/>
              <a:buFont typeface="Wingdings" panose="05000000000000000000" pitchFamily="2" charset="2"/>
              <a:buChar char="l"/>
            </a:pPr>
            <a:r>
              <a:rPr lang="en-US" altLang="zh-CN" sz="1200" b="1" dirty="0"/>
              <a:t>42% of U.S. adults </a:t>
            </a:r>
            <a:r>
              <a:rPr lang="en-US" altLang="zh-CN" sz="1200" dirty="0"/>
              <a:t>have unmet life insurance needs</a:t>
            </a:r>
          </a:p>
          <a:p>
            <a:pPr marL="180000" indent="-180000">
              <a:buSzPct val="70000"/>
              <a:buFont typeface="Wingdings" panose="05000000000000000000" pitchFamily="2" charset="2"/>
              <a:buChar char="l"/>
            </a:pPr>
            <a:r>
              <a:rPr lang="en-US" altLang="zh-CN" sz="1200" b="1" dirty="0"/>
              <a:t>$12.6B current TAM</a:t>
            </a:r>
            <a:r>
              <a:rPr lang="en-US" altLang="zh-CN" sz="1200" dirty="0"/>
              <a:t> across core life products (Term + Whole + IUL)</a:t>
            </a:r>
          </a:p>
          <a:p>
            <a:pPr marL="180000" indent="-180000">
              <a:buSzPct val="70000"/>
              <a:buFont typeface="Wingdings" panose="05000000000000000000" pitchFamily="2" charset="2"/>
              <a:buChar char="l"/>
            </a:pPr>
            <a:r>
              <a:rPr lang="en-US" altLang="zh-CN" sz="1200" b="1" dirty="0"/>
              <a:t>$140B+ expanded TAM </a:t>
            </a:r>
            <a:r>
              <a:rPr lang="en-US" altLang="zh-CN" sz="1200" dirty="0"/>
              <a:t>from future product expansion (including VUL + annuities)</a:t>
            </a:r>
          </a:p>
          <a:p>
            <a:pPr marL="180000" indent="-180000">
              <a:buSzPct val="70000"/>
              <a:buFont typeface="Wingdings" panose="05000000000000000000" pitchFamily="2" charset="2"/>
              <a:buChar char="l"/>
            </a:pPr>
            <a:r>
              <a:rPr lang="en-US" altLang="zh-CN" sz="1200" b="1" dirty="0"/>
              <a:t>~10M new policies </a:t>
            </a:r>
            <a:r>
              <a:rPr lang="en-US" altLang="zh-CN" sz="1200" dirty="0"/>
              <a:t>are issued industry-wide each year</a:t>
            </a:r>
          </a:p>
          <a:p>
            <a:pPr marL="180000" indent="-180000">
              <a:buSzPct val="70000"/>
              <a:buFont typeface="Wingdings" panose="05000000000000000000" pitchFamily="2" charset="2"/>
              <a:buChar char="l"/>
            </a:pPr>
            <a:r>
              <a:rPr lang="en-US" altLang="zh-CN" sz="1200" dirty="0"/>
              <a:t>Ethos’ ~2% 2025E market share implies substantial runway for future penetration</a:t>
            </a:r>
          </a:p>
          <a:p>
            <a:pPr marL="180000" indent="-180000">
              <a:buSzPct val="70000"/>
              <a:buFont typeface="Wingdings" panose="05000000000000000000" pitchFamily="2" charset="2"/>
              <a:buChar char="l"/>
            </a:pPr>
            <a:r>
              <a:rPr lang="en-US" altLang="zh-CN" sz="1200" b="1" dirty="0"/>
              <a:t>Independent agents and DTC growth</a:t>
            </a:r>
            <a:r>
              <a:rPr lang="en-US" altLang="zh-CN" sz="1200" dirty="0"/>
              <a:t> support long-term platform demand and scalable distribution</a:t>
            </a: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6DC57171-7111-4422-7853-2F3920BFE96A}"/>
              </a:ext>
            </a:extLst>
          </p:cNvPr>
          <p:cNvSpPr>
            <a:spLocks/>
          </p:cNvSpPr>
          <p:nvPr/>
        </p:nvSpPr>
        <p:spPr>
          <a:xfrm>
            <a:off x="8481499" y="2410695"/>
            <a:ext cx="871394" cy="2332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r>
              <a:rPr lang="en-US" altLang="zh-CN" sz="900" i="1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etter pricing</a:t>
            </a:r>
          </a:p>
          <a:p>
            <a:pPr marL="0" indent="0" algn="ctr">
              <a:buNone/>
            </a:pPr>
            <a:r>
              <a:rPr lang="en-US" altLang="zh-CN" sz="900" i="1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unit economics</a:t>
            </a:r>
            <a:endParaRPr lang="en-US" sz="900" i="1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386E77E6-30D5-3393-FB8F-358FDF2B9CFE}"/>
              </a:ext>
            </a:extLst>
          </p:cNvPr>
          <p:cNvSpPr>
            <a:spLocks/>
          </p:cNvSpPr>
          <p:nvPr/>
        </p:nvSpPr>
        <p:spPr>
          <a:xfrm>
            <a:off x="6528755" y="2420242"/>
            <a:ext cx="871394" cy="2332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efficiency</a:t>
            </a:r>
            <a:endParaRPr lang="en-US" altLang="zh-CN" sz="900" i="1" dirty="0">
              <a:solidFill>
                <a:srgbClr val="5B6C6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altLang="zh-CN" sz="900" i="1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incentives</a:t>
            </a:r>
            <a:endParaRPr lang="en-US" sz="900" i="1" dirty="0"/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95E7CC26-BA51-D7C2-D292-ABEED8D2D4DF}"/>
              </a:ext>
            </a:extLst>
          </p:cNvPr>
          <p:cNvSpPr>
            <a:spLocks/>
          </p:cNvSpPr>
          <p:nvPr/>
        </p:nvSpPr>
        <p:spPr>
          <a:xfrm>
            <a:off x="9640110" y="4098679"/>
            <a:ext cx="871394" cy="2332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*Image from LIFE Final S1</a:t>
            </a:r>
            <a:endParaRPr lang="en-US" sz="600" i="1" dirty="0"/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A88A9CB1-EDC5-091D-30AD-7C836F06227D}"/>
              </a:ext>
            </a:extLst>
          </p:cNvPr>
          <p:cNvSpPr>
            <a:spLocks/>
          </p:cNvSpPr>
          <p:nvPr/>
        </p:nvSpPr>
        <p:spPr>
          <a:xfrm>
            <a:off x="6381181" y="3875151"/>
            <a:ext cx="1669032" cy="2332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*Relation map  mainly designed from LIFE Final S1</a:t>
            </a:r>
            <a:endParaRPr lang="en-US" sz="6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512064"/>
            <a:ext cx="1164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Model, Marketing &amp; Financial Performance</a:t>
            </a:r>
            <a:endParaRPr lang="en-US" sz="2300" dirty="0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9875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150" dirty="0">
                <a:solidFill>
                  <a:srgbClr val="5B6C66"/>
                </a:solidFill>
                <a:latin typeface="Aptos" pitchFamily="34" charset="0"/>
              </a:rPr>
              <a:t>A capital-light business model with scalable growth, strong margins, and balanced channel mix</a:t>
            </a:r>
          </a:p>
        </p:txBody>
      </p:sp>
      <p:sp>
        <p:nvSpPr>
          <p:cNvPr id="5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298448"/>
            <a:ext cx="10972800" cy="0"/>
          </a:xfrm>
          <a:prstGeom prst="line">
            <a:avLst/>
          </a:prstGeom>
          <a:noFill/>
          <a:ln w="12700">
            <a:solidFill>
              <a:srgbClr val="C8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380745"/>
            <a:ext cx="5029200" cy="5038342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06440" y="1380744"/>
            <a:ext cx="5833872" cy="5038344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lide Number Placeholder 0"/>
          <p:cNvSpPr>
            <a:spLocks noGrp="1" noRot="1" noMove="1" noResize="1" noEditPoints="1" noAdjustHandles="1" noChangeArrowheads="1" noChangeShapeType="1"/>
          </p:cNvSpPr>
          <p:nvPr>
            <p:ph type="sldNum" sz="quarter" idx="4294967295"/>
          </p:nvPr>
        </p:nvSpPr>
        <p:spPr>
          <a:xfrm>
            <a:off x="11704320" y="641908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E7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0E0DE82E-91F8-45BC-5F17-050126F00D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310896"/>
            <a:ext cx="250571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ETHOS EQUITY INVESTOR SELLING THESIS</a:t>
            </a:r>
            <a:endParaRPr lang="en-US" sz="900" dirty="0"/>
          </a:p>
        </p:txBody>
      </p:sp>
      <p:sp>
        <p:nvSpPr>
          <p:cNvPr id="24" name="Text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9808" y="1441323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r>
              <a:rPr lang="en-US" altLang="zh-CN" sz="11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usiness Model</a:t>
            </a:r>
            <a:endParaRPr lang="en-US" sz="1100" dirty="0"/>
          </a:p>
        </p:txBody>
      </p:sp>
      <p:sp>
        <p:nvSpPr>
          <p:cNvPr id="26" name="Text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9808" y="1629722"/>
            <a:ext cx="5041392" cy="35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Capital-light Life Insurance Platform</a:t>
            </a:r>
            <a:endParaRPr lang="en-US" sz="1600" dirty="0"/>
          </a:p>
        </p:txBody>
      </p:sp>
      <p:sp>
        <p:nvSpPr>
          <p:cNvPr id="27" name="Text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9808" y="2038044"/>
            <a:ext cx="4635095" cy="1045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altLang="zh-CN" sz="1200" dirty="0">
                <a:latin typeface="Aptos" panose="020B0004020202020204" pitchFamily="34" charset="0"/>
              </a:rPr>
              <a:t>Carrier partners bear the insurance risk, while Ethos earns commissions as a technology-enabled distributor and administrator, creating a capital-light, high-margin model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altLang="zh-CN" sz="1200" dirty="0">
                <a:latin typeface="Aptos" panose="020B0004020202020204" pitchFamily="34" charset="0"/>
              </a:rPr>
              <a:t>While first-year commissions drive most revenue, renewals provide a recurring income base that scales with the book of business</a:t>
            </a: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6F0CCED6-1465-5A62-5004-902845EB7E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4194" y="32303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4FF6EEA2-206F-4860-120E-D62BC5EBDB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4194" y="3418699"/>
            <a:ext cx="5096254" cy="354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altLang="zh-CN" sz="16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Flywheel Across DTC and Agent Channels</a:t>
            </a: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2584CB51-652A-6B2C-9ABA-12DC4FA913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7210" y="1691641"/>
            <a:ext cx="3768090" cy="28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</a:rPr>
              <a:t>Estimated Revenue &amp; Profitability</a:t>
            </a:r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2D877438-C941-81A3-F3BB-E3551DC24D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56855" y="14337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Performance</a:t>
            </a:r>
            <a:endParaRPr lang="en-US" sz="1100" dirty="0"/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003176D9-DA3D-AB3E-E05A-B42AFD189939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478850201"/>
              </p:ext>
            </p:extLst>
          </p:nvPr>
        </p:nvGraphicFramePr>
        <p:xfrm>
          <a:off x="6011418" y="2044498"/>
          <a:ext cx="5449824" cy="2669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5982373C-773B-0D74-2547-2744332B13AB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801794684"/>
              </p:ext>
            </p:extLst>
          </p:nvPr>
        </p:nvGraphicFramePr>
        <p:xfrm>
          <a:off x="5885944" y="4996672"/>
          <a:ext cx="1994406" cy="1272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2" name="Text 5">
            <a:extLst>
              <a:ext uri="{FF2B5EF4-FFF2-40B4-BE49-F238E27FC236}">
                <a16:creationId xmlns:a16="http://schemas.microsoft.com/office/drawing/2014/main" id="{8AF4EADB-CFC2-B671-F061-DB7F1E2CA5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98909" y="4674075"/>
            <a:ext cx="1828800" cy="28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2023A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Aptos" pitchFamily="34" charset="0"/>
              </a:rPr>
              <a:t>72,018 total policies</a:t>
            </a:r>
            <a:endParaRPr lang="en-US" sz="1100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43" name="Chart 42">
            <a:extLst>
              <a:ext uri="{FF2B5EF4-FFF2-40B4-BE49-F238E27FC236}">
                <a16:creationId xmlns:a16="http://schemas.microsoft.com/office/drawing/2014/main" id="{BFA5C3A9-5B9E-ADF6-FF47-2B591D734EDB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694948731"/>
              </p:ext>
            </p:extLst>
          </p:nvPr>
        </p:nvGraphicFramePr>
        <p:xfrm>
          <a:off x="7666355" y="4996672"/>
          <a:ext cx="1994406" cy="1272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4" name="Text 5">
            <a:extLst>
              <a:ext uri="{FF2B5EF4-FFF2-40B4-BE49-F238E27FC236}">
                <a16:creationId xmlns:a16="http://schemas.microsoft.com/office/drawing/2014/main" id="{87186FC8-DB13-77A4-ED05-4E98FC20E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79320" y="4674075"/>
            <a:ext cx="1828800" cy="28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2024A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Aptos" pitchFamily="34" charset="0"/>
              </a:rPr>
              <a:t>127,623 total policies</a:t>
            </a:r>
            <a:endParaRPr lang="en-US" sz="1100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67120DB7-2BC6-6761-BD32-9446E8D9136E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161136640"/>
              </p:ext>
            </p:extLst>
          </p:nvPr>
        </p:nvGraphicFramePr>
        <p:xfrm>
          <a:off x="9566910" y="4996672"/>
          <a:ext cx="1994406" cy="1272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6" name="Text 5">
            <a:extLst>
              <a:ext uri="{FF2B5EF4-FFF2-40B4-BE49-F238E27FC236}">
                <a16:creationId xmlns:a16="http://schemas.microsoft.com/office/drawing/2014/main" id="{FE8F420E-B980-0FA6-73FD-9E01CF938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79875" y="4674075"/>
            <a:ext cx="1828800" cy="28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2025E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2">
                    <a:lumMod val="50000"/>
                  </a:schemeClr>
                </a:solidFill>
                <a:latin typeface="Aptos" pitchFamily="34" charset="0"/>
              </a:rPr>
              <a:t>~197,000 total policies</a:t>
            </a:r>
            <a:endParaRPr lang="en-US" sz="11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2EB8F8D1-26DB-9C71-50D6-006BA1C2C3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4066" y="3814720"/>
            <a:ext cx="4610838" cy="13144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altLang="zh-CN" sz="1200" dirty="0">
                <a:latin typeface="Aptos" panose="020B0004020202020204" pitchFamily="34" charset="0"/>
              </a:rPr>
              <a:t>Ethos’s DTC marketing drives consumer traffic, attracts agents to the platform, and broadens product distribution, reinforcing the company’s data and conversion advantages</a:t>
            </a: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altLang="zh-CN" sz="1200" dirty="0">
                <a:latin typeface="Aptos" panose="020B0004020202020204" pitchFamily="34" charset="0"/>
              </a:rPr>
              <a:t>By combining direct acquisition with third-party distribution, Ethos improves reach, strengthens conversion, and lowers dependence on any single channel</a:t>
            </a:r>
          </a:p>
        </p:txBody>
      </p:sp>
      <p:sp>
        <p:nvSpPr>
          <p:cNvPr id="7" name="矩形 1">
            <a:extLst>
              <a:ext uri="{FF2B5EF4-FFF2-40B4-BE49-F238E27FC236}">
                <a16:creationId xmlns:a16="http://schemas.microsoft.com/office/drawing/2014/main" id="{3198F609-DFE0-637E-14D4-4EF65B96D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8898" y="5235169"/>
            <a:ext cx="1029841" cy="892441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ptos" panose="020B0004020202020204" pitchFamily="34" charset="0"/>
              </a:rPr>
              <a:t>Revenue CAGR </a:t>
            </a:r>
            <a:r>
              <a:rPr lang="en-US" altLang="zh-CN" sz="1100" dirty="0">
                <a:latin typeface="Aptos" panose="020B0004020202020204" pitchFamily="34" charset="0"/>
              </a:rPr>
              <a:t>(2023–2025E)</a:t>
            </a:r>
          </a:p>
          <a:p>
            <a:pPr algn="ctr"/>
            <a:r>
              <a:rPr lang="en-US" altLang="zh-CN" sz="1600" b="1" i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+56%</a:t>
            </a:r>
          </a:p>
        </p:txBody>
      </p:sp>
      <p:sp>
        <p:nvSpPr>
          <p:cNvPr id="8" name="矩形 6">
            <a:extLst>
              <a:ext uri="{FF2B5EF4-FFF2-40B4-BE49-F238E27FC236}">
                <a16:creationId xmlns:a16="http://schemas.microsoft.com/office/drawing/2014/main" id="{2A8D91D9-F6CD-C76C-DF10-0C8EB2B232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10208" y="5235169"/>
            <a:ext cx="1029841" cy="892441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ptos" panose="020B0004020202020204" pitchFamily="34" charset="0"/>
              </a:rPr>
              <a:t>Gross Margin</a:t>
            </a:r>
          </a:p>
          <a:p>
            <a:pPr algn="ctr"/>
            <a:r>
              <a:rPr lang="en-US" altLang="zh-CN" sz="1600" b="1" i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~98%</a:t>
            </a:r>
          </a:p>
        </p:txBody>
      </p:sp>
      <p:sp>
        <p:nvSpPr>
          <p:cNvPr id="10" name="矩形 7">
            <a:extLst>
              <a:ext uri="{FF2B5EF4-FFF2-40B4-BE49-F238E27FC236}">
                <a16:creationId xmlns:a16="http://schemas.microsoft.com/office/drawing/2014/main" id="{1FBB0454-989E-B91B-F2BE-34C336BACD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28078" y="5235169"/>
            <a:ext cx="1029841" cy="892441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ptos" panose="020B0004020202020204" pitchFamily="34" charset="0"/>
              </a:rPr>
              <a:t>Activated Policies</a:t>
            </a:r>
          </a:p>
          <a:p>
            <a:pPr algn="ctr"/>
            <a:r>
              <a:rPr lang="en-US" altLang="zh-CN" sz="1600" b="1" i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500K+</a:t>
            </a:r>
          </a:p>
        </p:txBody>
      </p:sp>
      <p:sp>
        <p:nvSpPr>
          <p:cNvPr id="11" name="矩形 9">
            <a:extLst>
              <a:ext uri="{FF2B5EF4-FFF2-40B4-BE49-F238E27FC236}">
                <a16:creationId xmlns:a16="http://schemas.microsoft.com/office/drawing/2014/main" id="{F1AF2E55-FBFA-EBA9-7676-2468BEE409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36888" y="5235169"/>
            <a:ext cx="1048015" cy="892441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Aptos" panose="020B0004020202020204" pitchFamily="34" charset="0"/>
              </a:rPr>
              <a:t>Consumer Experience</a:t>
            </a:r>
          </a:p>
          <a:p>
            <a:pPr algn="ctr"/>
            <a:r>
              <a:rPr lang="en-US" altLang="zh-CN" sz="1600" b="1" i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70 NPS</a:t>
            </a: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95A49D6F-C044-D47F-8C17-EA403E8A4C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22168" y="6185788"/>
            <a:ext cx="1669032" cy="2332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*Data from Ethos IPO Financials</a:t>
            </a:r>
            <a:endParaRPr lang="en-US" sz="600" i="1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D10248A5-C1BF-DCF4-944E-41862E060F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49588" y="6203849"/>
            <a:ext cx="1669032" cy="2332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*Data from Ethos IPO Financials</a:t>
            </a:r>
            <a:endParaRPr lang="en-US" sz="6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310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FACTORS</a:t>
            </a:r>
            <a:endParaRPr lang="en-US" sz="900" dirty="0"/>
          </a:p>
        </p:txBody>
      </p:sp>
      <p:sp>
        <p:nvSpPr>
          <p:cNvPr id="3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512064"/>
            <a:ext cx="10297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most important risk factors are multiple-compression risks</a:t>
            </a:r>
            <a:endParaRPr lang="en-US" sz="2300" dirty="0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052192"/>
            <a:ext cx="10652760" cy="191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center on revenue durability, partner dependence, regulatory exposure, and governance concentration, all of which can compress its valuation multiple</a:t>
            </a:r>
            <a:endParaRPr lang="en-US" sz="1150" dirty="0"/>
          </a:p>
        </p:txBody>
      </p:sp>
      <p:sp>
        <p:nvSpPr>
          <p:cNvPr id="5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298448"/>
            <a:ext cx="10972800" cy="0"/>
          </a:xfrm>
          <a:prstGeom prst="line">
            <a:avLst/>
          </a:prstGeom>
          <a:noFill/>
          <a:ln w="12700">
            <a:solidFill>
              <a:srgbClr val="C8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651000"/>
            <a:ext cx="5486400" cy="165506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651000"/>
            <a:ext cx="146304" cy="1655062"/>
          </a:xfrm>
          <a:prstGeom prst="rect">
            <a:avLst/>
          </a:prstGeom>
          <a:solidFill>
            <a:schemeClr val="accent4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4672" y="181559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persistency</a:t>
            </a:r>
            <a:endParaRPr lang="en-US" sz="1700" dirty="0"/>
          </a:p>
        </p:txBody>
      </p:sp>
      <p:sp>
        <p:nvSpPr>
          <p:cNvPr id="9" name="Text 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4672" y="2181352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Lifetime commissions are recognized upfront at policy activation using </a:t>
            </a:r>
            <a:r>
              <a:rPr lang="en-US" sz="1350" i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persistency assumptions</a:t>
            </a:r>
            <a:r>
              <a:rPr lang="en-US" sz="135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If lapse, cancellation, or audit outcomes differ from estimates, previously recognized revenue must be adjusted downward. A disclosed material weakness in internal controls further amplifies this risk.</a:t>
            </a:r>
            <a:endParaRPr lang="en-US" sz="1350" dirty="0"/>
          </a:p>
        </p:txBody>
      </p:sp>
      <p:sp>
        <p:nvSpPr>
          <p:cNvPr id="10" name="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5607" y="3431032"/>
            <a:ext cx="5486400" cy="173762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1639" y="359562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32B"/>
                </a:solidFill>
                <a:latin typeface="Aptos Display" pitchFamily="34" charset="0"/>
              </a:rPr>
              <a:t>Dependence &amp; Marketing efficiency risk</a:t>
            </a:r>
            <a:endParaRPr lang="en-US" sz="1700" dirty="0"/>
          </a:p>
        </p:txBody>
      </p:sp>
      <p:sp>
        <p:nvSpPr>
          <p:cNvPr id="13" name="Text 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1639" y="3961384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Carriers set premiums, commission rates, and product availability. Ethos avoids balance-sheet underwriting risk, but that same asset-light model </a:t>
            </a:r>
            <a:r>
              <a:rPr lang="en-US" sz="1350" i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full economic dependence on third-party carrier relationships</a:t>
            </a:r>
            <a:r>
              <a:rPr lang="en-US" sz="135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The top 3 carriers are also the longest-tenured, so the concentration risk is high.</a:t>
            </a:r>
            <a:endParaRPr lang="en-US" sz="1350" dirty="0"/>
          </a:p>
        </p:txBody>
      </p:sp>
      <p:sp>
        <p:nvSpPr>
          <p:cNvPr id="14" name="Shape 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0763" y="1645920"/>
            <a:ext cx="5486400" cy="165506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0763" y="1645920"/>
            <a:ext cx="146304" cy="1655062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36795" y="181051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Regulatory, privacy &amp; cyber</a:t>
            </a:r>
            <a:endParaRPr lang="en-US" sz="1700" dirty="0"/>
          </a:p>
        </p:txBody>
      </p:sp>
      <p:sp>
        <p:nvSpPr>
          <p:cNvPr id="17" name="Text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36795" y="2176272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Ethos handles highly sensitive data (prescription history, credit scores, motor vehicle records) across a </a:t>
            </a:r>
            <a:r>
              <a:rPr lang="en-US" sz="1350" i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heavily regulated sector</a:t>
            </a:r>
            <a:r>
              <a:rPr lang="en-US" sz="135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Expanding into new products and states multiplies compliance surface area. A breach or regulatory action could disrupt underwriting operations entirely.</a:t>
            </a:r>
            <a:endParaRPr lang="en-US" sz="1350" dirty="0"/>
          </a:p>
        </p:txBody>
      </p:sp>
      <p:sp>
        <p:nvSpPr>
          <p:cNvPr id="18" name="Shape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72200" y="3421888"/>
            <a:ext cx="5486400" cy="173762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5607" y="3432919"/>
            <a:ext cx="146304" cy="1737625"/>
          </a:xfrm>
          <a:prstGeom prst="rect">
            <a:avLst/>
          </a:prstGeom>
          <a:solidFill>
            <a:schemeClr val="accent4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8232" y="358648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Dual-class governance</a:t>
            </a:r>
            <a:endParaRPr lang="en-US" sz="1700" dirty="0"/>
          </a:p>
        </p:txBody>
      </p:sp>
      <p:sp>
        <p:nvSpPr>
          <p:cNvPr id="21" name="Text 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8232" y="39522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B shares carry 20 votes each. Post-IPO, Class B holders retain ~95.4% of voting power. Public investors in Class A shares gain economic exposure but have </a:t>
            </a:r>
            <a:r>
              <a:rPr lang="en-US" sz="1350" i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virtually no ability to influence board composition, M&amp;A decisions, or strategic direction</a:t>
            </a:r>
            <a:r>
              <a:rPr lang="en-US" sz="135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350" dirty="0"/>
          </a:p>
        </p:txBody>
      </p:sp>
      <p:sp>
        <p:nvSpPr>
          <p:cNvPr id="22" name="Shape 2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5382765"/>
            <a:ext cx="11109960" cy="895099"/>
          </a:xfrm>
          <a:prstGeom prst="roundRect">
            <a:avLst>
              <a:gd name="adj" fmla="val 10417"/>
            </a:avLst>
          </a:prstGeom>
          <a:solidFill>
            <a:srgbClr val="E7F3EE"/>
          </a:solidFill>
          <a:ln w="12700">
            <a:solidFill>
              <a:srgbClr val="E7F3EE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3" name="Text 2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9808" y="5417662"/>
            <a:ext cx="10771632" cy="815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line: These risks compress the multiple investors are willing to pay, not just the business outcome. Revenue durability (persistency), earnings quality (S&amp;M leverage), partner concentration (carriers), and governance discount (dual-class) are the four vectors that determine whether LIFE trades at 3× or 6× revenue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 noRot="1" noMove="1" noResize="1" noEditPoints="1" noAdjustHandles="1" noChangeArrowheads="1" noChangeShapeType="1"/>
          </p:cNvSpPr>
          <p:nvPr>
            <p:ph type="sldNum" sz="quarter" idx="4294967295"/>
          </p:nvPr>
        </p:nvSpPr>
        <p:spPr>
          <a:xfrm>
            <a:off x="11704320" y="641908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E7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1" name="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0763" y="3421888"/>
            <a:ext cx="146304" cy="1737625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8FFA6FCC-C55A-7122-2DA3-68B071D79A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404112"/>
            <a:ext cx="23850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l"/>
            </a:pPr>
            <a:r>
              <a:rPr lang="en-US" sz="1200" dirty="0">
                <a:solidFill>
                  <a:srgbClr val="18332B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Financial / earnings quality risk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7BEF3CAC-2617-9211-E014-8891697453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72200" y="1413890"/>
            <a:ext cx="23850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chemeClr val="tx2"/>
              </a:buClr>
              <a:buFont typeface="Wingdings" panose="05000000000000000000" pitchFamily="2" charset="2"/>
              <a:buChar char="l"/>
            </a:pPr>
            <a:r>
              <a:rPr lang="en-US" sz="1200" dirty="0">
                <a:solidFill>
                  <a:srgbClr val="18332B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Structural / governance risk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31089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A5C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IPO TRANSACTION SUMMARY</a:t>
            </a:r>
            <a:endParaRPr lang="en-US" sz="900" dirty="0"/>
          </a:p>
        </p:txBody>
      </p:sp>
      <p:sp>
        <p:nvSpPr>
          <p:cNvPr id="3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512064"/>
            <a:ext cx="11643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Deal Overview</a:t>
            </a:r>
            <a:endParaRPr lang="en-US" sz="2300" dirty="0"/>
          </a:p>
        </p:txBody>
      </p:sp>
      <p:sp>
        <p:nvSpPr>
          <p:cNvPr id="5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980399"/>
            <a:ext cx="10972800" cy="0"/>
          </a:xfrm>
          <a:prstGeom prst="line">
            <a:avLst/>
          </a:prstGeom>
          <a:noFill/>
          <a:ln w="12700">
            <a:solidFill>
              <a:srgbClr val="C8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lide Number Placeholder 0"/>
          <p:cNvSpPr>
            <a:spLocks noGrp="1" noRot="1" noMove="1" noResize="1" noEditPoints="1" noAdjustHandles="1" noChangeArrowheads="1" noChangeShapeType="1"/>
          </p:cNvSpPr>
          <p:nvPr>
            <p:ph type="sldNum" sz="quarter" idx="4294967295"/>
          </p:nvPr>
        </p:nvSpPr>
        <p:spPr>
          <a:xfrm>
            <a:off x="11704320" y="6419088"/>
            <a:ext cx="228600" cy="164592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E7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5" name="Shape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52108" y="1201143"/>
            <a:ext cx="8321040" cy="4910328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3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33846" y="1314004"/>
            <a:ext cx="8111040" cy="145000"/>
          </a:xfrm>
          <a:prstGeom prst="rect">
            <a:avLst/>
          </a:prstGeom>
          <a:noFill/>
        </p:spPr>
        <p:txBody>
          <a:bodyPr wrap="square" lIns="54000" tIns="27000" rIns="54000" bIns="270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5C"/>
                </a:solidFill>
                <a:latin typeface="Aptos"/>
              </a:rPr>
              <a:t>DEAL IDENTITY</a:t>
            </a:r>
          </a:p>
        </p:txBody>
      </p:sp>
      <p:sp>
        <p:nvSpPr>
          <p:cNvPr id="22" name="r30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568" y="1469113"/>
            <a:ext cx="8110855" cy="76200"/>
          </a:xfrm>
          <a:prstGeom prst="rect">
            <a:avLst/>
          </a:prstGeom>
          <a:solidFill>
            <a:srgbClr val="D8ECE4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23" name="r30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568" y="1481178"/>
            <a:ext cx="2683510" cy="363855"/>
          </a:xfrm>
          <a:prstGeom prst="roundRect">
            <a:avLst>
              <a:gd name="adj" fmla="val 700"/>
            </a:avLst>
          </a:prstGeom>
          <a:solidFill>
            <a:srgbClr val="0B4D3B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24" name="mt30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568" y="1481178"/>
            <a:ext cx="2683510" cy="363855"/>
          </a:xfrm>
          <a:prstGeom prst="rect">
            <a:avLst/>
          </a:prstGeom>
          <a:noFill/>
        </p:spPr>
        <p:txBody>
          <a:bodyPr wrap="square" lIns="48000" tIns="14000" rIns="48000" bIns="14000" rtlCol="0" anchor="ctr"/>
          <a:lstStyle/>
          <a:p>
            <a:pPr marL="0" indent="0">
              <a:buNone/>
            </a:pPr>
            <a:r>
              <a:rPr lang="en-US" sz="1010" b="0" dirty="0">
                <a:solidFill>
                  <a:srgbClr val="D8ECE4"/>
                </a:solidFill>
                <a:latin typeface="Aptos"/>
              </a:rPr>
              <a:t>Issuer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/>
              </a:rPr>
              <a:t>Ethos Technologies Inc.</a:t>
            </a:r>
          </a:p>
        </p:txBody>
      </p:sp>
      <p:sp>
        <p:nvSpPr>
          <p:cNvPr id="25" name="r30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0558" y="1481178"/>
            <a:ext cx="2683510" cy="363855"/>
          </a:xfrm>
          <a:prstGeom prst="roundRect">
            <a:avLst>
              <a:gd name="adj" fmla="val 700"/>
            </a:avLst>
          </a:prstGeom>
          <a:solidFill>
            <a:srgbClr val="1F7A5C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26" name="mt30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0558" y="1481178"/>
            <a:ext cx="2683510" cy="363855"/>
          </a:xfrm>
          <a:prstGeom prst="rect">
            <a:avLst/>
          </a:prstGeom>
          <a:noFill/>
        </p:spPr>
        <p:txBody>
          <a:bodyPr wrap="square" lIns="48000" tIns="14000" rIns="48000" bIns="14000" rtlCol="0" anchor="ctr"/>
          <a:lstStyle/>
          <a:p>
            <a:pPr marL="0" indent="0">
              <a:buNone/>
            </a:pPr>
            <a:r>
              <a:rPr lang="en-US" sz="1010" b="0" dirty="0">
                <a:solidFill>
                  <a:srgbClr val="D8ECE4"/>
                </a:solidFill>
                <a:latin typeface="Aptos"/>
              </a:rPr>
              <a:t>Exchange / Ticker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/>
              </a:rPr>
              <a:t>LIFE  ·  Nasdaq Global Select</a:t>
            </a:r>
          </a:p>
        </p:txBody>
      </p:sp>
      <p:sp>
        <p:nvSpPr>
          <p:cNvPr id="27" name="r30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03913" y="1481178"/>
            <a:ext cx="2683510" cy="363855"/>
          </a:xfrm>
          <a:prstGeom prst="roundRect">
            <a:avLst>
              <a:gd name="adj" fmla="val 700"/>
            </a:avLst>
          </a:prstGeom>
          <a:solidFill>
            <a:srgbClr val="2E8B6E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28" name="mt30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03913" y="1481178"/>
            <a:ext cx="2683510" cy="363855"/>
          </a:xfrm>
          <a:prstGeom prst="rect">
            <a:avLst/>
          </a:prstGeom>
          <a:noFill/>
        </p:spPr>
        <p:txBody>
          <a:bodyPr wrap="square" lIns="48000" tIns="14000" rIns="48000" bIns="14000" rtlCol="0" anchor="ctr"/>
          <a:lstStyle/>
          <a:p>
            <a:pPr marL="0" indent="0">
              <a:buNone/>
            </a:pPr>
            <a:r>
              <a:rPr lang="en-US" sz="1010" b="0" dirty="0">
                <a:solidFill>
                  <a:srgbClr val="D8ECE4"/>
                </a:solidFill>
                <a:latin typeface="Aptos"/>
              </a:rPr>
              <a:t>Incorporation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/>
              </a:rPr>
              <a:t>Delaware  ·  EIN 81-3181024</a:t>
            </a:r>
          </a:p>
        </p:txBody>
      </p:sp>
      <p:sp>
        <p:nvSpPr>
          <p:cNvPr id="29" name="r30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568" y="1874243"/>
            <a:ext cx="2683510" cy="337185"/>
          </a:xfrm>
          <a:prstGeom prst="roundRect">
            <a:avLst>
              <a:gd name="adj" fmla="val 700"/>
            </a:avLst>
          </a:prstGeom>
          <a:solidFill>
            <a:srgbClr val="0B4D3B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30" name="mt3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568" y="1874243"/>
            <a:ext cx="2683510" cy="337185"/>
          </a:xfrm>
          <a:prstGeom prst="rect">
            <a:avLst/>
          </a:prstGeom>
          <a:noFill/>
        </p:spPr>
        <p:txBody>
          <a:bodyPr wrap="square" lIns="48000" tIns="14000" rIns="48000" bIns="14000" rtlCol="0" anchor="ctr"/>
          <a:lstStyle/>
          <a:p>
            <a:pPr marL="0" indent="0">
              <a:buNone/>
            </a:pPr>
            <a:r>
              <a:rPr lang="en-US" sz="1010" b="0" dirty="0">
                <a:solidFill>
                  <a:srgbClr val="D8ECE4"/>
                </a:solidFill>
                <a:latin typeface="Aptos"/>
              </a:rPr>
              <a:t>Auditor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/>
              </a:rPr>
              <a:t>Ernst &amp; Young LLP</a:t>
            </a:r>
          </a:p>
        </p:txBody>
      </p:sp>
      <p:sp>
        <p:nvSpPr>
          <p:cNvPr id="31" name="r3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0558" y="1874243"/>
            <a:ext cx="2683510" cy="337185"/>
          </a:xfrm>
          <a:prstGeom prst="roundRect">
            <a:avLst>
              <a:gd name="adj" fmla="val 700"/>
            </a:avLst>
          </a:prstGeom>
          <a:solidFill>
            <a:srgbClr val="1F7A5C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32" name="mt3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0558" y="1874243"/>
            <a:ext cx="2683510" cy="337185"/>
          </a:xfrm>
          <a:prstGeom prst="rect">
            <a:avLst/>
          </a:prstGeom>
          <a:noFill/>
        </p:spPr>
        <p:txBody>
          <a:bodyPr wrap="square" lIns="48000" tIns="14000" rIns="48000" bIns="14000" rtlCol="0" anchor="ctr"/>
          <a:lstStyle/>
          <a:p>
            <a:pPr marL="0" indent="0">
              <a:buNone/>
            </a:pPr>
            <a:r>
              <a:rPr lang="en-US" sz="1010" b="0" dirty="0">
                <a:solidFill>
                  <a:srgbClr val="D8ECE4"/>
                </a:solidFill>
                <a:latin typeface="Aptos"/>
              </a:rPr>
              <a:t>Company Counsel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/>
              </a:rPr>
              <a:t>Cooley LLP</a:t>
            </a:r>
          </a:p>
        </p:txBody>
      </p:sp>
      <p:sp>
        <p:nvSpPr>
          <p:cNvPr id="33" name="r3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03913" y="1874243"/>
            <a:ext cx="2683510" cy="337185"/>
          </a:xfrm>
          <a:prstGeom prst="roundRect">
            <a:avLst>
              <a:gd name="adj" fmla="val 700"/>
            </a:avLst>
          </a:prstGeom>
          <a:solidFill>
            <a:srgbClr val="2E8B6E"/>
          </a:solidFill>
          <a:ln>
            <a:noFill/>
          </a:ln>
        </p:spPr>
        <p:txBody>
          <a:bodyPr/>
          <a:lstStyle/>
          <a:p>
            <a:endParaRPr lang="en-US" sz="2800"/>
          </a:p>
        </p:txBody>
      </p:sp>
      <p:sp>
        <p:nvSpPr>
          <p:cNvPr id="34" name="mt31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03913" y="1874243"/>
            <a:ext cx="2683510" cy="337185"/>
          </a:xfrm>
          <a:prstGeom prst="rect">
            <a:avLst/>
          </a:prstGeom>
          <a:noFill/>
        </p:spPr>
        <p:txBody>
          <a:bodyPr wrap="square" lIns="48000" tIns="14000" rIns="48000" bIns="14000" rtlCol="0" anchor="ctr"/>
          <a:lstStyle/>
          <a:p>
            <a:pPr marL="0" indent="0">
              <a:buNone/>
            </a:pPr>
            <a:r>
              <a:rPr lang="en-US" sz="1010" b="0" dirty="0">
                <a:solidFill>
                  <a:srgbClr val="D8ECE4"/>
                </a:solidFill>
                <a:latin typeface="Aptos"/>
              </a:rPr>
              <a:t>UW Counsel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/>
              </a:rPr>
              <a:t>Simpson Thacher &amp; Bartlett</a:t>
            </a:r>
          </a:p>
        </p:txBody>
      </p:sp>
      <p:sp>
        <p:nvSpPr>
          <p:cNvPr id="35" name="t3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33846" y="2245693"/>
            <a:ext cx="8111040" cy="145000"/>
          </a:xfrm>
          <a:prstGeom prst="rect">
            <a:avLst/>
          </a:prstGeom>
          <a:noFill/>
        </p:spPr>
        <p:txBody>
          <a:bodyPr wrap="square" lIns="54000" tIns="27000" rIns="54000" bIns="270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5C"/>
                </a:solidFill>
                <a:latin typeface="Aptos"/>
              </a:rPr>
              <a:t>SHARE OFFERING SPLIT</a:t>
            </a:r>
          </a:p>
        </p:txBody>
      </p:sp>
      <p:sp>
        <p:nvSpPr>
          <p:cNvPr id="36" name="r3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568" y="2412088"/>
            <a:ext cx="8110855" cy="76200"/>
          </a:xfrm>
          <a:prstGeom prst="rect">
            <a:avLst/>
          </a:prstGeom>
          <a:solidFill>
            <a:srgbClr val="D8ECE4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37" name="r31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568" y="2424153"/>
            <a:ext cx="3950335" cy="355600"/>
          </a:xfrm>
          <a:prstGeom prst="rect">
            <a:avLst/>
          </a:prstGeom>
          <a:solidFill>
            <a:srgbClr val="0B4D3B"/>
          </a:solidFill>
          <a:ln>
            <a:noFill/>
          </a:ln>
        </p:spPr>
        <p:txBody>
          <a:bodyPr/>
          <a:lstStyle/>
          <a:p>
            <a:endParaRPr lang="en-US" sz="32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t31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16573" y="2424153"/>
            <a:ext cx="3910330" cy="355600"/>
          </a:xfrm>
          <a:prstGeom prst="rect">
            <a:avLst/>
          </a:prstGeom>
          <a:noFill/>
        </p:spPr>
        <p:txBody>
          <a:bodyPr wrap="square" lIns="54000" tIns="27000" rIns="54000" bIns="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Primary 48.7%  ·  5,127,696 shares</a:t>
            </a:r>
          </a:p>
        </p:txBody>
      </p:sp>
      <p:sp>
        <p:nvSpPr>
          <p:cNvPr id="39" name="r3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26903" y="2424153"/>
            <a:ext cx="4161155" cy="355600"/>
          </a:xfrm>
          <a:prstGeom prst="rect">
            <a:avLst/>
          </a:prstGeom>
          <a:solidFill>
            <a:srgbClr val="5BB89A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40" name="t32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61828" y="2424153"/>
            <a:ext cx="4126230" cy="355600"/>
          </a:xfrm>
          <a:prstGeom prst="rect">
            <a:avLst/>
          </a:prstGeom>
          <a:noFill/>
        </p:spPr>
        <p:txBody>
          <a:bodyPr wrap="square" lIns="54000" tIns="27000" rIns="54000" bIns="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Secondary 51.3%  ·  5,398,619 shares</a:t>
            </a:r>
          </a:p>
        </p:txBody>
      </p:sp>
      <p:sp>
        <p:nvSpPr>
          <p:cNvPr id="321" name="r32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568" y="2798803"/>
            <a:ext cx="2683510" cy="501650"/>
          </a:xfrm>
          <a:prstGeom prst="roundRect">
            <a:avLst>
              <a:gd name="adj" fmla="val 900"/>
            </a:avLst>
          </a:prstGeom>
          <a:solidFill>
            <a:srgbClr val="0B4D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mt3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568" y="2798803"/>
            <a:ext cx="2683510" cy="501650"/>
          </a:xfrm>
          <a:prstGeom prst="rect">
            <a:avLst/>
          </a:prstGeom>
          <a:noFill/>
        </p:spPr>
        <p:txBody>
          <a:bodyPr wrap="square" lIns="48000" tIns="16000" rIns="48000" bIns="16000" rtlCol="0" anchor="ctr"/>
          <a:lstStyle/>
          <a:p>
            <a:pPr marL="0" indent="0">
              <a:buNone/>
            </a:pPr>
            <a:r>
              <a:rPr lang="en-US" sz="740" b="0" dirty="0">
                <a:solidFill>
                  <a:srgbClr val="D8ECE4"/>
                </a:solidFill>
                <a:latin typeface="Aptos"/>
              </a:rPr>
              <a:t>Total Shares Offered</a:t>
            </a:r>
          </a:p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Aptos"/>
              </a:rPr>
              <a:t>10,526,315</a:t>
            </a:r>
          </a:p>
          <a:p>
            <a:pPr marL="0" indent="0">
              <a:buNone/>
            </a:pPr>
            <a:r>
              <a:rPr lang="en-US" sz="750" b="0" dirty="0">
                <a:solidFill>
                  <a:srgbClr val="D8ECE4"/>
                </a:solidFill>
                <a:latin typeface="Aptos"/>
              </a:rPr>
              <a:t>shares at $19.00 / share</a:t>
            </a:r>
          </a:p>
        </p:txBody>
      </p:sp>
      <p:sp>
        <p:nvSpPr>
          <p:cNvPr id="42" name="r32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0558" y="2798803"/>
            <a:ext cx="2683510" cy="501650"/>
          </a:xfrm>
          <a:prstGeom prst="roundRect">
            <a:avLst>
              <a:gd name="adj" fmla="val 900"/>
            </a:avLst>
          </a:prstGeom>
          <a:solidFill>
            <a:srgbClr val="1F7A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mt32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0558" y="2798803"/>
            <a:ext cx="2683510" cy="501650"/>
          </a:xfrm>
          <a:prstGeom prst="rect">
            <a:avLst/>
          </a:prstGeom>
          <a:noFill/>
        </p:spPr>
        <p:txBody>
          <a:bodyPr wrap="square" lIns="48000" tIns="16000" rIns="48000" bIns="16000" rtlCol="0" anchor="ctr"/>
          <a:lstStyle/>
          <a:p>
            <a:pPr marL="0" indent="0">
              <a:buNone/>
            </a:pPr>
            <a:r>
              <a:rPr lang="en-US" sz="740" b="0" dirty="0">
                <a:solidFill>
                  <a:srgbClr val="D8ECE4"/>
                </a:solidFill>
                <a:latin typeface="Aptos"/>
              </a:rPr>
              <a:t>IPO Price Range</a:t>
            </a:r>
          </a:p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Aptos"/>
              </a:rPr>
              <a:t>$18 – $20</a:t>
            </a:r>
          </a:p>
          <a:p>
            <a:pPr marL="0" indent="0">
              <a:buNone/>
            </a:pPr>
            <a:r>
              <a:rPr lang="en-US" sz="750" b="0" dirty="0">
                <a:solidFill>
                  <a:srgbClr val="D8ECE4"/>
                </a:solidFill>
                <a:latin typeface="Aptos"/>
              </a:rPr>
              <a:t>Final: $19.00 per share</a:t>
            </a:r>
          </a:p>
        </p:txBody>
      </p:sp>
      <p:sp>
        <p:nvSpPr>
          <p:cNvPr id="47" name="r32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03913" y="2798803"/>
            <a:ext cx="2683510" cy="501650"/>
          </a:xfrm>
          <a:prstGeom prst="roundRect">
            <a:avLst>
              <a:gd name="adj" fmla="val 900"/>
            </a:avLst>
          </a:prstGeom>
          <a:solidFill>
            <a:srgbClr val="2E8B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mt32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03913" y="2798803"/>
            <a:ext cx="2683510" cy="501650"/>
          </a:xfrm>
          <a:prstGeom prst="rect">
            <a:avLst/>
          </a:prstGeom>
          <a:noFill/>
        </p:spPr>
        <p:txBody>
          <a:bodyPr wrap="square" lIns="48000" tIns="16000" rIns="48000" bIns="16000" rtlCol="0" anchor="ctr"/>
          <a:lstStyle/>
          <a:p>
            <a:pPr marL="0" indent="0">
              <a:buNone/>
            </a:pPr>
            <a:r>
              <a:rPr lang="en-US" sz="740" b="0" dirty="0">
                <a:solidFill>
                  <a:srgbClr val="D8ECE4"/>
                </a:solidFill>
                <a:latin typeface="Aptos"/>
              </a:rPr>
              <a:t>Market Cap at IPO</a:t>
            </a:r>
          </a:p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Aptos"/>
              </a:rPr>
              <a:t>~$1.189B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D8ECE4"/>
                </a:solidFill>
                <a:latin typeface="Aptos"/>
              </a:rPr>
              <a:t>62,558,380</a:t>
            </a:r>
            <a:r>
              <a:rPr lang="en-US" sz="750" b="0" dirty="0">
                <a:solidFill>
                  <a:srgbClr val="D8ECE4"/>
                </a:solidFill>
                <a:latin typeface="Aptos"/>
              </a:rPr>
              <a:t> shares × $19</a:t>
            </a:r>
          </a:p>
        </p:txBody>
      </p:sp>
      <p:sp>
        <p:nvSpPr>
          <p:cNvPr id="49" name="t3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38609" y="3365287"/>
            <a:ext cx="8111040" cy="145000"/>
          </a:xfrm>
          <a:prstGeom prst="rect">
            <a:avLst/>
          </a:prstGeom>
          <a:noFill/>
        </p:spPr>
        <p:txBody>
          <a:bodyPr wrap="square" lIns="54000" tIns="27000" rIns="54000" bIns="270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5C"/>
                </a:solidFill>
                <a:latin typeface="Aptos"/>
              </a:rPr>
              <a:t>PROCEEDS BREAKDOWN</a:t>
            </a:r>
          </a:p>
        </p:txBody>
      </p:sp>
      <p:sp>
        <p:nvSpPr>
          <p:cNvPr id="50" name="r32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713" y="3515813"/>
            <a:ext cx="8111040" cy="7000"/>
          </a:xfrm>
          <a:prstGeom prst="rect">
            <a:avLst/>
          </a:prstGeom>
          <a:solidFill>
            <a:srgbClr val="D8EC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r32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47081" y="3669813"/>
            <a:ext cx="1297766" cy="560000"/>
          </a:xfrm>
          <a:prstGeom prst="roundRect">
            <a:avLst>
              <a:gd name="adj" fmla="val 500"/>
            </a:avLst>
          </a:prstGeom>
          <a:solidFill>
            <a:srgbClr val="0B4D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33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47081" y="3473933"/>
            <a:ext cx="1297766" cy="195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332B"/>
                </a:solidFill>
                <a:latin typeface="Aptos"/>
              </a:rPr>
              <a:t>~$200M</a:t>
            </a:r>
          </a:p>
        </p:txBody>
      </p:sp>
      <p:sp>
        <p:nvSpPr>
          <p:cNvPr id="54" name="t33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47081" y="4235813"/>
            <a:ext cx="1297766" cy="1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b="0" dirty="0">
                <a:solidFill>
                  <a:srgbClr val="5B6C66"/>
                </a:solidFill>
                <a:latin typeface="Aptos"/>
              </a:rPr>
              <a:t>Total Deal  (Gross)</a:t>
            </a:r>
          </a:p>
        </p:txBody>
      </p:sp>
      <p:sp>
        <p:nvSpPr>
          <p:cNvPr id="56" name="r33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5215" y="3957093"/>
            <a:ext cx="1297766" cy="272720"/>
          </a:xfrm>
          <a:prstGeom prst="roundRect">
            <a:avLst>
              <a:gd name="adj" fmla="val 500"/>
            </a:avLst>
          </a:prstGeom>
          <a:solidFill>
            <a:srgbClr val="1F7A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33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5215" y="3762093"/>
            <a:ext cx="1297766" cy="195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332B"/>
                </a:solidFill>
                <a:latin typeface="Aptos"/>
              </a:rPr>
              <a:t>~$97.4M</a:t>
            </a:r>
          </a:p>
        </p:txBody>
      </p:sp>
      <p:sp>
        <p:nvSpPr>
          <p:cNvPr id="58" name="t3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5215" y="4235813"/>
            <a:ext cx="1297766" cy="1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b="0" dirty="0">
                <a:solidFill>
                  <a:srgbClr val="5B6C66"/>
                </a:solidFill>
                <a:latin typeface="Aptos"/>
              </a:rPr>
              <a:t>Company  Gross</a:t>
            </a:r>
          </a:p>
        </p:txBody>
      </p:sp>
      <p:sp>
        <p:nvSpPr>
          <p:cNvPr id="335" name="r33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83349" y="3998533"/>
            <a:ext cx="1297766" cy="231280"/>
          </a:xfrm>
          <a:prstGeom prst="roundRect">
            <a:avLst>
              <a:gd name="adj" fmla="val 500"/>
            </a:avLst>
          </a:prstGeom>
          <a:solidFill>
            <a:srgbClr val="2E8B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6" name="t33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83349" y="3803533"/>
            <a:ext cx="1297766" cy="195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332B"/>
                </a:solidFill>
                <a:latin typeface="Aptos"/>
              </a:rPr>
              <a:t>~$85.8M</a:t>
            </a:r>
          </a:p>
        </p:txBody>
      </p:sp>
      <p:sp>
        <p:nvSpPr>
          <p:cNvPr id="337" name="t33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83349" y="4235813"/>
            <a:ext cx="1297766" cy="1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b="0" dirty="0">
                <a:solidFill>
                  <a:srgbClr val="5B6C66"/>
                </a:solidFill>
                <a:latin typeface="Aptos"/>
              </a:rPr>
              <a:t>Net Proceeds  to Company</a:t>
            </a:r>
          </a:p>
        </p:txBody>
      </p:sp>
      <p:sp>
        <p:nvSpPr>
          <p:cNvPr id="338" name="r33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51483" y="4112773"/>
            <a:ext cx="1297766" cy="117040"/>
          </a:xfrm>
          <a:prstGeom prst="roundRect">
            <a:avLst>
              <a:gd name="adj" fmla="val 500"/>
            </a:avLst>
          </a:prstGeom>
          <a:solidFill>
            <a:srgbClr val="5BB8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9" name="t33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51483" y="3917773"/>
            <a:ext cx="1297766" cy="195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332B"/>
                </a:solidFill>
                <a:latin typeface="Aptos"/>
              </a:rPr>
              <a:t>~$49.1M</a:t>
            </a:r>
          </a:p>
        </p:txBody>
      </p:sp>
      <p:sp>
        <p:nvSpPr>
          <p:cNvPr id="340" name="t34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51483" y="4235813"/>
            <a:ext cx="1297766" cy="1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b="0" dirty="0">
                <a:solidFill>
                  <a:srgbClr val="5B6C66"/>
                </a:solidFill>
                <a:latin typeface="Aptos"/>
              </a:rPr>
              <a:t>RSU Tax  Withholding</a:t>
            </a:r>
          </a:p>
        </p:txBody>
      </p:sp>
      <p:sp>
        <p:nvSpPr>
          <p:cNvPr id="341" name="r34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19617" y="4115573"/>
            <a:ext cx="1297766" cy="114240"/>
          </a:xfrm>
          <a:prstGeom prst="roundRect">
            <a:avLst>
              <a:gd name="adj" fmla="val 500"/>
            </a:avLst>
          </a:prstGeom>
          <a:solidFill>
            <a:srgbClr val="7DCC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2" name="t34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19617" y="3920573"/>
            <a:ext cx="1297766" cy="195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332B"/>
                </a:solidFill>
                <a:latin typeface="Aptos"/>
              </a:rPr>
              <a:t>~$36.7M</a:t>
            </a:r>
          </a:p>
        </p:txBody>
      </p:sp>
      <p:sp>
        <p:nvSpPr>
          <p:cNvPr id="343" name="t34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19617" y="4235813"/>
            <a:ext cx="1297766" cy="1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b="0" dirty="0">
                <a:solidFill>
                  <a:srgbClr val="5B6C66"/>
                </a:solidFill>
                <a:latin typeface="Aptos"/>
              </a:rPr>
              <a:t>Remaining Net Proceeds</a:t>
            </a:r>
          </a:p>
        </p:txBody>
      </p:sp>
      <p:sp>
        <p:nvSpPr>
          <p:cNvPr id="344" name="t34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32263" y="4429495"/>
            <a:ext cx="8111040" cy="145000"/>
          </a:xfrm>
          <a:prstGeom prst="rect">
            <a:avLst/>
          </a:prstGeom>
          <a:noFill/>
        </p:spPr>
        <p:txBody>
          <a:bodyPr wrap="square" lIns="54000" tIns="27000" rIns="54000" bIns="270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5C"/>
                </a:solidFill>
                <a:latin typeface="Aptos"/>
              </a:rPr>
              <a:t>UNDERWRITING  &amp;  LOCK-UP</a:t>
            </a:r>
          </a:p>
        </p:txBody>
      </p:sp>
      <p:sp>
        <p:nvSpPr>
          <p:cNvPr id="345" name="r34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713" y="4580973"/>
            <a:ext cx="8111040" cy="7000"/>
          </a:xfrm>
          <a:prstGeom prst="rect">
            <a:avLst/>
          </a:prstGeom>
          <a:solidFill>
            <a:srgbClr val="D8EC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6" name="r34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713" y="4726253"/>
            <a:ext cx="12000" cy="160000"/>
          </a:xfrm>
          <a:prstGeom prst="rect">
            <a:avLst/>
          </a:prstGeom>
          <a:solidFill>
            <a:srgbClr val="0B4D3B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347" name="mt34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00713" y="4678253"/>
            <a:ext cx="4437072" cy="220000"/>
          </a:xfrm>
          <a:prstGeom prst="rect">
            <a:avLst/>
          </a:prstGeom>
          <a:noFill/>
        </p:spPr>
        <p:txBody>
          <a:bodyPr wrap="square" lIns="10000" tIns="10000" rIns="10000" bIns="1000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B4D3B"/>
                </a:solidFill>
                <a:latin typeface="Aptos"/>
              </a:rPr>
              <a:t>Lead Left: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18332B"/>
                </a:solidFill>
                <a:latin typeface="Aptos"/>
              </a:rPr>
              <a:t>Goldman Sachs &amp; Co. LLC  (lead left)</a:t>
            </a:r>
          </a:p>
        </p:txBody>
      </p:sp>
      <p:sp>
        <p:nvSpPr>
          <p:cNvPr id="348" name="r34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713" y="5017373"/>
            <a:ext cx="12000" cy="160000"/>
          </a:xfrm>
          <a:prstGeom prst="rect">
            <a:avLst/>
          </a:prstGeom>
          <a:solidFill>
            <a:srgbClr val="1F7A5C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349" name="mt34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00713" y="4969373"/>
            <a:ext cx="4437072" cy="220000"/>
          </a:xfrm>
          <a:prstGeom prst="rect">
            <a:avLst/>
          </a:prstGeom>
          <a:noFill/>
        </p:spPr>
        <p:txBody>
          <a:bodyPr wrap="square" lIns="10000" tIns="10000" rIns="10000" bIns="1000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F7A5C"/>
                </a:solidFill>
                <a:latin typeface="Aptos"/>
              </a:rPr>
              <a:t>Joint Books: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18332B"/>
                </a:solidFill>
                <a:latin typeface="Aptos"/>
              </a:rPr>
              <a:t>J.P. Morgan  ·  BofA Securities  ·  Barclays  ·  Citigroup</a:t>
            </a:r>
          </a:p>
        </p:txBody>
      </p:sp>
      <p:sp>
        <p:nvSpPr>
          <p:cNvPr id="350" name="r35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713" y="5298333"/>
            <a:ext cx="12000" cy="160000"/>
          </a:xfrm>
          <a:prstGeom prst="rect">
            <a:avLst/>
          </a:prstGeom>
          <a:solidFill>
            <a:srgbClr val="2E8B6E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351" name="mt35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00713" y="5250333"/>
            <a:ext cx="4437072" cy="220000"/>
          </a:xfrm>
          <a:prstGeom prst="rect">
            <a:avLst/>
          </a:prstGeom>
          <a:noFill/>
        </p:spPr>
        <p:txBody>
          <a:bodyPr wrap="square" lIns="10000" tIns="10000" rIns="10000" bIns="1000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2E8B6E"/>
                </a:solidFill>
                <a:latin typeface="Aptos"/>
              </a:rPr>
              <a:t>Co-Managers: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18332B"/>
                </a:solidFill>
                <a:latin typeface="Aptos"/>
              </a:rPr>
              <a:t>Citizens Capital Markets  ·  William Blair  ·  Deutsche Bank  ·  Baird</a:t>
            </a:r>
          </a:p>
        </p:txBody>
      </p:sp>
      <p:sp>
        <p:nvSpPr>
          <p:cNvPr id="352" name="r35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713" y="5574213"/>
            <a:ext cx="12000" cy="160000"/>
          </a:xfrm>
          <a:prstGeom prst="rect">
            <a:avLst/>
          </a:prstGeom>
          <a:solidFill>
            <a:srgbClr val="5BB89A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353" name="mt35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00713" y="5526213"/>
            <a:ext cx="4437072" cy="220000"/>
          </a:xfrm>
          <a:prstGeom prst="rect">
            <a:avLst/>
          </a:prstGeom>
          <a:noFill/>
        </p:spPr>
        <p:txBody>
          <a:bodyPr wrap="square" lIns="10000" tIns="10000" rIns="10000" bIns="1000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5BB89A"/>
                </a:solidFill>
                <a:latin typeface="Aptos"/>
              </a:rPr>
              <a:t>Dir. Share: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18332B"/>
                </a:solidFill>
                <a:latin typeface="Aptos"/>
              </a:rPr>
              <a:t>Up to 5% reserved  ·  No lock-up for DSP purchasers</a:t>
            </a:r>
          </a:p>
        </p:txBody>
      </p:sp>
      <p:sp>
        <p:nvSpPr>
          <p:cNvPr id="354" name="r35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76713" y="5865333"/>
            <a:ext cx="12000" cy="160000"/>
          </a:xfrm>
          <a:prstGeom prst="rect">
            <a:avLst/>
          </a:prstGeom>
          <a:solidFill>
            <a:srgbClr val="5B6C66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355" name="mt35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00713" y="5817333"/>
            <a:ext cx="4437072" cy="220000"/>
          </a:xfrm>
          <a:prstGeom prst="rect">
            <a:avLst/>
          </a:prstGeom>
          <a:noFill/>
        </p:spPr>
        <p:txBody>
          <a:bodyPr wrap="square" lIns="10000" tIns="10000" rIns="10000" bIns="100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C66"/>
                </a:solidFill>
                <a:latin typeface="Aptos"/>
              </a:rPr>
              <a:t>Greenshoe: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18332B"/>
                </a:solidFill>
                <a:latin typeface="Aptos"/>
              </a:rPr>
              <a:t>None — no overallotment option granted</a:t>
            </a:r>
          </a:p>
        </p:txBody>
      </p:sp>
      <p:sp>
        <p:nvSpPr>
          <p:cNvPr id="356" name="t35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87785" y="4596973"/>
            <a:ext cx="3599968" cy="145000"/>
          </a:xfrm>
          <a:prstGeom prst="rect">
            <a:avLst/>
          </a:prstGeom>
          <a:noFill/>
        </p:spPr>
        <p:txBody>
          <a:bodyPr wrap="square" lIns="54000" tIns="27000" rIns="54000" bIns="270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D3B"/>
                </a:solidFill>
                <a:latin typeface="Aptos"/>
              </a:rPr>
              <a:t>Lock-up Period</a:t>
            </a:r>
          </a:p>
        </p:txBody>
      </p:sp>
      <p:sp>
        <p:nvSpPr>
          <p:cNvPr id="357" name="r35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87785" y="4818093"/>
            <a:ext cx="3599968" cy="70000"/>
          </a:xfrm>
          <a:prstGeom prst="rect">
            <a:avLst/>
          </a:prstGeom>
          <a:solidFill>
            <a:srgbClr val="EEF7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8" name="r35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87785" y="4818093"/>
            <a:ext cx="1799984" cy="70000"/>
          </a:xfrm>
          <a:prstGeom prst="rect">
            <a:avLst/>
          </a:prstGeom>
          <a:solidFill>
            <a:srgbClr val="0B4D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9" name="t35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87785" y="4896093"/>
            <a:ext cx="3599968" cy="105000"/>
          </a:xfrm>
          <a:prstGeom prst="rect">
            <a:avLst/>
          </a:prstGeom>
          <a:noFill/>
        </p:spPr>
        <p:txBody>
          <a:bodyPr wrap="square" lIns="54000" tIns="27000" rIns="54000" bIns="27000" rtlCol="0" anchor="t"/>
          <a:lstStyle/>
          <a:p>
            <a:pPr marL="0" indent="0">
              <a:buNone/>
            </a:pPr>
            <a:r>
              <a:rPr lang="en-US" sz="960" b="0" dirty="0">
                <a:solidFill>
                  <a:srgbClr val="5B6C66"/>
                </a:solidFill>
                <a:latin typeface="Aptos"/>
              </a:rPr>
              <a:t>180 days standard lock-up</a:t>
            </a:r>
          </a:p>
        </p:txBody>
      </p:sp>
      <p:sp>
        <p:nvSpPr>
          <p:cNvPr id="360" name="r36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87608" y="5131793"/>
            <a:ext cx="3600450" cy="683080"/>
          </a:xfrm>
          <a:prstGeom prst="roundRect">
            <a:avLst>
              <a:gd name="adj" fmla="val 600"/>
            </a:avLst>
          </a:prstGeom>
          <a:solidFill>
            <a:srgbClr val="1F7A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1" name="mt36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8925" y="5189373"/>
            <a:ext cx="3612515" cy="556840"/>
          </a:xfrm>
          <a:prstGeom prst="rect">
            <a:avLst/>
          </a:prstGeom>
          <a:noFill/>
        </p:spPr>
        <p:txBody>
          <a:bodyPr wrap="square" lIns="25000" tIns="12000" rIns="25000" bIns="12000" rtlCol="0" anchor="ctr"/>
          <a:lstStyle/>
          <a:p>
            <a:pPr marL="0" indent="0">
              <a:buNone/>
            </a:pPr>
            <a:r>
              <a:rPr lang="en-US" altLang="zh-CN" sz="1000" b="1" dirty="0">
                <a:solidFill>
                  <a:srgbClr val="D8ECE4"/>
                </a:solidFill>
                <a:latin typeface="Aptos"/>
              </a:rPr>
              <a:t>Early release (Tier 1/2)</a:t>
            </a:r>
          </a:p>
          <a:p>
            <a:pPr marL="0" indent="0">
              <a:buNone/>
            </a:pPr>
            <a:r>
              <a:rPr lang="en-US" altLang="zh-CN" sz="900" b="0" dirty="0">
                <a:solidFill>
                  <a:srgbClr val="D8ECE4"/>
                </a:solidFill>
                <a:latin typeface="Aptos"/>
              </a:rPr>
              <a:t>25% of eligible securities may be released if the stock closes ≥125% of IPO price for 5 of 10 consecutive trading days, subject to Tier-specific timing conditions</a:t>
            </a:r>
          </a:p>
        </p:txBody>
      </p:sp>
      <p:sp>
        <p:nvSpPr>
          <p:cNvPr id="322" name="Shape 4">
            <a:extLst>
              <a:ext uri="{FF2B5EF4-FFF2-40B4-BE49-F238E27FC236}">
                <a16:creationId xmlns:a16="http://schemas.microsoft.com/office/drawing/2014/main" id="{C575E930-C3D1-FF86-02D4-B0BE556FC1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258293"/>
            <a:ext cx="2468880" cy="4910328"/>
          </a:xfrm>
          <a:prstGeom prst="roundRect">
            <a:avLst>
              <a:gd name="adj" fmla="val 1882"/>
            </a:avLst>
          </a:prstGeom>
          <a:solidFill>
            <a:srgbClr val="0B4D3B"/>
          </a:solidFill>
          <a:ln w="12700">
            <a:solidFill>
              <a:srgbClr val="0B4D3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3" name="Text 5">
            <a:extLst>
              <a:ext uri="{FF2B5EF4-FFF2-40B4-BE49-F238E27FC236}">
                <a16:creationId xmlns:a16="http://schemas.microsoft.com/office/drawing/2014/main" id="{7358E8C4-9FC9-2604-505D-ED01FE2972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7310" y="1509247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$19.00</a:t>
            </a:r>
            <a:endParaRPr lang="en-US" sz="2400" dirty="0"/>
          </a:p>
        </p:txBody>
      </p:sp>
      <p:sp>
        <p:nvSpPr>
          <p:cNvPr id="324" name="Text 6">
            <a:extLst>
              <a:ext uri="{FF2B5EF4-FFF2-40B4-BE49-F238E27FC236}">
                <a16:creationId xmlns:a16="http://schemas.microsoft.com/office/drawing/2014/main" id="{DCC26B87-207D-E7E6-F504-B6B0D9195C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7310" y="1875007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D8ECE4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IPO price per share</a:t>
            </a:r>
            <a:endParaRPr lang="en-US" sz="1020" dirty="0"/>
          </a:p>
        </p:txBody>
      </p:sp>
      <p:sp>
        <p:nvSpPr>
          <p:cNvPr id="325" name="Shape 7">
            <a:extLst>
              <a:ext uri="{FF2B5EF4-FFF2-40B4-BE49-F238E27FC236}">
                <a16:creationId xmlns:a16="http://schemas.microsoft.com/office/drawing/2014/main" id="{AC4B9AA7-7F90-D9EF-2A33-3F7E49468E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07310" y="2055476"/>
            <a:ext cx="1961606" cy="4190"/>
          </a:xfrm>
          <a:prstGeom prst="line">
            <a:avLst/>
          </a:prstGeom>
          <a:noFill/>
          <a:ln w="12700">
            <a:solidFill>
              <a:srgbClr val="3E6D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6" name="Text 8">
            <a:extLst>
              <a:ext uri="{FF2B5EF4-FFF2-40B4-BE49-F238E27FC236}">
                <a16:creationId xmlns:a16="http://schemas.microsoft.com/office/drawing/2014/main" id="{7B4C99C2-C628-0CAB-4612-0EDC0EC356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7310" y="22121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10,526,315</a:t>
            </a:r>
            <a:endParaRPr lang="en-US" sz="2400" dirty="0"/>
          </a:p>
        </p:txBody>
      </p:sp>
      <p:sp>
        <p:nvSpPr>
          <p:cNvPr id="327" name="Text 9">
            <a:extLst>
              <a:ext uri="{FF2B5EF4-FFF2-40B4-BE49-F238E27FC236}">
                <a16:creationId xmlns:a16="http://schemas.microsoft.com/office/drawing/2014/main" id="{23E8533D-7F5D-C192-2D38-401EE42420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7310" y="25779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D8ECE4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shares sold</a:t>
            </a:r>
            <a:endParaRPr lang="en-US" sz="1020" dirty="0"/>
          </a:p>
        </p:txBody>
      </p:sp>
      <p:sp>
        <p:nvSpPr>
          <p:cNvPr id="329" name="Text 11">
            <a:extLst>
              <a:ext uri="{FF2B5EF4-FFF2-40B4-BE49-F238E27FC236}">
                <a16:creationId xmlns:a16="http://schemas.microsoft.com/office/drawing/2014/main" id="{D8A8AD1F-0DC1-1F62-629C-D836E5821E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7310" y="2945523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~$200m</a:t>
            </a:r>
            <a:endParaRPr lang="en-US" sz="2400" dirty="0"/>
          </a:p>
        </p:txBody>
      </p:sp>
      <p:sp>
        <p:nvSpPr>
          <p:cNvPr id="330" name="Text 12">
            <a:extLst>
              <a:ext uri="{FF2B5EF4-FFF2-40B4-BE49-F238E27FC236}">
                <a16:creationId xmlns:a16="http://schemas.microsoft.com/office/drawing/2014/main" id="{37C24BA5-6AF5-2020-9D57-B4B61AE921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7310" y="340336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D8ECE4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gross deal size</a:t>
            </a:r>
          </a:p>
          <a:p>
            <a:pPr marL="0" indent="0">
              <a:buNone/>
            </a:pPr>
            <a:r>
              <a:rPr lang="en-US" sz="1020" dirty="0">
                <a:solidFill>
                  <a:srgbClr val="D8ECE4"/>
                </a:solidFill>
                <a:latin typeface="Aptos" panose="020B0004020202020204" pitchFamily="34" charset="0"/>
              </a:rPr>
              <a:t>10,526,315 shares </a:t>
            </a:r>
            <a:r>
              <a:rPr lang="en-US" altLang="zh-CN" sz="1020" dirty="0">
                <a:solidFill>
                  <a:srgbClr val="D8ECE4"/>
                </a:solidFill>
                <a:latin typeface="Aptos" panose="020B0004020202020204" pitchFamily="34" charset="0"/>
              </a:rPr>
              <a:t>× $19</a:t>
            </a:r>
            <a:endParaRPr lang="en-US" sz="1020" dirty="0"/>
          </a:p>
        </p:txBody>
      </p:sp>
      <p:sp>
        <p:nvSpPr>
          <p:cNvPr id="332" name="Text 14">
            <a:extLst>
              <a:ext uri="{FF2B5EF4-FFF2-40B4-BE49-F238E27FC236}">
                <a16:creationId xmlns:a16="http://schemas.microsoft.com/office/drawing/2014/main" id="{148A30F1-4594-D2DE-508A-00F4C7F43D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7310" y="3832397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~51.3%</a:t>
            </a:r>
            <a:endParaRPr lang="en-US" sz="2400" dirty="0"/>
          </a:p>
        </p:txBody>
      </p:sp>
      <p:sp>
        <p:nvSpPr>
          <p:cNvPr id="333" name="Text 15">
            <a:extLst>
              <a:ext uri="{FF2B5EF4-FFF2-40B4-BE49-F238E27FC236}">
                <a16:creationId xmlns:a16="http://schemas.microsoft.com/office/drawing/2014/main" id="{63B70A7E-9555-BCD4-ECF4-4B29E1FEEE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7310" y="4190217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D8ECE4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secondary by shares</a:t>
            </a:r>
            <a:endParaRPr lang="en-US" sz="1020" dirty="0"/>
          </a:p>
        </p:txBody>
      </p:sp>
      <p:sp>
        <p:nvSpPr>
          <p:cNvPr id="362" name="Text 14">
            <a:extLst>
              <a:ext uri="{FF2B5EF4-FFF2-40B4-BE49-F238E27FC236}">
                <a16:creationId xmlns:a16="http://schemas.microsoft.com/office/drawing/2014/main" id="{D2434D5F-604A-1A08-31EB-B39361A822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7310" y="4509243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~$1.189B</a:t>
            </a:r>
            <a:endParaRPr lang="en-US" sz="2400" dirty="0"/>
          </a:p>
        </p:txBody>
      </p:sp>
      <p:sp>
        <p:nvSpPr>
          <p:cNvPr id="363" name="Text 15">
            <a:extLst>
              <a:ext uri="{FF2B5EF4-FFF2-40B4-BE49-F238E27FC236}">
                <a16:creationId xmlns:a16="http://schemas.microsoft.com/office/drawing/2014/main" id="{C6634CEB-BECB-E89E-8266-7861772967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7310" y="4917869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D8ECE4"/>
                </a:solidFill>
                <a:latin typeface="Aptos" pitchFamily="34" charset="0"/>
              </a:rPr>
              <a:t>Market Cap at IPO</a:t>
            </a:r>
          </a:p>
          <a:p>
            <a:pPr marL="0" indent="0">
              <a:buNone/>
            </a:pPr>
            <a:r>
              <a:rPr lang="en-US" sz="1020" dirty="0">
                <a:solidFill>
                  <a:srgbClr val="D8ECE4"/>
                </a:solidFill>
                <a:latin typeface="Aptos" pitchFamily="34" charset="0"/>
              </a:rPr>
              <a:t>62,558,380 shares </a:t>
            </a:r>
            <a:r>
              <a:rPr lang="en-US" altLang="zh-CN" sz="1020" dirty="0">
                <a:solidFill>
                  <a:srgbClr val="D8ECE4"/>
                </a:solidFill>
                <a:latin typeface="Aptos" panose="020B0004020202020204" pitchFamily="34" charset="0"/>
              </a:rPr>
              <a:t>× $19</a:t>
            </a:r>
            <a:endParaRPr lang="en-US" sz="1020" dirty="0"/>
          </a:p>
        </p:txBody>
      </p:sp>
      <p:sp>
        <p:nvSpPr>
          <p:cNvPr id="364" name="Text 14">
            <a:extLst>
              <a:ext uri="{FF2B5EF4-FFF2-40B4-BE49-F238E27FC236}">
                <a16:creationId xmlns:a16="http://schemas.microsoft.com/office/drawing/2014/main" id="{8849ED0D-CD35-3C26-DF31-6FDCBA755D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7310" y="52881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</a:rPr>
              <a:t>LIFE</a:t>
            </a:r>
            <a:endParaRPr lang="en-US" sz="2400" dirty="0"/>
          </a:p>
        </p:txBody>
      </p:sp>
      <p:sp>
        <p:nvSpPr>
          <p:cNvPr id="365" name="Text 15">
            <a:extLst>
              <a:ext uri="{FF2B5EF4-FFF2-40B4-BE49-F238E27FC236}">
                <a16:creationId xmlns:a16="http://schemas.microsoft.com/office/drawing/2014/main" id="{E96F33A0-7A00-3123-4C46-B16DBC7A29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7310" y="56539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D8ECE4"/>
                </a:solidFill>
                <a:latin typeface="Aptos" pitchFamily="34" charset="0"/>
              </a:rPr>
              <a:t>Nasdaq Symbol</a:t>
            </a:r>
          </a:p>
          <a:p>
            <a:pPr marL="0" indent="0">
              <a:buNone/>
            </a:pPr>
            <a:r>
              <a:rPr lang="en-US" sz="1020" dirty="0">
                <a:solidFill>
                  <a:srgbClr val="D8ECE4"/>
                </a:solidFill>
                <a:latin typeface="Aptos" pitchFamily="34" charset="0"/>
              </a:rPr>
              <a:t>Goldman Sachs led left</a:t>
            </a:r>
            <a:endParaRPr lang="en-US" sz="1020" dirty="0"/>
          </a:p>
        </p:txBody>
      </p:sp>
      <p:sp>
        <p:nvSpPr>
          <p:cNvPr id="367" name="Shape 7">
            <a:extLst>
              <a:ext uri="{FF2B5EF4-FFF2-40B4-BE49-F238E27FC236}">
                <a16:creationId xmlns:a16="http://schemas.microsoft.com/office/drawing/2014/main" id="{8A45EAD3-1FAB-7F07-9825-ECDF33A2B9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07310" y="2755844"/>
            <a:ext cx="1961606" cy="4190"/>
          </a:xfrm>
          <a:prstGeom prst="line">
            <a:avLst/>
          </a:prstGeom>
          <a:noFill/>
          <a:ln w="12700">
            <a:solidFill>
              <a:srgbClr val="3E6D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" name="Shape 7">
            <a:extLst>
              <a:ext uri="{FF2B5EF4-FFF2-40B4-BE49-F238E27FC236}">
                <a16:creationId xmlns:a16="http://schemas.microsoft.com/office/drawing/2014/main" id="{CB269B9F-1AB0-EF7E-9A25-4184A7303D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07310" y="3652346"/>
            <a:ext cx="1961606" cy="4190"/>
          </a:xfrm>
          <a:prstGeom prst="line">
            <a:avLst/>
          </a:prstGeom>
          <a:noFill/>
          <a:ln w="12700">
            <a:solidFill>
              <a:srgbClr val="3E6D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" name="Shape 7">
            <a:extLst>
              <a:ext uri="{FF2B5EF4-FFF2-40B4-BE49-F238E27FC236}">
                <a16:creationId xmlns:a16="http://schemas.microsoft.com/office/drawing/2014/main" id="{EE9974CA-DD36-2E39-58D7-49682C1A7C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07310" y="4354441"/>
            <a:ext cx="1961606" cy="4190"/>
          </a:xfrm>
          <a:prstGeom prst="line">
            <a:avLst/>
          </a:prstGeom>
          <a:noFill/>
          <a:ln w="12700">
            <a:solidFill>
              <a:srgbClr val="3E6D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0" name="Shape 7">
            <a:extLst>
              <a:ext uri="{FF2B5EF4-FFF2-40B4-BE49-F238E27FC236}">
                <a16:creationId xmlns:a16="http://schemas.microsoft.com/office/drawing/2014/main" id="{0F53ECD3-54E7-BFE1-451C-D327B8D1E3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07310" y="5170503"/>
            <a:ext cx="1961606" cy="4190"/>
          </a:xfrm>
          <a:prstGeom prst="line">
            <a:avLst/>
          </a:prstGeom>
          <a:noFill/>
          <a:ln w="12700">
            <a:solidFill>
              <a:srgbClr val="3E6D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1" name="Text 2">
            <a:extLst>
              <a:ext uri="{FF2B5EF4-FFF2-40B4-BE49-F238E27FC236}">
                <a16:creationId xmlns:a16="http://schemas.microsoft.com/office/drawing/2014/main" id="{D48453C9-B99A-F29E-508C-9E32001473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63888" y="5887697"/>
            <a:ext cx="1669032" cy="2332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*Data from LIFE Final S1</a:t>
            </a:r>
            <a:endParaRPr lang="en-US" sz="600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512064"/>
            <a:ext cx="11643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 and Post-IPO Capital Structure &amp; Capitalization Table</a:t>
            </a:r>
            <a:endParaRPr lang="en-US" sz="2300" dirty="0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39" y="951494"/>
            <a:ext cx="9251343" cy="2920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IPO remained secondary-heavy, allowing early investors to monetize while leaving economic ownership broader but control concentrated</a:t>
            </a:r>
            <a:endParaRPr lang="en-US" sz="1150" dirty="0"/>
          </a:p>
        </p:txBody>
      </p:sp>
      <p:sp>
        <p:nvSpPr>
          <p:cNvPr id="5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298448"/>
            <a:ext cx="10972800" cy="0"/>
          </a:xfrm>
          <a:prstGeom prst="line">
            <a:avLst/>
          </a:prstGeom>
          <a:noFill/>
          <a:ln w="12700">
            <a:solidFill>
              <a:srgbClr val="C8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463041"/>
            <a:ext cx="11109960" cy="480855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3" name="Slide Number Placeholder 0"/>
          <p:cNvSpPr>
            <a:spLocks noGrp="1" noRot="1" noMove="1" noResize="1" noEditPoints="1" noAdjustHandles="1" noChangeArrowheads="1" noChangeShapeType="1"/>
          </p:cNvSpPr>
          <p:nvPr>
            <p:ph type="sldNum" sz="quarter" idx="4294967295"/>
          </p:nvPr>
        </p:nvSpPr>
        <p:spPr>
          <a:xfrm>
            <a:off x="11704320" y="6419088"/>
            <a:ext cx="228600" cy="164592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E7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58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31089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IPO TRANSACTION SUMMARY</a:t>
            </a:r>
            <a:endParaRPr lang="en-US" sz="900" dirty="0"/>
          </a:p>
        </p:txBody>
      </p:sp>
      <p:sp>
        <p:nvSpPr>
          <p:cNvPr id="19" name="Shape 24">
            <a:extLst>
              <a:ext uri="{FF2B5EF4-FFF2-40B4-BE49-F238E27FC236}">
                <a16:creationId xmlns:a16="http://schemas.microsoft.com/office/drawing/2014/main" id="{604B63E3-6BD4-E9F0-5308-8889D4F085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8497" y="3867316"/>
            <a:ext cx="4398334" cy="2254073"/>
          </a:xfrm>
          <a:prstGeom prst="rect">
            <a:avLst/>
          </a:prstGeom>
          <a:solidFill>
            <a:srgbClr val="E8EFEC">
              <a:alpha val="50000"/>
            </a:srgbClr>
          </a:solidFill>
          <a:ln w="12700">
            <a:solidFill>
              <a:srgbClr val="E7F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228294764"/>
              </p:ext>
            </p:extLst>
          </p:nvPr>
        </p:nvGraphicFramePr>
        <p:xfrm>
          <a:off x="739163" y="1945005"/>
          <a:ext cx="4350802" cy="1298570"/>
        </p:xfrm>
        <a:graphic>
          <a:graphicData uri="http://schemas.openxmlformats.org/drawingml/2006/table">
            <a:tbl>
              <a:tblPr/>
              <a:tblGrid>
                <a:gridCol w="1977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Share Class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Pre-IPO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IPO Issuance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Post-IPO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Class A Common Stock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25,351,419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+5,127,696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>
                          <a:latin typeface="Aptos" panose="020B0004020202020204" pitchFamily="34" charset="0"/>
                        </a:rPr>
                        <a:t>30,479,115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Class B Common Stock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32,079,265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32,079,265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Total Shares Outstanding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>
                          <a:latin typeface="Aptos" panose="020B0004020202020204" pitchFamily="34" charset="0"/>
                        </a:rPr>
                        <a:t>57,430,684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>
                          <a:latin typeface="Aptos" panose="020B0004020202020204" pitchFamily="34" charset="0"/>
                        </a:rPr>
                        <a:t>+5,127,696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>
                          <a:latin typeface="Aptos" panose="020B0004020202020204" pitchFamily="34" charset="0"/>
                        </a:rPr>
                        <a:t>62,558,380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000">
                          <a:latin typeface="Aptos" panose="020B0004020202020204" pitchFamily="34" charset="0"/>
                        </a:rPr>
                        <a:t>Market Cap (@ $19.00)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~$1.091B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altLang="zh-CN" sz="1000">
                        <a:latin typeface="Aptos" panose="020B0004020202020204" pitchFamily="34" charset="0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000" b="1" dirty="0">
                          <a:latin typeface="Aptos" panose="020B0004020202020204" pitchFamily="34" charset="0"/>
                        </a:rPr>
                        <a:t>~$1.189B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9164" y="1632585"/>
            <a:ext cx="3241358" cy="273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5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 Outstanding — Pre-and Post-IPO</a:t>
            </a:r>
          </a:p>
        </p:txBody>
      </p:sp>
      <p:sp>
        <p:nvSpPr>
          <p:cNvPr id="7" name="文本框 6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6613" y="3224720"/>
            <a:ext cx="4518352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00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Pre-IPO share counts reflect the reclassification, Preferred Conversion, Class B Stock Exchange, RSU Net Settlement, and Warrant Exercise as described in the S-1. Class B shares carry 20 votes per share vs. 1 vote per share for Class A.</a:t>
            </a:r>
          </a:p>
        </p:txBody>
      </p:sp>
      <p:graphicFrame>
        <p:nvGraphicFramePr>
          <p:cNvPr id="8" name="表格 7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523942904"/>
              </p:ext>
            </p:extLst>
          </p:nvPr>
        </p:nvGraphicFramePr>
        <p:xfrm>
          <a:off x="5604750" y="1857348"/>
          <a:ext cx="5922169" cy="3055608"/>
        </p:xfrm>
        <a:graphic>
          <a:graphicData uri="http://schemas.openxmlformats.org/drawingml/2006/table">
            <a:tbl>
              <a:tblPr/>
              <a:tblGrid>
                <a:gridCol w="1705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4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4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6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Stockholder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Pre-IPO Shares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% Pre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Shares Sold in IPO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Post-IPO Shares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% Post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>
                          <a:latin typeface="Aptos" panose="020B0004020202020204" pitchFamily="34" charset="0"/>
                        </a:rPr>
                        <a:t>Sequoia Capital (entities)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12,000,124 (B)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20.9%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12,000,124 (B)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19.2%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>
                          <a:latin typeface="Aptos" panose="020B0004020202020204" pitchFamily="34" charset="0"/>
                        </a:rPr>
                        <a:t>Accel (entities)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7,143,886 (B)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12.4%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7,143,886 (B)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11.4%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latin typeface="Aptos" panose="020B0004020202020204" pitchFamily="34" charset="0"/>
                        </a:rPr>
                        <a:t>Peter Colis (Co-founder / CEO)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6,498,396 (B)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11.3%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6,498,396 (B)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10.4%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latin typeface="Aptos" panose="020B0004020202020204" pitchFamily="34" charset="0"/>
                        </a:rPr>
                        <a:t>Lingke Wang (Co-founder / President)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6,436,859 (B)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11.2%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6,436,859 (B)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10.3%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latin typeface="Aptos" panose="020B0004020202020204" pitchFamily="34" charset="0"/>
                        </a:rPr>
                        <a:t>GV (Google Ventures)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5,615,464 (A)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9.8%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1,845,308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3,770,156 (A)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6.0%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latin typeface="Aptos" panose="020B0004020202020204" pitchFamily="34" charset="0"/>
                        </a:rPr>
                        <a:t>SoftBank (entities)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3,128,902 (A)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5.4%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3,128,902 (A)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5.0%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latin typeface="Aptos" panose="020B0004020202020204" pitchFamily="34" charset="0"/>
                        </a:rPr>
                        <a:t>General Catalyst Group X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2,144,652 (A)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3.7%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2,070,473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74,179 (A)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0.1%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latin typeface="Aptos" panose="020B0004020202020204" pitchFamily="34" charset="0"/>
                        </a:rPr>
                        <a:t>Heroic Ventures (entities)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543,972 (A)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0.9%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190,164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353,808 (A)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0.6%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latin typeface="Aptos" panose="020B0004020202020204" pitchFamily="34" charset="0"/>
                        </a:rPr>
                        <a:t>Other selling stockholders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various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1,292,674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Various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>
                          <a:latin typeface="Aptos" panose="020B0004020202020204" pitchFamily="34" charset="0"/>
                        </a:rPr>
                        <a:t>Public float (new IPO shares)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10,526,315 (A)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>
                          <a:latin typeface="Aptos" panose="020B0004020202020204" pitchFamily="34" charset="0"/>
                        </a:rPr>
                        <a:t>17.0%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0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Total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>
                          <a:latin typeface="Aptos" panose="020B0004020202020204" pitchFamily="34" charset="0"/>
                        </a:rPr>
                        <a:t>57,430,684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>
                          <a:latin typeface="Aptos" panose="020B0004020202020204" pitchFamily="34" charset="0"/>
                        </a:rPr>
                        <a:t>100%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>
                          <a:latin typeface="Aptos" panose="020B0004020202020204" pitchFamily="34" charset="0"/>
                        </a:rPr>
                        <a:t>5,398,619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>
                          <a:latin typeface="Aptos" panose="020B0004020202020204" pitchFamily="34" charset="0"/>
                        </a:rPr>
                        <a:t>62,558,380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>
                          <a:latin typeface="Aptos" panose="020B0004020202020204" pitchFamily="34" charset="0"/>
                        </a:rPr>
                        <a:t>100%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91178" y="1514659"/>
            <a:ext cx="3241357" cy="328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5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Pre-and Post-IPO Capitalizaion Table</a:t>
            </a:r>
          </a:p>
        </p:txBody>
      </p:sp>
      <p:sp>
        <p:nvSpPr>
          <p:cNvPr id="14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9465" y="3802964"/>
            <a:ext cx="4102100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5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vs. Secondary Shares &amp; Use of Proceeds</a:t>
            </a:r>
          </a:p>
        </p:txBody>
      </p:sp>
      <p:sp>
        <p:nvSpPr>
          <p:cNvPr id="15" name="文本框 1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8497" y="4187328"/>
            <a:ext cx="4398333" cy="1936545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(5,127,696 shares, ~48.7%): </a:t>
            </a:r>
            <a:r>
              <a:rPr lang="en-US" sz="1100" b="0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Newly issued by the Company. Gross proceeds of ~$97.4M, or ~$91.6M of proceeds before expenses after underwriting discounts</a:t>
            </a:r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100" b="0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Ethos.</a:t>
            </a:r>
          </a:p>
          <a:p>
            <a:pPr marL="171450" indent="-171450"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(5,398,619 shares, ~51.3%): </a:t>
            </a:r>
            <a:r>
              <a:rPr lang="en-US" sz="1100" b="0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Sold by existing stockholders. Ethos receives no proceeds from the sale of secondary shares.</a:t>
            </a:r>
            <a:endParaRPr lang="en-US" sz="1100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00" b="0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meaningful secondary component indicates that the transaction served partly as </a:t>
            </a:r>
            <a:r>
              <a:rPr lang="en-US" sz="1100" b="1" u="sng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</a:t>
            </a:r>
            <a:r>
              <a:rPr lang="en-US" sz="1100" b="1" i="1" u="sng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liquidity event for early investors and employees</a:t>
            </a:r>
            <a:r>
              <a:rPr lang="en-US" sz="1100" b="0" dirty="0">
                <a:solidFill>
                  <a:schemeClr val="tx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while the Company itself raised only a modest amount of new capital relative to the headline ~$200M deal size</a:t>
            </a:r>
          </a:p>
        </p:txBody>
      </p:sp>
      <p:graphicFrame>
        <p:nvGraphicFramePr>
          <p:cNvPr id="13" name="表格 12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643567528"/>
              </p:ext>
            </p:extLst>
          </p:nvPr>
        </p:nvGraphicFramePr>
        <p:xfrm>
          <a:off x="5591178" y="5014411"/>
          <a:ext cx="5949314" cy="1146170"/>
        </p:xfrm>
        <a:graphic>
          <a:graphicData uri="http://schemas.openxmlformats.org/drawingml/2006/table">
            <a:tbl>
              <a:tblPr/>
              <a:tblGrid>
                <a:gridCol w="3569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Use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Amount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% of Net Proceeds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latin typeface="Aptos" panose="020B0004020202020204" pitchFamily="34" charset="0"/>
                        </a:rPr>
                        <a:t>RSU Net Settlement — tax withholding &amp; remittance obligations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>
                          <a:latin typeface="Aptos" panose="020B0004020202020204" pitchFamily="34" charset="0"/>
                        </a:rPr>
                        <a:t>~$49.1M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~59.4%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>
                          <a:latin typeface="Aptos" panose="020B0004020202020204" pitchFamily="34" charset="0"/>
                        </a:rPr>
                        <a:t>General corporate purposes (working capital, opex, capex)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~$33.5M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~40.6%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Potential acquisitions / strategic investments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dirty="0">
                          <a:latin typeface="Aptos" panose="020B0004020202020204" pitchFamily="34" charset="0"/>
                        </a:rPr>
                        <a:t>Portion of above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1">
                          <a:latin typeface="Aptos" panose="020B0004020202020204" pitchFamily="34" charset="0"/>
                        </a:rPr>
                        <a:t>Total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>
                          <a:latin typeface="Aptos" panose="020B0004020202020204" pitchFamily="34" charset="0"/>
                        </a:rPr>
                        <a:t>~$82.6M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000" b="1" dirty="0">
                          <a:latin typeface="Aptos" panose="020B0004020202020204" pitchFamily="34" charset="0"/>
                        </a:rPr>
                        <a:t>100%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5591179" y="4953092"/>
            <a:ext cx="5940000" cy="12700"/>
          </a:xfrm>
          <a:prstGeom prst="line">
            <a:avLst/>
          </a:prstGeom>
          <a:ln w="19050">
            <a:solidFill>
              <a:srgbClr val="05594F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2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739164" y="3683005"/>
            <a:ext cx="4356000" cy="12700"/>
          </a:xfrm>
          <a:prstGeom prst="line">
            <a:avLst/>
          </a:prstGeom>
          <a:ln w="19050">
            <a:solidFill>
              <a:srgbClr val="05594F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385D3AD2-6B68-2331-1BCA-0E4B6FC3BF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63888" y="1640987"/>
            <a:ext cx="1669032" cy="2332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*Data from LIFE Final S1</a:t>
            </a:r>
            <a:endParaRPr lang="en-US" sz="600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512064"/>
            <a:ext cx="1190371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 Forma Balance Sheet Impact</a:t>
            </a:r>
            <a:endParaRPr lang="en-US" sz="2300" dirty="0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987552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 conversion cleaned up the capital structure &amp; Dual-class voting preserved insider control</a:t>
            </a:r>
            <a:endParaRPr lang="en-US" sz="1150" dirty="0"/>
          </a:p>
        </p:txBody>
      </p:sp>
      <p:sp>
        <p:nvSpPr>
          <p:cNvPr id="5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298448"/>
            <a:ext cx="10972800" cy="0"/>
          </a:xfrm>
          <a:prstGeom prst="line">
            <a:avLst/>
          </a:prstGeom>
          <a:noFill/>
          <a:ln w="12700">
            <a:solidFill>
              <a:srgbClr val="C8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39" y="1463040"/>
            <a:ext cx="6894645" cy="4626864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08278" y="1463040"/>
            <a:ext cx="3935083" cy="4663440"/>
          </a:xfrm>
          <a:prstGeom prst="roundRect">
            <a:avLst>
              <a:gd name="adj" fmla="val 1639"/>
            </a:avLst>
          </a:prstGeom>
          <a:solidFill>
            <a:srgbClr val="0B4D3B"/>
          </a:solidFill>
          <a:ln w="12700">
            <a:solidFill>
              <a:srgbClr val="0B4D3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3818" y="1790700"/>
            <a:ext cx="2468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FE4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still stayed private-like</a:t>
            </a:r>
            <a:endParaRPr lang="en-US" sz="1100" dirty="0"/>
          </a:p>
        </p:txBody>
      </p:sp>
      <p:sp>
        <p:nvSpPr>
          <p:cNvPr id="38" name="Text 3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96386" y="213817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95.5%</a:t>
            </a:r>
            <a:endParaRPr lang="en-US" sz="2800" dirty="0"/>
          </a:p>
        </p:txBody>
      </p:sp>
      <p:sp>
        <p:nvSpPr>
          <p:cNvPr id="39" name="Text 3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58983" y="2183892"/>
            <a:ext cx="172271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8E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post-IPO voting power held by Class B holders</a:t>
            </a:r>
            <a:endParaRPr lang="en-US" sz="1100" dirty="0"/>
          </a:p>
        </p:txBody>
      </p:sp>
      <p:sp>
        <p:nvSpPr>
          <p:cNvPr id="40" name="Shape 38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7909085" y="2705100"/>
            <a:ext cx="3372612" cy="16510"/>
          </a:xfrm>
          <a:prstGeom prst="line">
            <a:avLst/>
          </a:prstGeom>
          <a:noFill/>
          <a:ln w="12700">
            <a:solidFill>
              <a:srgbClr val="3E6D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3818" y="290626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9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Founders</a:t>
            </a:r>
            <a:endParaRPr lang="en-US" sz="1200" dirty="0"/>
          </a:p>
        </p:txBody>
      </p:sp>
      <p:sp>
        <p:nvSpPr>
          <p:cNvPr id="42" name="Text 4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412766" y="287883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38.5% voting power</a:t>
            </a:r>
            <a:endParaRPr lang="en-US" sz="1310" dirty="0"/>
          </a:p>
        </p:txBody>
      </p:sp>
      <p:sp>
        <p:nvSpPr>
          <p:cNvPr id="43" name="Text 4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3818" y="336346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9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 + Sequoia</a:t>
            </a:r>
            <a:endParaRPr lang="en-US" sz="1200" dirty="0"/>
          </a:p>
        </p:txBody>
      </p:sp>
      <p:sp>
        <p:nvSpPr>
          <p:cNvPr id="44" name="Text 4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29886" y="3336036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57.0% voting power</a:t>
            </a:r>
            <a:endParaRPr lang="en-US" sz="1310" dirty="0"/>
          </a:p>
        </p:txBody>
      </p:sp>
      <p:sp>
        <p:nvSpPr>
          <p:cNvPr id="45" name="Shape 4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7921786" y="3756660"/>
            <a:ext cx="3372612" cy="2540"/>
          </a:xfrm>
          <a:prstGeom prst="line">
            <a:avLst/>
          </a:prstGeom>
          <a:noFill/>
          <a:ln w="12700">
            <a:solidFill>
              <a:srgbClr val="3E6D6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3818" y="3893820"/>
            <a:ext cx="287274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B8D9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ownership after the offering</a:t>
            </a:r>
            <a:endParaRPr lang="en-US" sz="1220" dirty="0"/>
          </a:p>
        </p:txBody>
      </p:sp>
      <p:sp>
        <p:nvSpPr>
          <p:cNvPr id="47" name="Text 4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3818" y="4213860"/>
            <a:ext cx="3611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investors own ~17% of total shares</a:t>
            </a:r>
            <a:endParaRPr lang="en-US" sz="1500" dirty="0"/>
          </a:p>
        </p:txBody>
      </p:sp>
      <p:sp>
        <p:nvSpPr>
          <p:cNvPr id="48" name="Text 4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3818" y="453390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E1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shares outstanding after the offering: ~62.6m</a:t>
            </a:r>
            <a:endParaRPr lang="en-US" sz="1220" dirty="0"/>
          </a:p>
        </p:txBody>
      </p:sp>
      <p:sp>
        <p:nvSpPr>
          <p:cNvPr id="49" name="Text 4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3818" y="5036820"/>
            <a:ext cx="361188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i="1" dirty="0">
                <a:solidFill>
                  <a:srgbClr val="D8E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public investors bought into a cleaner capital structure, not into a more governable one.</a:t>
            </a:r>
            <a:endParaRPr lang="en-US" sz="1220" dirty="0"/>
          </a:p>
        </p:txBody>
      </p:sp>
      <p:sp>
        <p:nvSpPr>
          <p:cNvPr id="50" name="Slide Number Placeholder 0"/>
          <p:cNvSpPr>
            <a:spLocks noGrp="1" noRot="1" noMove="1" noResize="1" noEditPoints="1" noAdjustHandles="1" noChangeArrowheads="1" noChangeShapeType="1"/>
          </p:cNvSpPr>
          <p:nvPr>
            <p:ph type="sldNum" sz="quarter" idx="4294967295"/>
          </p:nvPr>
        </p:nvSpPr>
        <p:spPr>
          <a:xfrm>
            <a:off x="11704320" y="6419088"/>
            <a:ext cx="228600" cy="164592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E7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53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31089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IPO TRANSACTION SUMMARY</a:t>
            </a:r>
            <a:endParaRPr lang="en-US" sz="900" dirty="0"/>
          </a:p>
        </p:txBody>
      </p:sp>
      <p:graphicFrame>
        <p:nvGraphicFramePr>
          <p:cNvPr id="2" name="表格 1"/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4128271552"/>
              </p:ext>
            </p:extLst>
          </p:nvPr>
        </p:nvGraphicFramePr>
        <p:xfrm>
          <a:off x="756285" y="1654810"/>
          <a:ext cx="6480000" cy="4213214"/>
        </p:xfrm>
        <a:graphic>
          <a:graphicData uri="http://schemas.openxmlformats.org/drawingml/2006/table">
            <a:tbl>
              <a:tblPr/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Balance sheet item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Pre-IPO (actual)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IPO adjustment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Pro forma post-IPO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ASSETS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 b="1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Cash, cash equivalents &amp; investments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$161,191k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+$97,426k (primary gross)-$41,800k (RSU tax withholding)-$18,526k (underwriting &amp; expenses)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$198,315k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latin typeface="Aptos" panose="020B0004020202020204" pitchFamily="34" charset="0"/>
                        </a:rPr>
                        <a:t>Total assets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+$37,100k net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ptos" panose="020B0004020202020204" pitchFamily="34" charset="0"/>
                        </a:rPr>
                        <a:t>Increased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LIABILITIES &amp; EQUITY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endParaRPr sz="11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endParaRPr sz="1100" b="1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endParaRPr sz="11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ptos" panose="020B0004020202020204" pitchFamily="34" charset="0"/>
                        </a:rPr>
                        <a:t>Redeemable preferred stock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$403,997k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-$403,997k (Preferred Conversion to common equity at IPO)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ptos" panose="020B0004020202020204" pitchFamily="34" charset="0"/>
                        </a:rPr>
                        <a:t>$0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ptos" panose="020B0004020202020204" pitchFamily="34" charset="0"/>
                        </a:rPr>
                        <a:t>Long-term debt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ptos" panose="020B0004020202020204" pitchFamily="34" charset="0"/>
                        </a:rPr>
                        <a:t>Minimal / none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ptos" panose="020B0004020202020204" pitchFamily="34" charset="0"/>
                        </a:rPr>
                        <a:t>No change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ptos" panose="020B0004020202020204" pitchFamily="34" charset="0"/>
                        </a:rPr>
                        <a:t>RSU tax withholding liability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$41,800k (accrued)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-$41,800k (settled in cash from IPO proceeds)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Additional paid-in capital (APIC)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+$97,426k (primary gross proceeds)+$403,997k (preferred conversion)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Increased by ~$501,423k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latin typeface="Aptos" panose="020B0004020202020204" pitchFamily="34" charset="0"/>
                        </a:rPr>
                        <a:t>Stockholders' equity (deficit)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$(48,918)k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+$440,778k net (preferred conv. + proceeds - RSU tax)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latin typeface="Aptos" panose="020B0004020202020204" pitchFamily="34" charset="0"/>
                        </a:rPr>
                        <a:t>$391,860k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Total liabilities &amp; equity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Balanced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00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Balanced</a:t>
                      </a:r>
                    </a:p>
                  </a:txBody>
                  <a:tcPr marL="38417" marR="38417" marT="38417" marB="38417" anchor="ctr">
                    <a:lnL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559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2">
            <a:extLst>
              <a:ext uri="{FF2B5EF4-FFF2-40B4-BE49-F238E27FC236}">
                <a16:creationId xmlns:a16="http://schemas.microsoft.com/office/drawing/2014/main" id="{4C343103-A022-A037-6668-6782C1CE50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81898" y="5870448"/>
            <a:ext cx="1669032" cy="2332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*Data from LIFE Final S1</a:t>
            </a:r>
            <a:endParaRPr lang="en-US" sz="6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512064"/>
            <a:ext cx="1190371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Discussion: Could the IPO Have Been Larger</a:t>
            </a:r>
            <a:endParaRPr lang="en-US" sz="2300" dirty="0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987552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 conversion cleaned up the capital structure; dual-class voting preserved insider control</a:t>
            </a:r>
            <a:endParaRPr lang="en-US" sz="1150" dirty="0"/>
          </a:p>
        </p:txBody>
      </p:sp>
      <p:sp>
        <p:nvSpPr>
          <p:cNvPr id="5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298448"/>
            <a:ext cx="10972800" cy="0"/>
          </a:xfrm>
          <a:prstGeom prst="line">
            <a:avLst/>
          </a:prstGeom>
          <a:noFill/>
          <a:ln w="12700">
            <a:solidFill>
              <a:srgbClr val="C8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lide Number Placeholder 0"/>
          <p:cNvSpPr>
            <a:spLocks noGrp="1" noRot="1" noMove="1" noResize="1" noEditPoints="1" noAdjustHandles="1" noChangeArrowheads="1" noChangeShapeType="1"/>
          </p:cNvSpPr>
          <p:nvPr>
            <p:ph type="sldNum" sz="quarter" idx="4294967295"/>
          </p:nvPr>
        </p:nvSpPr>
        <p:spPr>
          <a:xfrm>
            <a:off x="11704320" y="6419088"/>
            <a:ext cx="228600" cy="164592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E7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58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31089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IPO TRANSACTION SUMMARY</a:t>
            </a:r>
            <a:endParaRPr lang="en-US" sz="900" dirty="0"/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5BF72588-67AB-B906-97AE-53BE5447EB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0144" y="1549653"/>
            <a:ext cx="55473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453B1E9-3B7B-A875-1DEE-9108CE60D6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0144" y="1549653"/>
            <a:ext cx="5547360" cy="487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E4EA69B8-D327-3398-31BD-B8DBC952F9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0144" y="1598421"/>
            <a:ext cx="5547360" cy="463296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80AEDC8-E90F-015D-0DA4-040B2FB070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5216" y="1659381"/>
            <a:ext cx="52791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65F46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✚  Arguments for a larger deal</a:t>
            </a:r>
            <a:endParaRPr lang="en-US" sz="1467" dirty="0">
              <a:latin typeface="Aptos" panose="020B0004020202020204" pitchFamily="34" charset="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2375AE8D-8780-1324-220D-31EF879F60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9042" y="2228033"/>
            <a:ext cx="72000" cy="720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9CC31A9-887A-19F5-CAF4-B6653A902B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0288" y="2123136"/>
            <a:ext cx="508406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0F4C3A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Revenue growth was compelling: </a:t>
            </a:r>
            <a:r>
              <a:rPr lang="en-US" sz="1133" dirty="0">
                <a:solidFill>
                  <a:srgbClr val="334155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+52% YoY to $387M (2025E), ~98% gross margin, EBITDA inflection from 4% to 23%</a:t>
            </a:r>
            <a:endParaRPr lang="en-US" sz="1133" dirty="0">
              <a:latin typeface="Aptos" panose="020B0004020202020204" pitchFamily="34" charset="0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10DAFB0A-6027-FA8F-135E-A5CD75C11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9042" y="2703521"/>
            <a:ext cx="72000" cy="720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1A3DE6AE-640D-077A-E356-6FAAEE5B61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0288" y="2598624"/>
            <a:ext cx="508406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0F4C3A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Market appetite was likely strong: </a:t>
            </a:r>
            <a:r>
              <a:rPr lang="en-US" sz="1133" dirty="0">
                <a:solidFill>
                  <a:srgbClr val="334155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Scaled, cash-generative InsurTech platforms are scarce, indicating that institutional demand existed</a:t>
            </a:r>
            <a:endParaRPr lang="en-US" sz="1133" dirty="0">
              <a:latin typeface="Aptos" panose="020B0004020202020204" pitchFamily="34" charset="0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9BFFE83D-7814-571D-C20B-90FE030B29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9042" y="3179009"/>
            <a:ext cx="72000" cy="720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4A8A13D9-691B-FF32-5B34-D3EB1BBD47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0288" y="3074112"/>
            <a:ext cx="508406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0F4C3A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No overallotment option granted: </a:t>
            </a:r>
            <a:r>
              <a:rPr lang="en-US" sz="1133" dirty="0">
                <a:solidFill>
                  <a:srgbClr val="334155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Left upside on the table if the book was oversubscribed and demand exceeded supply</a:t>
            </a:r>
            <a:endParaRPr lang="en-US" sz="1133" dirty="0">
              <a:latin typeface="Aptos" panose="020B0004020202020204" pitchFamily="34" charset="0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C9AA00B9-4C85-8CFD-BBC4-35550AB596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9042" y="3654497"/>
            <a:ext cx="72000" cy="720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CDC8BE65-4149-9248-6B96-908C91D65D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0288" y="3549600"/>
            <a:ext cx="508406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0F4C3A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Sequoia &amp; Accel retained 100%: </a:t>
            </a:r>
            <a:r>
              <a:rPr lang="en-US" sz="1133" dirty="0">
                <a:solidFill>
                  <a:srgbClr val="334155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Signals conviction in further upside. Had they sold, the deal could have easily exceeded $300M</a:t>
            </a:r>
            <a:endParaRPr lang="en-US" sz="1133" dirty="0">
              <a:latin typeface="Aptos" panose="020B0004020202020204" pitchFamily="34" charset="0"/>
            </a:endParaRP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B78147B7-1568-8CBD-7406-85AB8B7FFC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83808" y="1549653"/>
            <a:ext cx="5718048" cy="2560320"/>
          </a:xfrm>
          <a:prstGeom prst="rect">
            <a:avLst/>
          </a:prstGeom>
          <a:solidFill>
            <a:srgbClr val="064E3B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FEF2B9EB-967D-1D90-2318-37526A2730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83807" y="1552701"/>
            <a:ext cx="5718047" cy="45719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CABA4BF8-197B-ED78-C3F7-F7912285E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83808" y="1598421"/>
            <a:ext cx="5718048" cy="463296"/>
          </a:xfrm>
          <a:prstGeom prst="rect">
            <a:avLst/>
          </a:prstGeom>
          <a:solidFill>
            <a:srgbClr val="053828"/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29EBA2FC-A7CC-72EB-88D9-114697F05B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8880" y="1659381"/>
            <a:ext cx="527913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✕  Arguments against a larger deal</a:t>
            </a:r>
            <a:endParaRPr lang="en-US" sz="1467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372894DD-89DD-5ECE-DEE8-A312DD4DB7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66688" y="2195598"/>
            <a:ext cx="72000" cy="72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47946499-B9CF-38A2-EE50-5ED25B12C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568" y="2134638"/>
            <a:ext cx="5316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chemeClr val="bg1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No capital need: </a:t>
            </a:r>
            <a:r>
              <a:rPr lang="en-US" sz="1067" dirty="0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Ethos was already GAAP profitable (19% NI margin FY2024). A large primary would signal dilution without purpose</a:t>
            </a:r>
            <a:endParaRPr lang="en-US" sz="1067" dirty="0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5FA0F54C-2E3E-64F1-F9AF-C526EB988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92091" y="2581489"/>
            <a:ext cx="72000" cy="72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CA2710D6-B534-2826-52D6-3A8889E4D5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568" y="2512590"/>
            <a:ext cx="5316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chemeClr val="bg1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~51% was secondary: </a:t>
            </a:r>
            <a:r>
              <a:rPr lang="en-US" sz="1067" dirty="0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The Company was already limiting its own raise, so a larger primary would have created an awkward narrative</a:t>
            </a:r>
            <a:endParaRPr lang="en-US" sz="1067" dirty="0">
              <a:latin typeface="Aptos" panose="020B0004020202020204" pitchFamily="34" charset="0"/>
            </a:endParaRPr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FA7B23AC-3B18-2ED9-2956-2F710E5FC4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92091" y="2959441"/>
            <a:ext cx="72000" cy="72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EFC156AE-BD45-0E3B-A184-2499602744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568" y="2890542"/>
            <a:ext cx="5316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chemeClr val="bg1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RSU Settlement ate proceeds: </a:t>
            </a:r>
            <a:r>
              <a:rPr lang="en-US" sz="1067" dirty="0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~$49.1M of the primary was pre-committed to tax obligations, leaving only ~$33.5M truly investable</a:t>
            </a:r>
            <a:endParaRPr lang="en-US" sz="1067" dirty="0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96E3DEC3-3E77-1E05-296E-02E4FCE3F7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92091" y="3337393"/>
            <a:ext cx="72000" cy="72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E26EA4B4-B45B-2D8D-2316-95C755AC77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568" y="3224043"/>
            <a:ext cx="5316982" cy="44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chemeClr val="bg1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Tight float: </a:t>
            </a:r>
            <a:r>
              <a:rPr lang="en-US" sz="1067" dirty="0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Modest new-money issuance: only 5.1M primary shares were issued, limiting the amount of fresh capital raised even though 10.5M total shares were sold in the offering</a:t>
            </a:r>
            <a:endParaRPr lang="en-US" sz="1067" dirty="0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0F8AFAE7-EBAA-B823-6C0B-80CDACD686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92091" y="3715345"/>
            <a:ext cx="72000" cy="72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BB9EAE49-35D8-CDBA-4E49-81E77FBF81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568" y="3640096"/>
            <a:ext cx="5316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chemeClr val="bg1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Governance overhang: </a:t>
            </a:r>
            <a:r>
              <a:rPr lang="en-US" sz="1067" dirty="0">
                <a:solidFill>
                  <a:schemeClr val="accent1">
                    <a:lumMod val="20000"/>
                    <a:lumOff val="80000"/>
                  </a:schemeClr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Class B holders retained ~95.5% of post-IPO voting power, limiting the appeal to governance-sensitive investors</a:t>
            </a:r>
            <a:endParaRPr lang="en-US" sz="1067" dirty="0">
              <a:solidFill>
                <a:schemeClr val="accent1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2B4B342B-73E6-2BCF-D93D-F41CDB1E0E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0144" y="4292380"/>
            <a:ext cx="11411710" cy="162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0DB5DF26-1A7B-D9A2-05E1-15894B472D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0144" y="4292380"/>
            <a:ext cx="11411710" cy="45719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6785500C-7461-D810-0CAF-91A81674A5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5215" y="4449550"/>
            <a:ext cx="11089775" cy="164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B2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Market Reception &amp; Post-IPO Performance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3F05C196-D988-1F90-540B-EEB1F825D4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5215" y="4796260"/>
            <a:ext cx="11089775" cy="278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334155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The Ethos IPO priced at $19.00, at the midpoint of the $18–$20 range, a neutral signal indicating the book was covered but not significantly oversubscribed. This is typical for a ~51% secondary deal where institutional buyers are essentially funding existing investor exits</a:t>
            </a:r>
            <a:endParaRPr lang="en-US" sz="1133" dirty="0">
              <a:latin typeface="Aptos" panose="020B0004020202020204" pitchFamily="34" charset="0"/>
            </a:endParaRPr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5996A386-52E7-2EFB-E9CB-3BF8D0FF9C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5215" y="5201686"/>
            <a:ext cx="4295335" cy="11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0D9488"/>
                </a:solidFill>
                <a:latin typeface="Aptos" panose="020B0004020202020204" pitchFamily="34" charset="0"/>
              </a:rPr>
              <a:t>Key post-IPO watchpoints:</a:t>
            </a:r>
            <a:endParaRPr lang="en-US" sz="1067" dirty="0">
              <a:latin typeface="Aptos" panose="020B0004020202020204" pitchFamily="34" charset="0"/>
            </a:endParaRPr>
          </a:p>
        </p:txBody>
      </p:sp>
      <p:sp>
        <p:nvSpPr>
          <p:cNvPr id="44" name="Shape 38">
            <a:extLst>
              <a:ext uri="{FF2B5EF4-FFF2-40B4-BE49-F238E27FC236}">
                <a16:creationId xmlns:a16="http://schemas.microsoft.com/office/drawing/2014/main" id="{2477FE92-8AE7-509F-6271-98DE010856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5216" y="5445904"/>
            <a:ext cx="312388" cy="50639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3DE0C4AC-C9A5-18F1-E2CD-E51BB0F116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48689" y="5372752"/>
            <a:ext cx="10660241" cy="164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334155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Governance overhang (95.4% voting control, no overallotment) likely limited price tension in the book</a:t>
            </a:r>
            <a:endParaRPr lang="en-US" sz="1133" dirty="0">
              <a:latin typeface="Aptos" panose="020B0004020202020204" pitchFamily="34" charset="0"/>
            </a:endParaRPr>
          </a:p>
        </p:txBody>
      </p:sp>
      <p:sp>
        <p:nvSpPr>
          <p:cNvPr id="46" name="Shape 40">
            <a:extLst>
              <a:ext uri="{FF2B5EF4-FFF2-40B4-BE49-F238E27FC236}">
                <a16:creationId xmlns:a16="http://schemas.microsoft.com/office/drawing/2014/main" id="{0104F58F-E554-D498-8875-4D5F9E8B91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5216" y="5634312"/>
            <a:ext cx="312388" cy="50639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DE457D33-97AF-A0E2-16C8-09B0F81B6B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48689" y="5561160"/>
            <a:ext cx="10660241" cy="164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334155"/>
                </a:solidFill>
                <a:latin typeface="Aptos" panose="020B0004020202020204" pitchFamily="34" charset="0"/>
                <a:ea typeface="Calibri Light" pitchFamily="34" charset="-122"/>
                <a:cs typeface="Calibri Light" pitchFamily="34" charset="-120"/>
              </a:rPr>
              <a:t>7.4% free float constrains secondary market liquidity, limiting participation from institutional funds with minimum size requirements</a:t>
            </a:r>
            <a:endParaRPr lang="en-US" sz="1133" dirty="0">
              <a:latin typeface="Aptos" panose="020B0004020202020204" pitchFamily="34" charset="0"/>
            </a:endParaRPr>
          </a:p>
        </p:txBody>
      </p:sp>
      <p:sp>
        <p:nvSpPr>
          <p:cNvPr id="48" name="Shape 42">
            <a:extLst>
              <a:ext uri="{FF2B5EF4-FFF2-40B4-BE49-F238E27FC236}">
                <a16:creationId xmlns:a16="http://schemas.microsoft.com/office/drawing/2014/main" id="{F1BF868C-2F47-5EC6-4AC6-61E98B8A40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0144" y="5894773"/>
            <a:ext cx="11411710" cy="367482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49" name="Shape 43">
            <a:extLst>
              <a:ext uri="{FF2B5EF4-FFF2-40B4-BE49-F238E27FC236}">
                <a16:creationId xmlns:a16="http://schemas.microsoft.com/office/drawing/2014/main" id="{E224DD6B-79C2-1C31-214C-0DCFA8BC3B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0146" y="5905079"/>
            <a:ext cx="97534" cy="3571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 sz="2400">
              <a:latin typeface="Aptos" panose="020B0004020202020204" pitchFamily="34" charset="0"/>
            </a:endParaRPr>
          </a:p>
        </p:txBody>
      </p:sp>
      <p:sp>
        <p:nvSpPr>
          <p:cNvPr id="51" name="Text 44">
            <a:extLst>
              <a:ext uri="{FF2B5EF4-FFF2-40B4-BE49-F238E27FC236}">
                <a16:creationId xmlns:a16="http://schemas.microsoft.com/office/drawing/2014/main" id="{E7F5C7A6-57C6-999F-8733-650ABA0784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1588" y="5925714"/>
            <a:ext cx="11167872" cy="317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92400E"/>
                </a:solidFill>
                <a:latin typeface="Aptos" panose="020B0004020202020204" pitchFamily="34" charset="0"/>
              </a:rPr>
              <a:t>⚠  Lock-up overhang: a standard 180-day lock-up remained in place, but Tier 1 / Tier 2 early-release provisions could release 25% of eligible securities if the stock traded at least 25% above IPO price for 5 of 10 trading days, subject to timing conditions</a:t>
            </a:r>
            <a:endParaRPr lang="en-US" sz="1067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310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COMPARABLE COMPANIES</a:t>
            </a:r>
            <a:endParaRPr lang="en-US" sz="900" dirty="0"/>
          </a:p>
        </p:txBody>
      </p:sp>
      <p:sp>
        <p:nvSpPr>
          <p:cNvPr id="3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493176"/>
            <a:ext cx="9617710" cy="49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332B"/>
                </a:solidFill>
                <a:latin typeface="Aptos Display" pitchFamily="34" charset="0"/>
              </a:rPr>
              <a:t>Comp-selection Principle &amp; Brief Intro</a:t>
            </a:r>
            <a:endParaRPr lang="en-US" sz="2300" dirty="0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9875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public company perfectly matches Ethos, so the comp set should be weighted rather than mechanically averaged</a:t>
            </a:r>
            <a:endParaRPr lang="en-US" sz="1150" dirty="0"/>
          </a:p>
        </p:txBody>
      </p:sp>
      <p:sp>
        <p:nvSpPr>
          <p:cNvPr id="5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298448"/>
            <a:ext cx="11160000" cy="0"/>
          </a:xfrm>
          <a:prstGeom prst="line">
            <a:avLst/>
          </a:prstGeom>
          <a:noFill/>
          <a:ln w="12700">
            <a:solidFill>
              <a:srgbClr val="C8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00016" y="1452288"/>
            <a:ext cx="7004304" cy="3153773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00016" y="4735685"/>
            <a:ext cx="7004304" cy="15537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452289"/>
            <a:ext cx="3813048" cy="4837176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19664" y="2032872"/>
            <a:ext cx="2834640" cy="247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Goosehead Insurance (GSHD)</a:t>
            </a:r>
            <a:endParaRPr lang="en-US" sz="1600" dirty="0"/>
          </a:p>
        </p:txBody>
      </p:sp>
      <p:sp>
        <p:nvSpPr>
          <p:cNvPr id="11" name="Text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19664" y="2334583"/>
            <a:ext cx="3183450" cy="5382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Independent, tech-enabled insurance distribution model; useful analog for capital-light economics and agent productivity</a:t>
            </a:r>
            <a:endParaRPr lang="en-US" sz="1320" dirty="0"/>
          </a:p>
        </p:txBody>
      </p:sp>
      <p:sp>
        <p:nvSpPr>
          <p:cNvPr id="12" name="Text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19664" y="3002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GoHealth (GOCO)</a:t>
            </a:r>
            <a:endParaRPr lang="en-US" sz="1600" dirty="0"/>
          </a:p>
        </p:txBody>
      </p:sp>
      <p:sp>
        <p:nvSpPr>
          <p:cNvPr id="13" name="Text 1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19663" y="3304372"/>
            <a:ext cx="3157790" cy="11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insurance marketplace focused on comparing, advising on, and enrolling customers in Medicare and other health insurance products; digitizes and simplifies the complex insurance purchasing process by connecting consumers with insurance providers through a platform</a:t>
            </a:r>
            <a:endParaRPr lang="en-US" sz="12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C1AB438-C38C-DFB2-5DD5-FC34CEA54EC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707636" y="1465448"/>
            <a:ext cx="3412112" cy="450274"/>
            <a:chOff x="841248" y="4937140"/>
            <a:chExt cx="2572863" cy="345995"/>
          </a:xfrm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grpSpPr>
        <p:sp>
          <p:nvSpPr>
            <p:cNvPr id="14" name="Shape 1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1248" y="4937140"/>
              <a:ext cx="2560320" cy="345990"/>
            </a:xfrm>
            <a:prstGeom prst="roundRect">
              <a:avLst>
                <a:gd name="adj" fmla="val 8000"/>
              </a:avLst>
            </a:prstGeom>
            <a:solidFill>
              <a:srgbClr val="E7F3EE"/>
            </a:solidFill>
            <a:ln w="12700">
              <a:solidFill>
                <a:srgbClr val="E7F3E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1249" y="4969626"/>
              <a:ext cx="2501563" cy="2788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80" b="1" dirty="0">
                  <a:solidFill>
                    <a:srgbClr val="143A3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Tier 1: Use as the primary valuation reference points</a:t>
              </a:r>
              <a:endParaRPr lang="en-US" sz="1080" dirty="0"/>
            </a:p>
          </p:txBody>
        </p:sp>
        <p:sp>
          <p:nvSpPr>
            <p:cNvPr id="56" name="Shape 12">
              <a:extLst>
                <a:ext uri="{FF2B5EF4-FFF2-40B4-BE49-F238E27FC236}">
                  <a16:creationId xmlns:a16="http://schemas.microsoft.com/office/drawing/2014/main" id="{807D9DB0-54BE-FD73-954C-90AC4A6C1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3791" y="4937143"/>
              <a:ext cx="2560320" cy="345990"/>
            </a:xfrm>
            <a:prstGeom prst="roundRect">
              <a:avLst>
                <a:gd name="adj" fmla="val 8000"/>
              </a:avLst>
            </a:prstGeom>
            <a:solidFill>
              <a:srgbClr val="E7F3EE"/>
            </a:solidFill>
            <a:ln w="12700">
              <a:solidFill>
                <a:srgbClr val="E7F3EE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7" name="Text 13">
              <a:extLst>
                <a:ext uri="{FF2B5EF4-FFF2-40B4-BE49-F238E27FC236}">
                  <a16:creationId xmlns:a16="http://schemas.microsoft.com/office/drawing/2014/main" id="{17F5A976-EE8F-79DB-C0A0-09B06C8D6A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3792" y="4969628"/>
              <a:ext cx="2501563" cy="2788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80" b="1" dirty="0">
                  <a:solidFill>
                    <a:srgbClr val="143A3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Tier 1: Use as the primary valuation reference points</a:t>
              </a:r>
              <a:endParaRPr lang="en-US" sz="1080" dirty="0"/>
            </a:p>
          </p:txBody>
        </p:sp>
      </p:grpSp>
      <p:sp>
        <p:nvSpPr>
          <p:cNvPr id="17" name="Text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56048" y="5199019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MediaAlpha (MAX)</a:t>
            </a:r>
            <a:endParaRPr lang="en-US" sz="1600" dirty="0"/>
          </a:p>
        </p:txBody>
      </p:sp>
      <p:sp>
        <p:nvSpPr>
          <p:cNvPr id="18" name="Text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56048" y="5426007"/>
            <a:ext cx="3163700" cy="80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insurance customer acquisition platform that connects carriers with high-intent online consumers, with greater emphasis on upstream traffic generation and customer acquisition</a:t>
            </a:r>
            <a:endParaRPr lang="en-US" sz="1320" dirty="0"/>
          </a:p>
        </p:txBody>
      </p:sp>
      <p:sp>
        <p:nvSpPr>
          <p:cNvPr id="19" name="Text 1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85570" y="1649003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EverQuote (EVER)</a:t>
            </a:r>
            <a:endParaRPr lang="en-US" sz="1600" dirty="0"/>
          </a:p>
        </p:txBody>
      </p:sp>
      <p:sp>
        <p:nvSpPr>
          <p:cNvPr id="20" name="Text 1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3595" y="1888211"/>
            <a:ext cx="3000745" cy="4915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online insurance shopping platform that connects consumers with carriers and agents; a technology-enabled insurance marketplace</a:t>
            </a:r>
            <a:endParaRPr lang="en-US" sz="132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9F1E75-996B-5C3C-75BD-0580C7550FC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7660" y="5230503"/>
            <a:ext cx="3476862" cy="930811"/>
            <a:chOff x="8119872" y="3854196"/>
            <a:chExt cx="3246120" cy="1131417"/>
          </a:xfrm>
        </p:grpSpPr>
        <p:sp>
          <p:nvSpPr>
            <p:cNvPr id="26" name="Shape 2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19872" y="3854196"/>
              <a:ext cx="3246120" cy="1131417"/>
            </a:xfrm>
            <a:prstGeom prst="roundRect">
              <a:avLst>
                <a:gd name="adj" fmla="val 4348"/>
              </a:avLst>
            </a:prstGeom>
            <a:solidFill>
              <a:srgbClr val="E8EFEC"/>
            </a:solidFill>
            <a:ln w="12700">
              <a:solidFill>
                <a:srgbClr val="E7F3E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FB66E1C-D2DD-F1C8-7727-93C011C6A10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232951" y="3950507"/>
              <a:ext cx="2852928" cy="936908"/>
              <a:chOff x="8232951" y="3950507"/>
              <a:chExt cx="2852928" cy="936908"/>
            </a:xfrm>
          </p:grpSpPr>
          <p:sp>
            <p:nvSpPr>
              <p:cNvPr id="27" name="Text 25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232953" y="3950507"/>
                <a:ext cx="2073346" cy="2661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F7A5C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Comp-selection principle</a:t>
                </a:r>
                <a:endParaRPr lang="en-US" sz="1400" dirty="0"/>
              </a:p>
            </p:txBody>
          </p:sp>
          <p:sp>
            <p:nvSpPr>
              <p:cNvPr id="28" name="Text 26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232951" y="4333170"/>
                <a:ext cx="2852928" cy="5542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1260" dirty="0">
                    <a:solidFill>
                      <a:srgbClr val="143A3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Apply a premium for capital-light growth and platform depth, but a discount for governance concentration and accounting complexity</a:t>
                </a:r>
                <a:endParaRPr lang="en-US" sz="1260" dirty="0"/>
              </a:p>
            </p:txBody>
          </p:sp>
        </p:grpSp>
      </p:grpSp>
      <p:sp>
        <p:nvSpPr>
          <p:cNvPr id="31" name="Slide Number Placeholder 0"/>
          <p:cNvSpPr>
            <a:spLocks noGrp="1" noRot="1" noMove="1" noResize="1" noEditPoints="1" noAdjustHandles="1" noChangeArrowheads="1" noChangeShapeType="1"/>
          </p:cNvSpPr>
          <p:nvPr>
            <p:ph type="sldNum" sz="quarter" idx="4294967295"/>
          </p:nvPr>
        </p:nvSpPr>
        <p:spPr>
          <a:xfrm>
            <a:off x="11704320" y="641908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E7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BA6D614D-F7A7-3624-60CD-501897ABD9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20466" y="5052379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Lemonade (LMND)</a:t>
            </a:r>
            <a:endParaRPr lang="en-US" sz="16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EF71438B-F807-6700-98AA-7E5DFED9E2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20465" y="5309738"/>
            <a:ext cx="3044681" cy="90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digital insurance company centered on AI, data, and a digital-native user experience, while also underwriting and offering its own insurance products; it is closer to a risk-bearing insurer</a:t>
            </a:r>
            <a:endParaRPr lang="en-US" sz="132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6871CB23-37B3-21BE-5296-BCF2DB1847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85570" y="245620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SelectQuote (SLQT)</a:t>
            </a:r>
            <a:endParaRPr lang="en-US" sz="16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627E238A-D82B-E7EB-41C7-0B98CDFB73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85570" y="2682641"/>
            <a:ext cx="3091552" cy="74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multi-product insurance distribution platform covering life, senior/Medicare, and auto &amp; home insurance, helping customers compare and purchase policies through advisors and technology systems</a:t>
            </a:r>
            <a:endParaRPr lang="en-US" sz="1320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8358B231-DF05-B0F0-4579-9E0339C50B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85570" y="3494339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TWF Inc (TWFG)</a:t>
            </a:r>
            <a:endParaRPr lang="en-US" sz="16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70557256-11A1-6461-76CA-1BBCBCAC36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85570" y="3682686"/>
            <a:ext cx="3157790" cy="8663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83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independent insurance distribution and agency platform that emphasizes serving customers through an agent network and providing platform support to partners; it is more oriented toward traditional agency network expansion</a:t>
            </a:r>
            <a:endParaRPr lang="en-US" sz="1320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21A2591-A2C2-F1BD-254C-367F36B01CA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709922" y="4742124"/>
            <a:ext cx="2216404" cy="366308"/>
            <a:chOff x="841248" y="4937140"/>
            <a:chExt cx="2572863" cy="345993"/>
          </a:xfrm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grpSpPr>
        <p:sp>
          <p:nvSpPr>
            <p:cNvPr id="68" name="Shape 12">
              <a:extLst>
                <a:ext uri="{FF2B5EF4-FFF2-40B4-BE49-F238E27FC236}">
                  <a16:creationId xmlns:a16="http://schemas.microsoft.com/office/drawing/2014/main" id="{24065868-EAF5-AA39-1E22-E34DB6465A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1248" y="4937140"/>
              <a:ext cx="2560320" cy="345990"/>
            </a:xfrm>
            <a:prstGeom prst="roundRect">
              <a:avLst>
                <a:gd name="adj" fmla="val 8000"/>
              </a:avLst>
            </a:prstGeom>
            <a:solidFill>
              <a:srgbClr val="E7F3EE"/>
            </a:solidFill>
            <a:ln w="12700">
              <a:solidFill>
                <a:srgbClr val="E7F3E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13">
              <a:extLst>
                <a:ext uri="{FF2B5EF4-FFF2-40B4-BE49-F238E27FC236}">
                  <a16:creationId xmlns:a16="http://schemas.microsoft.com/office/drawing/2014/main" id="{15972BC6-B41C-03A3-6A13-E6721FFD94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41249" y="4969626"/>
              <a:ext cx="2501563" cy="2788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10000"/>
            </a:bodyPr>
            <a:lstStyle/>
            <a:p>
              <a:pPr marL="0" indent="0">
                <a:buNone/>
              </a:pPr>
              <a:r>
                <a:rPr lang="en-US" sz="1080" b="1" dirty="0">
                  <a:solidFill>
                    <a:srgbClr val="143A3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Tier 1: Use as the primary valuation reference points</a:t>
              </a:r>
              <a:endParaRPr lang="en-US" sz="1080" dirty="0"/>
            </a:p>
          </p:txBody>
        </p:sp>
        <p:sp>
          <p:nvSpPr>
            <p:cNvPr id="70" name="Shape 12">
              <a:extLst>
                <a:ext uri="{FF2B5EF4-FFF2-40B4-BE49-F238E27FC236}">
                  <a16:creationId xmlns:a16="http://schemas.microsoft.com/office/drawing/2014/main" id="{B730F82B-3497-C923-9B50-B1973A9AA3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3791" y="4937143"/>
              <a:ext cx="2560320" cy="345990"/>
            </a:xfrm>
            <a:prstGeom prst="roundRect">
              <a:avLst>
                <a:gd name="adj" fmla="val 8000"/>
              </a:avLst>
            </a:prstGeom>
            <a:solidFill>
              <a:srgbClr val="E7F3EE"/>
            </a:solidFill>
            <a:ln w="12700">
              <a:solidFill>
                <a:srgbClr val="E7F3E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Text 13">
              <a:extLst>
                <a:ext uri="{FF2B5EF4-FFF2-40B4-BE49-F238E27FC236}">
                  <a16:creationId xmlns:a16="http://schemas.microsoft.com/office/drawing/2014/main" id="{A4F0913D-E79F-0A9E-7C42-A0FE8F4F09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3792" y="4969628"/>
              <a:ext cx="2501563" cy="2788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80" b="1" dirty="0">
                  <a:solidFill>
                    <a:srgbClr val="143A3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Tier 2: Use as boundary markers</a:t>
              </a:r>
              <a:endParaRPr lang="en-US" sz="1080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55A46EB-1C1B-CB5B-18BA-89D5CEFFDB9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17660" y="1603469"/>
            <a:ext cx="3476862" cy="3477666"/>
            <a:chOff x="8106156" y="3853025"/>
            <a:chExt cx="3246120" cy="1157291"/>
          </a:xfrm>
        </p:grpSpPr>
        <p:sp>
          <p:nvSpPr>
            <p:cNvPr id="73" name="Shape 24">
              <a:extLst>
                <a:ext uri="{FF2B5EF4-FFF2-40B4-BE49-F238E27FC236}">
                  <a16:creationId xmlns:a16="http://schemas.microsoft.com/office/drawing/2014/main" id="{A070CB3C-6B48-436F-AA34-516BFBFAF4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06156" y="3859107"/>
              <a:ext cx="3246120" cy="1151209"/>
            </a:xfrm>
            <a:prstGeom prst="roundRect">
              <a:avLst>
                <a:gd name="adj" fmla="val 4348"/>
              </a:avLst>
            </a:prstGeom>
            <a:solidFill>
              <a:srgbClr val="E8EFEC"/>
            </a:solidFill>
            <a:ln w="12700">
              <a:solidFill>
                <a:srgbClr val="E7F3E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D3A2E5D-5C23-1A05-B9C8-E2A5A3211A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230967" y="3853025"/>
              <a:ext cx="3039267" cy="1138579"/>
              <a:chOff x="8230967" y="3853025"/>
              <a:chExt cx="3039267" cy="1138579"/>
            </a:xfrm>
          </p:grpSpPr>
          <p:sp>
            <p:nvSpPr>
              <p:cNvPr id="75" name="Text 25">
                <a:extLst>
                  <a:ext uri="{FF2B5EF4-FFF2-40B4-BE49-F238E27FC236}">
                    <a16:creationId xmlns:a16="http://schemas.microsoft.com/office/drawing/2014/main" id="{1C96FBDA-B9D3-B3B4-C472-D377B5F20F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230967" y="3853025"/>
                <a:ext cx="2007921" cy="12372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F7A5C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Ethos’s Core competence</a:t>
                </a:r>
                <a:endParaRPr lang="en-US" sz="1400" dirty="0"/>
              </a:p>
            </p:txBody>
          </p:sp>
          <p:sp>
            <p:nvSpPr>
              <p:cNvPr id="76" name="Text 26">
                <a:extLst>
                  <a:ext uri="{FF2B5EF4-FFF2-40B4-BE49-F238E27FC236}">
                    <a16:creationId xmlns:a16="http://schemas.microsoft.com/office/drawing/2014/main" id="{40577DE9-0212-8284-4BA5-B15F3B79C9C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230968" y="3947368"/>
                <a:ext cx="3039266" cy="10442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 lnSpcReduction="10000"/>
              </a:bodyPr>
              <a:lstStyle/>
              <a:p>
                <a:pPr marL="216000" indent="-216000">
                  <a:buClr>
                    <a:schemeClr val="tx2">
                      <a:lumMod val="75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1260" b="1" dirty="0">
                    <a:solidFill>
                      <a:srgbClr val="143A3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Capital-light economics</a:t>
                </a:r>
              </a:p>
              <a:p>
                <a:pPr>
                  <a:buClr>
                    <a:schemeClr val="tx2">
                      <a:lumMod val="75000"/>
                    </a:schemeClr>
                  </a:buClr>
                </a:pPr>
                <a:r>
                  <a:rPr lang="en-US" altLang="zh-CN" sz="1260" dirty="0">
                    <a:solidFill>
                      <a:srgbClr val="143A3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API-led embedded distribution expands reach at minimal incremental CAC, while the absence of balance-sheet underwriting risk supports ~98% gross margins and strong scalability</a:t>
                </a:r>
              </a:p>
              <a:p>
                <a:pPr>
                  <a:buClr>
                    <a:schemeClr val="tx2">
                      <a:lumMod val="75000"/>
                    </a:schemeClr>
                  </a:buClr>
                </a:pPr>
                <a:endParaRPr lang="en-US" altLang="zh-CN" sz="1260" dirty="0">
                  <a:solidFill>
                    <a:srgbClr val="143A3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pPr marL="216000" indent="-216000">
                  <a:buClr>
                    <a:schemeClr val="tx2">
                      <a:lumMod val="75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1300" b="1" dirty="0">
                    <a:solidFill>
                      <a:srgbClr val="143A31"/>
                    </a:solidFill>
                    <a:latin typeface="Aptos" pitchFamily="34" charset="0"/>
                  </a:rPr>
                  <a:t>Agent OS lock-in</a:t>
                </a:r>
              </a:p>
              <a:p>
                <a:pPr>
                  <a:buClr>
                    <a:schemeClr val="tx2">
                      <a:lumMod val="75000"/>
                    </a:schemeClr>
                  </a:buClr>
                </a:pPr>
                <a:r>
                  <a:rPr lang="en-US" altLang="zh-CN" sz="1300" dirty="0">
                    <a:solidFill>
                      <a:srgbClr val="143A31"/>
                    </a:solidFill>
                    <a:latin typeface="Aptos" pitchFamily="34" charset="0"/>
                  </a:rPr>
                  <a:t>A unified workflow across quoting, application, case management, and commission settlement drives high switching costs and strengthens agent retention</a:t>
                </a:r>
              </a:p>
              <a:p>
                <a:pPr>
                  <a:buClr>
                    <a:schemeClr val="tx2">
                      <a:lumMod val="75000"/>
                    </a:schemeClr>
                  </a:buClr>
                </a:pPr>
                <a:endParaRPr lang="en-US" altLang="zh-CN" sz="1300" dirty="0">
                  <a:solidFill>
                    <a:srgbClr val="143A31"/>
                  </a:solidFill>
                  <a:latin typeface="Aptos" pitchFamily="34" charset="0"/>
                </a:endParaRPr>
              </a:p>
              <a:p>
                <a:pPr marL="216000" indent="-216000">
                  <a:buClr>
                    <a:schemeClr val="tx2">
                      <a:lumMod val="75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1300" b="1" dirty="0">
                    <a:solidFill>
                      <a:srgbClr val="143A31"/>
                    </a:solidFill>
                    <a:latin typeface="Aptos" pitchFamily="34" charset="0"/>
                  </a:rPr>
                  <a:t>Early-mover advantage</a:t>
                </a:r>
              </a:p>
              <a:p>
                <a:pPr>
                  <a:buClr>
                    <a:schemeClr val="tx2">
                      <a:lumMod val="75000"/>
                    </a:schemeClr>
                  </a:buClr>
                </a:pPr>
                <a:r>
                  <a:rPr lang="en-US" altLang="zh-CN" sz="1300" dirty="0">
                    <a:solidFill>
                      <a:srgbClr val="143A31"/>
                    </a:solidFill>
                    <a:latin typeface="Aptos" pitchFamily="34" charset="0"/>
                  </a:rPr>
                  <a:t>Early-mover advantage: Since entering in 2018, Ethos has built carrier relationships and operating credibility that are difficult for newer entrants to replicate. Ethos is not the #1 premium source for its top 3 carriers</a:t>
                </a:r>
              </a:p>
            </p:txBody>
          </p:sp>
        </p:grpSp>
      </p:grpSp>
      <p:sp>
        <p:nvSpPr>
          <p:cNvPr id="9" name="Shape 38">
            <a:extLst>
              <a:ext uri="{FF2B5EF4-FFF2-40B4-BE49-F238E27FC236}">
                <a16:creationId xmlns:a16="http://schemas.microsoft.com/office/drawing/2014/main" id="{C55736B4-0275-BFC9-3B44-92A291946A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1342" y="1915725"/>
            <a:ext cx="2088000" cy="2344"/>
          </a:xfrm>
          <a:prstGeom prst="line">
            <a:avLst/>
          </a:prstGeom>
          <a:noFill/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38">
            <a:extLst>
              <a:ext uri="{FF2B5EF4-FFF2-40B4-BE49-F238E27FC236}">
                <a16:creationId xmlns:a16="http://schemas.microsoft.com/office/drawing/2014/main" id="{6D45F86E-FA8A-AC36-BB4C-7BAE09A565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7368" y="5540502"/>
            <a:ext cx="2088000" cy="2344"/>
          </a:xfrm>
          <a:prstGeom prst="line">
            <a:avLst/>
          </a:prstGeom>
          <a:noFill/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B98B8A53-5C2E-03C1-4DDF-8BAED23BF5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36005" y="6070545"/>
            <a:ext cx="1669032" cy="2332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*Data from CapitalIQ</a:t>
            </a:r>
            <a:endParaRPr lang="en-US" sz="600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310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</a:t>
            </a:r>
            <a:endParaRPr lang="en-US" sz="900" dirty="0"/>
          </a:p>
        </p:txBody>
      </p:sp>
      <p:sp>
        <p:nvSpPr>
          <p:cNvPr id="3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512064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Statistics</a:t>
            </a:r>
            <a:endParaRPr lang="en-US" sz="2300" dirty="0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9875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weighted comp set better reflects Ethos’ closest public comparables and provides a more defensible valuation framework</a:t>
            </a:r>
            <a:endParaRPr lang="en-US" sz="1150" dirty="0"/>
          </a:p>
        </p:txBody>
      </p:sp>
      <p:sp>
        <p:nvSpPr>
          <p:cNvPr id="5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298448"/>
            <a:ext cx="11484000" cy="0"/>
          </a:xfrm>
          <a:prstGeom prst="line">
            <a:avLst/>
          </a:prstGeom>
          <a:noFill/>
          <a:ln w="12700">
            <a:solidFill>
              <a:srgbClr val="C8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lide Number Placeholder 0"/>
          <p:cNvSpPr>
            <a:spLocks noGrp="1" noRot="1" noMove="1" noResize="1" noEditPoints="1" noAdjustHandles="1" noChangeArrowheads="1" noChangeShapeType="1"/>
          </p:cNvSpPr>
          <p:nvPr>
            <p:ph type="sldNum" sz="quarter" idx="4294967295"/>
          </p:nvPr>
        </p:nvSpPr>
        <p:spPr>
          <a:xfrm>
            <a:off x="11704320" y="6381750"/>
            <a:ext cx="335280" cy="2019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E7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11F423-84EA-9DE4-47CD-38FB2A9B9C93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064776626"/>
              </p:ext>
            </p:extLst>
          </p:nvPr>
        </p:nvGraphicFramePr>
        <p:xfrm>
          <a:off x="187325" y="1439861"/>
          <a:ext cx="11831314" cy="31563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3159">
                  <a:extLst>
                    <a:ext uri="{9D8B030D-6E8A-4147-A177-3AD203B41FA5}">
                      <a16:colId xmlns:a16="http://schemas.microsoft.com/office/drawing/2014/main" val="1216214692"/>
                    </a:ext>
                  </a:extLst>
                </a:gridCol>
                <a:gridCol w="472766">
                  <a:extLst>
                    <a:ext uri="{9D8B030D-6E8A-4147-A177-3AD203B41FA5}">
                      <a16:colId xmlns:a16="http://schemas.microsoft.com/office/drawing/2014/main" val="1162997620"/>
                    </a:ext>
                  </a:extLst>
                </a:gridCol>
                <a:gridCol w="545503">
                  <a:extLst>
                    <a:ext uri="{9D8B030D-6E8A-4147-A177-3AD203B41FA5}">
                      <a16:colId xmlns:a16="http://schemas.microsoft.com/office/drawing/2014/main" val="3311166221"/>
                    </a:ext>
                  </a:extLst>
                </a:gridCol>
                <a:gridCol w="618234">
                  <a:extLst>
                    <a:ext uri="{9D8B030D-6E8A-4147-A177-3AD203B41FA5}">
                      <a16:colId xmlns:a16="http://schemas.microsoft.com/office/drawing/2014/main" val="4126151316"/>
                    </a:ext>
                  </a:extLst>
                </a:gridCol>
                <a:gridCol w="618234">
                  <a:extLst>
                    <a:ext uri="{9D8B030D-6E8A-4147-A177-3AD203B41FA5}">
                      <a16:colId xmlns:a16="http://schemas.microsoft.com/office/drawing/2014/main" val="3320879617"/>
                    </a:ext>
                  </a:extLst>
                </a:gridCol>
                <a:gridCol w="678846">
                  <a:extLst>
                    <a:ext uri="{9D8B030D-6E8A-4147-A177-3AD203B41FA5}">
                      <a16:colId xmlns:a16="http://schemas.microsoft.com/office/drawing/2014/main" val="2691118736"/>
                    </a:ext>
                  </a:extLst>
                </a:gridCol>
                <a:gridCol w="618234">
                  <a:extLst>
                    <a:ext uri="{9D8B030D-6E8A-4147-A177-3AD203B41FA5}">
                      <a16:colId xmlns:a16="http://schemas.microsoft.com/office/drawing/2014/main" val="3452751976"/>
                    </a:ext>
                  </a:extLst>
                </a:gridCol>
                <a:gridCol w="618234">
                  <a:extLst>
                    <a:ext uri="{9D8B030D-6E8A-4147-A177-3AD203B41FA5}">
                      <a16:colId xmlns:a16="http://schemas.microsoft.com/office/drawing/2014/main" val="3306009662"/>
                    </a:ext>
                  </a:extLst>
                </a:gridCol>
                <a:gridCol w="618234">
                  <a:extLst>
                    <a:ext uri="{9D8B030D-6E8A-4147-A177-3AD203B41FA5}">
                      <a16:colId xmlns:a16="http://schemas.microsoft.com/office/drawing/2014/main" val="4198472342"/>
                    </a:ext>
                  </a:extLst>
                </a:gridCol>
                <a:gridCol w="618234">
                  <a:extLst>
                    <a:ext uri="{9D8B030D-6E8A-4147-A177-3AD203B41FA5}">
                      <a16:colId xmlns:a16="http://schemas.microsoft.com/office/drawing/2014/main" val="1363010910"/>
                    </a:ext>
                  </a:extLst>
                </a:gridCol>
                <a:gridCol w="618234">
                  <a:extLst>
                    <a:ext uri="{9D8B030D-6E8A-4147-A177-3AD203B41FA5}">
                      <a16:colId xmlns:a16="http://schemas.microsoft.com/office/drawing/2014/main" val="3759174309"/>
                    </a:ext>
                  </a:extLst>
                </a:gridCol>
                <a:gridCol w="678846">
                  <a:extLst>
                    <a:ext uri="{9D8B030D-6E8A-4147-A177-3AD203B41FA5}">
                      <a16:colId xmlns:a16="http://schemas.microsoft.com/office/drawing/2014/main" val="1209488382"/>
                    </a:ext>
                  </a:extLst>
                </a:gridCol>
                <a:gridCol w="618234">
                  <a:extLst>
                    <a:ext uri="{9D8B030D-6E8A-4147-A177-3AD203B41FA5}">
                      <a16:colId xmlns:a16="http://schemas.microsoft.com/office/drawing/2014/main" val="3860523587"/>
                    </a:ext>
                  </a:extLst>
                </a:gridCol>
                <a:gridCol w="545503">
                  <a:extLst>
                    <a:ext uri="{9D8B030D-6E8A-4147-A177-3AD203B41FA5}">
                      <a16:colId xmlns:a16="http://schemas.microsoft.com/office/drawing/2014/main" val="2321143862"/>
                    </a:ext>
                  </a:extLst>
                </a:gridCol>
                <a:gridCol w="545503">
                  <a:extLst>
                    <a:ext uri="{9D8B030D-6E8A-4147-A177-3AD203B41FA5}">
                      <a16:colId xmlns:a16="http://schemas.microsoft.com/office/drawing/2014/main" val="2351355946"/>
                    </a:ext>
                  </a:extLst>
                </a:gridCol>
                <a:gridCol w="545503">
                  <a:extLst>
                    <a:ext uri="{9D8B030D-6E8A-4147-A177-3AD203B41FA5}">
                      <a16:colId xmlns:a16="http://schemas.microsoft.com/office/drawing/2014/main" val="4164466531"/>
                    </a:ext>
                  </a:extLst>
                </a:gridCol>
                <a:gridCol w="618234">
                  <a:extLst>
                    <a:ext uri="{9D8B030D-6E8A-4147-A177-3AD203B41FA5}">
                      <a16:colId xmlns:a16="http://schemas.microsoft.com/office/drawing/2014/main" val="3710063913"/>
                    </a:ext>
                  </a:extLst>
                </a:gridCol>
                <a:gridCol w="751579">
                  <a:extLst>
                    <a:ext uri="{9D8B030D-6E8A-4147-A177-3AD203B41FA5}">
                      <a16:colId xmlns:a16="http://schemas.microsoft.com/office/drawing/2014/main" val="3982846905"/>
                    </a:ext>
                  </a:extLst>
                </a:gridCol>
              </a:tblGrid>
              <a:tr h="308683">
                <a:tc gridSpan="1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ETHOS (LIFE) — COMPARABLE COMPANY ANALYSIS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323655"/>
                  </a:ext>
                </a:extLst>
              </a:tr>
              <a:tr h="202573">
                <a:tc gridSpan="1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i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Source: Company Filings, Capital IQ, Stockanalysis.com  |  Data as of Apr. 10, 2026  |  $ in millions unless noted</a:t>
                      </a:r>
                      <a:endParaRPr lang="en-US" sz="900" b="0" i="1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68387"/>
                  </a:ext>
                </a:extLst>
              </a:tr>
              <a:tr h="1944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b"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47778431"/>
                  </a:ext>
                </a:extLst>
              </a:tr>
              <a:tr h="231512">
                <a:tc gridSpan="18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▶  </a:t>
                      </a:r>
                      <a:r>
                        <a:rPr lang="en-US" sz="105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TRADING COMPARABLES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216107"/>
                  </a:ext>
                </a:extLst>
              </a:tr>
              <a:tr h="5401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Company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Ticker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Tier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Weight</a:t>
                      </a: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Market Cap</a:t>
                      </a:r>
                      <a:b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($M)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Enterprise</a:t>
                      </a:r>
                      <a:b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Value ($M)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LTM</a:t>
                      </a:r>
                      <a:b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Revenue</a:t>
                      </a:r>
                      <a:b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($M)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LTM</a:t>
                      </a:r>
                      <a:b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EBITDA ($M)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EBITDA</a:t>
                      </a:r>
                      <a:b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Margin %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Revenue</a:t>
                      </a:r>
                      <a:b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Growth YoY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EV / LTM</a:t>
                      </a:r>
                      <a:b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Revenue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EV / LTM</a:t>
                      </a:r>
                      <a:b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EBITDA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 err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Fwd</a:t>
                      </a:r>
                      <a:b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EV/EBITDA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P/E</a:t>
                      </a:r>
                      <a:b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(TTM)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P/E</a:t>
                      </a:r>
                      <a:b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(</a:t>
                      </a:r>
                      <a:r>
                        <a:rPr lang="en-US" sz="1000" b="1" u="none" strike="noStrike" dirty="0" err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Fwd</a:t>
                      </a: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)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Div.</a:t>
                      </a:r>
                      <a:b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Yield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Net Debt /</a:t>
                      </a:r>
                      <a:b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EBITDA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Consensus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440351"/>
                  </a:ext>
                </a:extLst>
              </a:tr>
              <a:tr h="2025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Ethos Technologies Inc.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LIFE</a:t>
                      </a:r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Subject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1,188.6</a:t>
                      </a:r>
                      <a:endParaRPr lang="en-US" altLang="zh-CN" sz="1000" b="1" i="0" u="none" strike="noStrike" dirty="0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1,018.1</a:t>
                      </a:r>
                      <a:endParaRPr lang="en-US" altLang="zh-CN" sz="1000" b="1" i="0" u="none" strike="noStrike" dirty="0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344.1</a:t>
                      </a:r>
                      <a:endParaRPr lang="en-US" altLang="zh-CN" sz="1000" b="1" i="0" u="none" strike="noStrike" dirty="0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77.9</a:t>
                      </a:r>
                      <a:endParaRPr lang="en-US" altLang="zh-CN" sz="1000" b="1" i="0" u="none" strike="noStrike" dirty="0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22.6%</a:t>
                      </a:r>
                      <a:endParaRPr lang="en-US" altLang="zh-CN" sz="1000" b="1" i="0" u="none" strike="noStrike" dirty="0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50.6%</a:t>
                      </a:r>
                      <a:endParaRPr lang="en-US" altLang="zh-CN" sz="1000" b="1" i="0" u="none" strike="noStrike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3.0x</a:t>
                      </a:r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13.1x</a:t>
                      </a:r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-</a:t>
                      </a:r>
                      <a:endParaRPr lang="en-US" altLang="zh-CN" sz="1000" b="1" i="0" u="none" strike="noStrike" dirty="0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21.2x</a:t>
                      </a:r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-</a:t>
                      </a:r>
                      <a:endParaRPr lang="en-US" altLang="zh-CN" sz="1000" b="1" i="0" u="none" strike="noStrike" dirty="0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0.0%</a:t>
                      </a:r>
                      <a:endParaRPr lang="en-US" altLang="zh-CN" sz="1000" b="1" i="0" u="none" strike="noStrike" dirty="0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-2.2x</a:t>
                      </a:r>
                      <a:endParaRPr 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Strong Buy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423164"/>
                  </a:ext>
                </a:extLst>
              </a:tr>
              <a:tr h="2322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Goosehead Insurance, Inc.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GSHD</a:t>
                      </a:r>
                      <a:endParaRPr lang="en-US" sz="1000" b="0" i="0" u="none" strike="noStrike" dirty="0">
                        <a:solidFill>
                          <a:srgbClr val="1F497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Tier 1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30%</a:t>
                      </a: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1,440.0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1,770.0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364.6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89.7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24.6%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16.3%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4.9x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19.7x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10.8x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39.0x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19.7x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0.0%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3.5x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Buy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299323"/>
                  </a:ext>
                </a:extLst>
              </a:tr>
              <a:tr h="2025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GoHealth, Inc.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GOCO</a:t>
                      </a:r>
                      <a:endParaRPr lang="en-US" sz="1000" b="0" i="0" u="none" strike="noStrike" dirty="0">
                        <a:solidFill>
                          <a:srgbClr val="1F497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Tier 1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0%</a:t>
                      </a: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30.1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670.0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361.9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-79.8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-22.1%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-43.9%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1.9x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NM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NM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NM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NM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0.0%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NM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Buy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884568"/>
                  </a:ext>
                </a:extLst>
              </a:tr>
              <a:tr h="2025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EverQuote, Inc.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EVER</a:t>
                      </a:r>
                      <a:endParaRPr lang="en-US" sz="1000" b="0" i="0" u="none" strike="noStrike">
                        <a:solidFill>
                          <a:srgbClr val="1F497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Tier 1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25%</a:t>
                      </a: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543.7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372.0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692.5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67.5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9.7%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38.5%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0.5x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5.5x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3.4x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5.7x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7.6x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0.0%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-2.5x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Strong Buy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421370"/>
                  </a:ext>
                </a:extLst>
              </a:tr>
              <a:tr h="2025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SelectQuote, Inc.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SLQT</a:t>
                      </a:r>
                      <a:endParaRPr lang="en-US" sz="1000" b="0" i="0" u="none" strike="noStrike" dirty="0">
                        <a:solidFill>
                          <a:srgbClr val="1F497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Tier 1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15%</a:t>
                      </a: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115.6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533.3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1,619.2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58.3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3.6%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15.5%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0.3x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9.1x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6.1x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NM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NM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0.0%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7.2x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Hold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289414"/>
                  </a:ext>
                </a:extLst>
              </a:tr>
              <a:tr h="2025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TWF, Inc.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TWFG</a:t>
                      </a:r>
                      <a:endParaRPr lang="en-US" sz="1000" b="0" i="0" u="none" strike="noStrike" dirty="0">
                        <a:solidFill>
                          <a:srgbClr val="1F497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Tier 1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12.5%</a:t>
                      </a: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1,010.0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860.5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248.5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54.6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22.0%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21.0%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3.5x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15.8x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2.3x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33.7x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19.3x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0.0%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-2.6x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Buy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499380"/>
                  </a:ext>
                </a:extLst>
              </a:tr>
              <a:tr h="2311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MediaAlpha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MAX</a:t>
                      </a:r>
                      <a:endParaRPr lang="en-US" sz="1000" b="0" i="0" u="none" strike="noStrike" dirty="0">
                        <a:solidFill>
                          <a:srgbClr val="1F497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Tier 2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10%</a:t>
                      </a: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574.3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682.2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1,110.0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81.2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7.3%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28.8%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0.6x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8.4x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33.4x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23.2x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8.1x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0.0%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1.3x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Buy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641659"/>
                  </a:ext>
                </a:extLst>
              </a:tr>
              <a:tr h="2025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Lemonade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LMND</a:t>
                      </a:r>
                      <a:endParaRPr lang="en-US" sz="1000" b="0" i="0" u="none" strike="noStrike" dirty="0">
                        <a:solidFill>
                          <a:srgbClr val="1F497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Tier 2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7.5%</a:t>
                      </a: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4,160.0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3,940.0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737.9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-121.5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-16.5%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Aptos" panose="020B0004020202020204" pitchFamily="34" charset="0"/>
                        </a:rPr>
                        <a:t>40.2%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5.3x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NM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NM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NM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Aptos" panose="020B0004020202020204" pitchFamily="34" charset="0"/>
                        </a:rPr>
                        <a:t>NM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Aptos" panose="020B0004020202020204" pitchFamily="34" charset="0"/>
                        </a:rPr>
                        <a:t>0.0%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NM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Hold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38563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0AC08EC-6365-9C2E-3565-E2CFB8CA2352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689320619"/>
              </p:ext>
            </p:extLst>
          </p:nvPr>
        </p:nvGraphicFramePr>
        <p:xfrm>
          <a:off x="187325" y="4596186"/>
          <a:ext cx="11831317" cy="1423613"/>
        </p:xfrm>
        <a:graphic>
          <a:graphicData uri="http://schemas.openxmlformats.org/drawingml/2006/table">
            <a:tbl>
              <a:tblPr/>
              <a:tblGrid>
                <a:gridCol w="2539852">
                  <a:extLst>
                    <a:ext uri="{9D8B030D-6E8A-4147-A177-3AD203B41FA5}">
                      <a16:colId xmlns:a16="http://schemas.microsoft.com/office/drawing/2014/main" val="3526635519"/>
                    </a:ext>
                  </a:extLst>
                </a:gridCol>
                <a:gridCol w="548169">
                  <a:extLst>
                    <a:ext uri="{9D8B030D-6E8A-4147-A177-3AD203B41FA5}">
                      <a16:colId xmlns:a16="http://schemas.microsoft.com/office/drawing/2014/main" val="2098738759"/>
                    </a:ext>
                  </a:extLst>
                </a:gridCol>
                <a:gridCol w="621258">
                  <a:extLst>
                    <a:ext uri="{9D8B030D-6E8A-4147-A177-3AD203B41FA5}">
                      <a16:colId xmlns:a16="http://schemas.microsoft.com/office/drawing/2014/main" val="2976456037"/>
                    </a:ext>
                  </a:extLst>
                </a:gridCol>
                <a:gridCol w="685212">
                  <a:extLst>
                    <a:ext uri="{9D8B030D-6E8A-4147-A177-3AD203B41FA5}">
                      <a16:colId xmlns:a16="http://schemas.microsoft.com/office/drawing/2014/main" val="1597213378"/>
                    </a:ext>
                  </a:extLst>
                </a:gridCol>
                <a:gridCol w="621258">
                  <a:extLst>
                    <a:ext uri="{9D8B030D-6E8A-4147-A177-3AD203B41FA5}">
                      <a16:colId xmlns:a16="http://schemas.microsoft.com/office/drawing/2014/main" val="3463850620"/>
                    </a:ext>
                  </a:extLst>
                </a:gridCol>
                <a:gridCol w="621258">
                  <a:extLst>
                    <a:ext uri="{9D8B030D-6E8A-4147-A177-3AD203B41FA5}">
                      <a16:colId xmlns:a16="http://schemas.microsoft.com/office/drawing/2014/main" val="3918153708"/>
                    </a:ext>
                  </a:extLst>
                </a:gridCol>
                <a:gridCol w="621258">
                  <a:extLst>
                    <a:ext uri="{9D8B030D-6E8A-4147-A177-3AD203B41FA5}">
                      <a16:colId xmlns:a16="http://schemas.microsoft.com/office/drawing/2014/main" val="2222659689"/>
                    </a:ext>
                  </a:extLst>
                </a:gridCol>
                <a:gridCol w="621258">
                  <a:extLst>
                    <a:ext uri="{9D8B030D-6E8A-4147-A177-3AD203B41FA5}">
                      <a16:colId xmlns:a16="http://schemas.microsoft.com/office/drawing/2014/main" val="2962111283"/>
                    </a:ext>
                  </a:extLst>
                </a:gridCol>
                <a:gridCol w="621258">
                  <a:extLst>
                    <a:ext uri="{9D8B030D-6E8A-4147-A177-3AD203B41FA5}">
                      <a16:colId xmlns:a16="http://schemas.microsoft.com/office/drawing/2014/main" val="1869825515"/>
                    </a:ext>
                  </a:extLst>
                </a:gridCol>
                <a:gridCol w="685212">
                  <a:extLst>
                    <a:ext uri="{9D8B030D-6E8A-4147-A177-3AD203B41FA5}">
                      <a16:colId xmlns:a16="http://schemas.microsoft.com/office/drawing/2014/main" val="157600820"/>
                    </a:ext>
                  </a:extLst>
                </a:gridCol>
                <a:gridCol w="621258">
                  <a:extLst>
                    <a:ext uri="{9D8B030D-6E8A-4147-A177-3AD203B41FA5}">
                      <a16:colId xmlns:a16="http://schemas.microsoft.com/office/drawing/2014/main" val="782541709"/>
                    </a:ext>
                  </a:extLst>
                </a:gridCol>
                <a:gridCol w="548169">
                  <a:extLst>
                    <a:ext uri="{9D8B030D-6E8A-4147-A177-3AD203B41FA5}">
                      <a16:colId xmlns:a16="http://schemas.microsoft.com/office/drawing/2014/main" val="1811372344"/>
                    </a:ext>
                  </a:extLst>
                </a:gridCol>
                <a:gridCol w="548169">
                  <a:extLst>
                    <a:ext uri="{9D8B030D-6E8A-4147-A177-3AD203B41FA5}">
                      <a16:colId xmlns:a16="http://schemas.microsoft.com/office/drawing/2014/main" val="1970340543"/>
                    </a:ext>
                  </a:extLst>
                </a:gridCol>
                <a:gridCol w="548169">
                  <a:extLst>
                    <a:ext uri="{9D8B030D-6E8A-4147-A177-3AD203B41FA5}">
                      <a16:colId xmlns:a16="http://schemas.microsoft.com/office/drawing/2014/main" val="2523321495"/>
                    </a:ext>
                  </a:extLst>
                </a:gridCol>
                <a:gridCol w="621258">
                  <a:extLst>
                    <a:ext uri="{9D8B030D-6E8A-4147-A177-3AD203B41FA5}">
                      <a16:colId xmlns:a16="http://schemas.microsoft.com/office/drawing/2014/main" val="3374873357"/>
                    </a:ext>
                  </a:extLst>
                </a:gridCol>
                <a:gridCol w="758301">
                  <a:extLst>
                    <a:ext uri="{9D8B030D-6E8A-4147-A177-3AD203B41FA5}">
                      <a16:colId xmlns:a16="http://schemas.microsoft.com/office/drawing/2014/main" val="3481408080"/>
                    </a:ext>
                  </a:extLst>
                </a:gridCol>
              </a:tblGrid>
              <a:tr h="264858">
                <a:tc gridSpan="16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▶  PEER GROUP STATISTICS  (excl. Ethos &amp; GoHealth)</a:t>
                      </a:r>
                    </a:p>
                  </a:txBody>
                  <a:tcPr marL="4066" marR="4066" marT="4066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77054"/>
                  </a:ext>
                </a:extLst>
              </a:tr>
              <a:tr h="2317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Statistic</a:t>
                      </a:r>
                    </a:p>
                  </a:txBody>
                  <a:tcPr marL="4066" marR="4066" marT="4066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177583"/>
                  </a:ext>
                </a:extLst>
              </a:tr>
              <a:tr h="2317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Mean</a:t>
                      </a:r>
                    </a:p>
                  </a:txBody>
                  <a:tcPr marL="4066" marR="4066" marT="4066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1,080.9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1,175.3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722.8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58.4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12.6%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25.3%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2.5x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11.5x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8.6x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19.7x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11.0x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1.3x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875129"/>
                  </a:ext>
                </a:extLst>
              </a:tr>
              <a:tr h="2317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Median</a:t>
                      </a:r>
                    </a:p>
                  </a:txBody>
                  <a:tcPr marL="4066" marR="4066" marT="4066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792.2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771.4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715.2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62.9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8.5%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24.9%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2.0x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9.1x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6.1x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28.5x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13.7x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1.3x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481878"/>
                  </a:ext>
                </a:extLst>
              </a:tr>
              <a:tr h="2317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Min</a:t>
                      </a:r>
                    </a:p>
                  </a:txBody>
                  <a:tcPr marL="4066" marR="4066" marT="4066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115.6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372.0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248.5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-121.5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-16.5%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15.5%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0.3x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5.5x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2.3x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5.7x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7.6x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-2.6x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200379"/>
                  </a:ext>
                </a:extLst>
              </a:tr>
              <a:tr h="2317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Max</a:t>
                      </a:r>
                    </a:p>
                  </a:txBody>
                  <a:tcPr marL="4066" marR="4066" marT="4066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4,160.0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3,940.0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1,619.2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89.7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24.6%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40.2%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5.3x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19.7x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33.4x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39.0x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19.7x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7.2x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066" marR="4066" marT="4066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497625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B37CE690-6538-0AC2-7F2B-4A43E26311F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772519" y="336423"/>
            <a:ext cx="3246120" cy="826770"/>
            <a:chOff x="10566980" y="5033772"/>
            <a:chExt cx="3246120" cy="1051560"/>
          </a:xfrm>
        </p:grpSpPr>
        <p:sp>
          <p:nvSpPr>
            <p:cNvPr id="53" name="Shape 24">
              <a:extLst>
                <a:ext uri="{FF2B5EF4-FFF2-40B4-BE49-F238E27FC236}">
                  <a16:creationId xmlns:a16="http://schemas.microsoft.com/office/drawing/2014/main" id="{497488BA-778C-FFCC-39FE-D6262424AC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66980" y="5033772"/>
              <a:ext cx="3246120" cy="1051560"/>
            </a:xfrm>
            <a:prstGeom prst="roundRect">
              <a:avLst>
                <a:gd name="adj" fmla="val 4348"/>
              </a:avLst>
            </a:prstGeom>
            <a:solidFill>
              <a:srgbClr val="E7F3EE"/>
            </a:solidFill>
            <a:ln w="12700">
              <a:solidFill>
                <a:srgbClr val="E7F3E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 2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22428" y="5193792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80" b="1" dirty="0">
                  <a:solidFill>
                    <a:srgbClr val="1F7A5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Why not just use the median?</a:t>
              </a:r>
              <a:endParaRPr lang="en-US" sz="1080" dirty="0"/>
            </a:p>
          </p:txBody>
        </p:sp>
        <p:sp>
          <p:nvSpPr>
            <p:cNvPr id="55" name="Text 28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722428" y="5468112"/>
              <a:ext cx="3090672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>
                <a:buNone/>
              </a:pPr>
              <a:r>
                <a:rPr lang="en-US" sz="1240" dirty="0">
                  <a:solidFill>
                    <a:srgbClr val="18332B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Because there is no pure-play public analog for Ethos’ mix of life-insurance focus, agent enablement, proprietary underwriting, and capital-light economics.</a:t>
              </a:r>
              <a:endParaRPr lang="en-US" sz="124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FCC39-D25E-12EE-C85A-CB42CEC4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71F4665-D0A9-6702-16D6-5F361335B1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512064"/>
            <a:ext cx="126784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Comps Set</a:t>
            </a:r>
            <a:r>
              <a:rPr lang="zh-CN" altLang="en-US" sz="23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altLang="zh-CN" sz="23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Construction</a:t>
            </a:r>
            <a:r>
              <a:rPr lang="en-US" sz="23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&amp; Weighting Rationale</a:t>
            </a:r>
            <a:endParaRPr lang="en-US" sz="2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8D1C43-9A4D-4601-2626-DA183C6E1D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849527"/>
            <a:ext cx="11263798" cy="56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public company is a perfect analogue for Ethos; accordingly, the comp set is weighted rather than mechanically averaged. We place the greatest emphasis on peers that best match Ethos’ capital-light, technology-enabled insurance distribution model; while assigning lower weights to companies whose underwriting exposure, product mix, or monetization model differ more meaningfully from Ethos.</a:t>
            </a:r>
            <a:endParaRPr lang="en-US" sz="1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414CB9C-4534-8CF1-44B3-0975329D2F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336905"/>
            <a:ext cx="11268000" cy="0"/>
          </a:xfrm>
          <a:prstGeom prst="line">
            <a:avLst/>
          </a:prstGeom>
          <a:noFill/>
          <a:ln w="12700">
            <a:solidFill>
              <a:srgbClr val="C8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lide Number Placeholder 0">
            <a:extLst>
              <a:ext uri="{FF2B5EF4-FFF2-40B4-BE49-F238E27FC236}">
                <a16:creationId xmlns:a16="http://schemas.microsoft.com/office/drawing/2014/main" id="{B56610B6-2D00-2295-AAD1-FA0BB94EE8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294967295"/>
          </p:nvPr>
        </p:nvSpPr>
        <p:spPr>
          <a:xfrm>
            <a:off x="11704320" y="6419828"/>
            <a:ext cx="303650" cy="16385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E7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0A9710-4FD2-9612-9305-3203B882A8EE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497126537"/>
              </p:ext>
            </p:extLst>
          </p:nvPr>
        </p:nvGraphicFramePr>
        <p:xfrm>
          <a:off x="548640" y="1416849"/>
          <a:ext cx="11263798" cy="4931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9390">
                  <a:extLst>
                    <a:ext uri="{9D8B030D-6E8A-4147-A177-3AD203B41FA5}">
                      <a16:colId xmlns:a16="http://schemas.microsoft.com/office/drawing/2014/main" val="1316712677"/>
                    </a:ext>
                  </a:extLst>
                </a:gridCol>
                <a:gridCol w="787879">
                  <a:extLst>
                    <a:ext uri="{9D8B030D-6E8A-4147-A177-3AD203B41FA5}">
                      <a16:colId xmlns:a16="http://schemas.microsoft.com/office/drawing/2014/main" val="1013730276"/>
                    </a:ext>
                  </a:extLst>
                </a:gridCol>
                <a:gridCol w="741872">
                  <a:extLst>
                    <a:ext uri="{9D8B030D-6E8A-4147-A177-3AD203B41FA5}">
                      <a16:colId xmlns:a16="http://schemas.microsoft.com/office/drawing/2014/main" val="2864172613"/>
                    </a:ext>
                  </a:extLst>
                </a:gridCol>
                <a:gridCol w="644106">
                  <a:extLst>
                    <a:ext uri="{9D8B030D-6E8A-4147-A177-3AD203B41FA5}">
                      <a16:colId xmlns:a16="http://schemas.microsoft.com/office/drawing/2014/main" val="400159877"/>
                    </a:ext>
                  </a:extLst>
                </a:gridCol>
                <a:gridCol w="7930551">
                  <a:extLst>
                    <a:ext uri="{9D8B030D-6E8A-4147-A177-3AD203B41FA5}">
                      <a16:colId xmlns:a16="http://schemas.microsoft.com/office/drawing/2014/main" val="3374081235"/>
                    </a:ext>
                  </a:extLst>
                </a:gridCol>
              </a:tblGrid>
              <a:tr h="5878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Company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Ticker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Tier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Weight</a:t>
                      </a:r>
                    </a:p>
                  </a:txBody>
                  <a:tcPr marL="4264" marR="4264" marT="4264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Rationale</a:t>
                      </a:r>
                    </a:p>
                  </a:txBody>
                  <a:tcPr marL="4264" marR="4264" marT="4264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867742"/>
                  </a:ext>
                </a:extLst>
              </a:tr>
              <a:tr h="6679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Goosehead Insurance, Inc.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GSHD</a:t>
                      </a:r>
                      <a:endParaRPr lang="en-US" sz="1000" b="0" i="0" u="none" strike="noStrike" dirty="0">
                        <a:solidFill>
                          <a:srgbClr val="1F497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Tier 1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30%</a:t>
                      </a: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Goosehead receives the highest weight because 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it is the closest high-quality public analogue to Ethos’ target model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: capital-light insurance distribution, strong operating profitability, and technology-enabled agent productivity. Relative to the peer set, Goosehead combines 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healthy margins (24.6%) with solid growth (16.3%), while trading at premium but still relevant valuation levels (4.9x EV/LTM Revenue; 19.7x EV/LTM EBITDA)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. It is therefore the best anchor for what a scaled, profitable insurance distribution platform can look like in public markets.</a:t>
                      </a:r>
                    </a:p>
                  </a:txBody>
                  <a:tcPr marL="4264" marR="4264" marT="4264" marB="0" anchor="ctr"/>
                </a:tc>
                <a:extLst>
                  <a:ext uri="{0D108BD9-81ED-4DB2-BD59-A6C34878D82A}">
                    <a16:rowId xmlns:a16="http://schemas.microsoft.com/office/drawing/2014/main" val="55598887"/>
                  </a:ext>
                </a:extLst>
              </a:tr>
              <a:tr h="5021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GoHealth, Inc.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GOCO</a:t>
                      </a:r>
                      <a:endParaRPr lang="en-US" sz="1000" b="0" i="0" u="none" strike="noStrike" dirty="0">
                        <a:solidFill>
                          <a:srgbClr val="1F497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Tier 1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0%</a:t>
                      </a:r>
                    </a:p>
                  </a:txBody>
                  <a:tcPr marL="4264" marR="4264" marT="4264" marB="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GoHealth is excluded from the weighted valuation despite being shown in the spread because its fundamentals are not representative of Ethos’ business quality or trajectory. 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Its revenue is shrinking (-43.9% YoY), EBITDA margin is negative (-22.1%), and its multiples are distorted by business mix and balance-sheet stress.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It is therefore retained for context but assigned a 0% weight in the valuation framework.</a:t>
                      </a:r>
                    </a:p>
                  </a:txBody>
                  <a:tcPr marL="4264" marR="4264" marT="4264" marB="0" anchor="ctr"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509835"/>
                  </a:ext>
                </a:extLst>
              </a:tr>
              <a:tr h="6679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EverQuote, Inc.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EVER</a:t>
                      </a:r>
                      <a:endParaRPr lang="en-US" sz="1000" b="0" i="0" u="none" strike="noStrike" dirty="0">
                        <a:solidFill>
                          <a:srgbClr val="1F497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Tier 1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25%</a:t>
                      </a: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EverQuote merits a high weight because it captures the digital marketplace and online insurance acquisition element of Ethos particularly well. Its revenue growth is strong (38.5%), which helps frame the value of digital distribution scale. However, its 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lower EBITDA margin (9.7%) and more lead-generation-oriented model make it less structurally comparable 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than Goosehead. As a result, EverQuote is weighted heavily, but still below Goosehead.</a:t>
                      </a:r>
                    </a:p>
                  </a:txBody>
                  <a:tcPr marL="4264" marR="4264" marT="4264" marB="0" anchor="ctr"/>
                </a:tc>
                <a:extLst>
                  <a:ext uri="{0D108BD9-81ED-4DB2-BD59-A6C34878D82A}">
                    <a16:rowId xmlns:a16="http://schemas.microsoft.com/office/drawing/2014/main" val="2729794863"/>
                  </a:ext>
                </a:extLst>
              </a:tr>
              <a:tr h="6679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SelectQuote, Inc.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SLQT</a:t>
                      </a:r>
                      <a:endParaRPr lang="en-US" sz="1000" b="0" i="0" u="none" strike="noStrike" dirty="0">
                        <a:solidFill>
                          <a:srgbClr val="1F497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Tier 1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15%</a:t>
                      </a: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SelectQuote remains relevant because it has meaningful life-insurance exposure and a consultative, agent-assisted distribution model that overlaps with Ethos’ life insurance go-to-market strategy. However, 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its profitability profile is materially weaker (3.6% EBITDA margin), and its leverage is substantially higher 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(7.2x Net Debt / EBITDA), which depresses its trading multiples. We therefore include it as a useful life-insurance distribution reference, but not as a primary anchor.</a:t>
                      </a:r>
                    </a:p>
                  </a:txBody>
                  <a:tcPr marL="4264" marR="4264" marT="4264" marB="0" anchor="ctr"/>
                </a:tc>
                <a:extLst>
                  <a:ext uri="{0D108BD9-81ED-4DB2-BD59-A6C34878D82A}">
                    <a16:rowId xmlns:a16="http://schemas.microsoft.com/office/drawing/2014/main" val="1720636717"/>
                  </a:ext>
                </a:extLst>
              </a:tr>
              <a:tr h="5021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TWF, Inc.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TWFG</a:t>
                      </a:r>
                      <a:endParaRPr lang="en-US" sz="1000" b="0" i="0" u="none" strike="noStrike" dirty="0">
                        <a:solidFill>
                          <a:srgbClr val="1F497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Tier 1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12.5%</a:t>
                      </a: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TWFG is directionally comparable because it is an insurance distribution platform with attractive profitability (22.0% EBITDA margin) and healthy growth (21.0%). However, its operating model is 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more traditional agency-network driven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and less directly tied to Ethos’ embedded, technology-led workflow. TWFG is therefore a helpful quality reference point, but not a top-weight comp.</a:t>
                      </a:r>
                    </a:p>
                  </a:txBody>
                  <a:tcPr marL="4264" marR="4264" marT="4264" marB="0" anchor="ctr"/>
                </a:tc>
                <a:extLst>
                  <a:ext uri="{0D108BD9-81ED-4DB2-BD59-A6C34878D82A}">
                    <a16:rowId xmlns:a16="http://schemas.microsoft.com/office/drawing/2014/main" val="2089569260"/>
                  </a:ext>
                </a:extLst>
              </a:tr>
              <a:tr h="6679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MediaAlpha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MAX</a:t>
                      </a:r>
                      <a:endParaRPr lang="en-US" sz="1000" b="0" i="0" u="none" strike="noStrike" dirty="0">
                        <a:solidFill>
                          <a:srgbClr val="1F497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Tier 2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10%</a:t>
                      </a:r>
                    </a:p>
                  </a:txBody>
                  <a:tcPr marL="4264" marR="4264" marT="4264" marB="0" anchor="ctr"/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MediaAlpha is included primarily as a boundary marker for digital insurance customer acquisition and marketplace monetization. While its growth profile is strong (28.8%), its business model 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is more upstream and lead-generation oriented 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than Ethos’ more integrated distribution, underwriting, and policy-administration platform. Its lower EV/LTM Revenue multiple (0.6x) suggests a more commoditized positioning, limiting its relevance as a core valuation anchor.</a:t>
                      </a:r>
                    </a:p>
                  </a:txBody>
                  <a:tcPr marL="4264" marR="4264" marT="4264" marB="0" anchor="ctr"/>
                </a:tc>
                <a:extLst>
                  <a:ext uri="{0D108BD9-81ED-4DB2-BD59-A6C34878D82A}">
                    <a16:rowId xmlns:a16="http://schemas.microsoft.com/office/drawing/2014/main" val="1212116785"/>
                  </a:ext>
                </a:extLst>
              </a:tr>
              <a:tr h="6679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Lemonade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LMND</a:t>
                      </a:r>
                      <a:endParaRPr lang="en-US" sz="1000" b="0" i="0" u="none" strike="noStrike" dirty="0">
                        <a:solidFill>
                          <a:srgbClr val="1F497D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Aptos" panose="020B0004020202020204" pitchFamily="34" charset="0"/>
                        </a:rPr>
                        <a:t>Tier 2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7.5%</a:t>
                      </a: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Lemonade is included only at a low weight because it captures the digital-insurance growth narrative but differs fundamentally from Ethos in risk profile and economics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. Lemonade is a risk-bearing insurer with negative EBITDA margin (-16.5%) and no meaningful EV/EBITDA or P/E reference point, making it unsuitable as a core comp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. It is best viewed as an upper-bound reference for digital insurance growth sentiment rather than a directly comparable valuation anchor.</a:t>
                      </a:r>
                    </a:p>
                  </a:txBody>
                  <a:tcPr marL="4264" marR="4264" marT="4264" marB="0" anchor="ctr"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8017572"/>
                  </a:ext>
                </a:extLst>
              </a:tr>
            </a:tbl>
          </a:graphicData>
        </a:graphic>
      </p:graphicFrame>
      <p:sp>
        <p:nvSpPr>
          <p:cNvPr id="8" name="Text 0">
            <a:extLst>
              <a:ext uri="{FF2B5EF4-FFF2-40B4-BE49-F238E27FC236}">
                <a16:creationId xmlns:a16="http://schemas.microsoft.com/office/drawing/2014/main" id="{1A31EDF0-F900-8B79-E4FB-A883EE4808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7395" y="339651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835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AD654-B34A-A5E4-DD1B-85420BFA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1DA3C1-0E5F-602C-61F8-A558615F07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310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F41D11-9A02-7CC6-E3BB-19EA06B7FB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512064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332B"/>
                </a:solidFill>
                <a:latin typeface="Aptos Display" pitchFamily="34" charset="0"/>
              </a:rPr>
              <a:t>Enterprise Value &amp; Implied Price per Share Calculation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10DE2A-34EE-560D-6C02-2CFBD32598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39" y="1025408"/>
            <a:ext cx="11155679" cy="21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/ LTM Revenue is the most appropriate primary valuation anchor for Ethos, with EV / LTM EBITDA as a supporting cross-check and P / E used only as a secondary sanity check</a:t>
            </a:r>
            <a:endParaRPr lang="en-US" sz="11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DB8705D-3C53-E9C0-EC49-9B120F44CA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298448"/>
            <a:ext cx="11232000" cy="0"/>
          </a:xfrm>
          <a:prstGeom prst="line">
            <a:avLst/>
          </a:prstGeom>
          <a:noFill/>
          <a:ln w="12700">
            <a:solidFill>
              <a:srgbClr val="C8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A443AB5F-5C6A-9F46-0E5D-71938044DD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294967295"/>
          </p:nvPr>
        </p:nvSpPr>
        <p:spPr>
          <a:xfrm>
            <a:off x="11704319" y="6412302"/>
            <a:ext cx="297899" cy="17137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E7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57593AD-224F-F8F3-8870-47AE48012B54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872831841"/>
              </p:ext>
            </p:extLst>
          </p:nvPr>
        </p:nvGraphicFramePr>
        <p:xfrm>
          <a:off x="548641" y="1404114"/>
          <a:ext cx="5772150" cy="4945932"/>
        </p:xfrm>
        <a:graphic>
          <a:graphicData uri="http://schemas.openxmlformats.org/drawingml/2006/table">
            <a:tbl>
              <a:tblPr/>
              <a:tblGrid>
                <a:gridCol w="2075379">
                  <a:extLst>
                    <a:ext uri="{9D8B030D-6E8A-4147-A177-3AD203B41FA5}">
                      <a16:colId xmlns:a16="http://schemas.microsoft.com/office/drawing/2014/main" val="1496409142"/>
                    </a:ext>
                  </a:extLst>
                </a:gridCol>
                <a:gridCol w="1232257">
                  <a:extLst>
                    <a:ext uri="{9D8B030D-6E8A-4147-A177-3AD203B41FA5}">
                      <a16:colId xmlns:a16="http://schemas.microsoft.com/office/drawing/2014/main" val="1810810974"/>
                    </a:ext>
                  </a:extLst>
                </a:gridCol>
                <a:gridCol w="1232257">
                  <a:extLst>
                    <a:ext uri="{9D8B030D-6E8A-4147-A177-3AD203B41FA5}">
                      <a16:colId xmlns:a16="http://schemas.microsoft.com/office/drawing/2014/main" val="1552128415"/>
                    </a:ext>
                  </a:extLst>
                </a:gridCol>
                <a:gridCol w="1232257">
                  <a:extLst>
                    <a:ext uri="{9D8B030D-6E8A-4147-A177-3AD203B41FA5}">
                      <a16:colId xmlns:a16="http://schemas.microsoft.com/office/drawing/2014/main" val="1377574599"/>
                    </a:ext>
                  </a:extLst>
                </a:gridCol>
              </a:tblGrid>
              <a:tr h="1923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EV / LTM Revenue ($M)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EV / LTM EBITDA ($M)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P/E (TTM)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571348"/>
                  </a:ext>
                </a:extLst>
              </a:tr>
              <a:tr h="1923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Peer Multiple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459364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Mean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2.5x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11.5x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19.7x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497475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Median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2.0x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9.1x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28.5x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569719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Min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0.3x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5.5x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5.7x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862085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Max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5.3x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19.7x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39.0x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53050"/>
                  </a:ext>
                </a:extLst>
              </a:tr>
              <a:tr h="1923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Implied EV ($M)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175024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Mean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872.81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894.08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/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214960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Median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700.24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712.01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/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292678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Min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113.55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429.23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/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475636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Max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1837.49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1536.97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/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230243"/>
                  </a:ext>
                </a:extLst>
              </a:tr>
              <a:tr h="1923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Implied Equity Value ($M)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436836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Mean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1006.21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1027.48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1102.77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10897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Median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833.64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845.41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1597.17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321329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Min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246.95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562.63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322.01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976599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Max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1970.89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1670.37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2185.10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182921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Diluted Shares Outstanding (M)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68.948303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68.948303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68.948303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04205"/>
                  </a:ext>
                </a:extLst>
              </a:tr>
              <a:tr h="1923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Implied Price per Share ($)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　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055529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Mean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14.59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14.90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15.99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531581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Median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12.09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12.26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23.16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826678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Min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3.58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8.16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4.67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515590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Max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28.59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24.23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31.69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807990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Max – Min Difference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25.00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16.07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27.02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77083"/>
                  </a:ext>
                </a:extLst>
              </a:tr>
              <a:tr h="201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Current Stock Price</a:t>
                      </a:r>
                    </a:p>
                  </a:txBody>
                  <a:tcPr marL="4763" marR="4763" marT="4763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$13.81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$13.81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1F2937"/>
                          </a:solidFill>
                          <a:effectLst/>
                          <a:latin typeface="Aptos" panose="020B0004020202020204" pitchFamily="34" charset="0"/>
                        </a:rPr>
                        <a:t>$13.81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177523"/>
                  </a:ext>
                </a:extLst>
              </a:tr>
            </a:tbl>
          </a:graphicData>
        </a:graphic>
      </p:graphicFrame>
      <p:sp>
        <p:nvSpPr>
          <p:cNvPr id="9" name="Shape 34">
            <a:extLst>
              <a:ext uri="{FF2B5EF4-FFF2-40B4-BE49-F238E27FC236}">
                <a16:creationId xmlns:a16="http://schemas.microsoft.com/office/drawing/2014/main" id="{F27479CD-7910-D27A-6B05-C93034C4D1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59515" y="1404114"/>
            <a:ext cx="5018417" cy="1467945"/>
          </a:xfrm>
          <a:prstGeom prst="roundRect">
            <a:avLst>
              <a:gd name="adj" fmla="val 1639"/>
            </a:avLst>
          </a:prstGeom>
          <a:solidFill>
            <a:schemeClr val="tx2">
              <a:lumMod val="75000"/>
            </a:schemeClr>
          </a:solidFill>
          <a:ln w="12700">
            <a:solidFill>
              <a:srgbClr val="0B4D3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35">
            <a:extLst>
              <a:ext uri="{FF2B5EF4-FFF2-40B4-BE49-F238E27FC236}">
                <a16:creationId xmlns:a16="http://schemas.microsoft.com/office/drawing/2014/main" id="{ED7E54F3-15EA-6B4D-897E-6A4B3F783D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23303" y="14536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Aptos" pitchFamily="34" charset="0"/>
              </a:rPr>
              <a:t>Primary Metric: EV / LTM Revenue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Shape 34">
            <a:extLst>
              <a:ext uri="{FF2B5EF4-FFF2-40B4-BE49-F238E27FC236}">
                <a16:creationId xmlns:a16="http://schemas.microsoft.com/office/drawing/2014/main" id="{D326D923-3613-8CC7-81B5-C084D007E3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59515" y="3013568"/>
            <a:ext cx="5018417" cy="1673403"/>
          </a:xfrm>
          <a:prstGeom prst="roundRect">
            <a:avLst>
              <a:gd name="adj" fmla="val 1639"/>
            </a:avLst>
          </a:prstGeom>
          <a:solidFill>
            <a:schemeClr val="tx2">
              <a:lumMod val="75000"/>
            </a:schemeClr>
          </a:solidFill>
          <a:ln w="12700">
            <a:solidFill>
              <a:srgbClr val="0B4D3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35">
            <a:extLst>
              <a:ext uri="{FF2B5EF4-FFF2-40B4-BE49-F238E27FC236}">
                <a16:creationId xmlns:a16="http://schemas.microsoft.com/office/drawing/2014/main" id="{5F24A99B-67D6-5822-E034-D611A13F9D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23303" y="3094787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Aptos" pitchFamily="34" charset="0"/>
              </a:rPr>
              <a:t>Secondary Metric: EV / LTM EBITDA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87650A25-2792-4F4C-1FCE-F85A93DBED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59515" y="4838692"/>
            <a:ext cx="5018417" cy="1507244"/>
          </a:xfrm>
          <a:prstGeom prst="roundRect">
            <a:avLst>
              <a:gd name="adj" fmla="val 1639"/>
            </a:avLst>
          </a:prstGeom>
          <a:solidFill>
            <a:schemeClr val="tx2">
              <a:lumMod val="75000"/>
            </a:schemeClr>
          </a:solidFill>
          <a:ln w="12700">
            <a:solidFill>
              <a:srgbClr val="0B4D3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35">
            <a:extLst>
              <a:ext uri="{FF2B5EF4-FFF2-40B4-BE49-F238E27FC236}">
                <a16:creationId xmlns:a16="http://schemas.microsoft.com/office/drawing/2014/main" id="{C8F33F8D-7864-AFDA-F787-4402AD7060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23303" y="49157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ptos" pitchFamily="34" charset="0"/>
              </a:rPr>
              <a:t>Tertiary Metric: P / E (TTM)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 46">
            <a:extLst>
              <a:ext uri="{FF2B5EF4-FFF2-40B4-BE49-F238E27FC236}">
                <a16:creationId xmlns:a16="http://schemas.microsoft.com/office/drawing/2014/main" id="{E0CB90B8-9998-B9F3-3C2D-B2AE1AD3A4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0861" y="1814574"/>
            <a:ext cx="4823458" cy="90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1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metric is particularly relevant for Ethos because the company is still </a:t>
            </a:r>
            <a:r>
              <a:rPr lang="en-US" sz="11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growing materially faster than most peers </a:t>
            </a:r>
            <a:r>
              <a:rPr lang="en-US" sz="1100" dirty="0">
                <a:solidFill>
                  <a:srgbClr val="E1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(50.6% YoY revenue growth in the comp spread) while already generating strong profitability. As a result, EV / Revenue captures Ethos’ growth premium without being overly penalized or distorted by different cost structures across peers</a:t>
            </a:r>
            <a:endParaRPr lang="en-US" sz="1100" dirty="0"/>
          </a:p>
        </p:txBody>
      </p:sp>
      <p:sp>
        <p:nvSpPr>
          <p:cNvPr id="16" name="Text 46">
            <a:extLst>
              <a:ext uri="{FF2B5EF4-FFF2-40B4-BE49-F238E27FC236}">
                <a16:creationId xmlns:a16="http://schemas.microsoft.com/office/drawing/2014/main" id="{AF85D24B-CBDE-BA8D-57AD-5E6606779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0861" y="3410148"/>
            <a:ext cx="4823458" cy="121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1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especially useful in </a:t>
            </a:r>
            <a:r>
              <a:rPr lang="en-US" sz="11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distinguishing Ethos from lower-margin or negative-margin peers</a:t>
            </a:r>
            <a:r>
              <a:rPr lang="en-US" sz="1100" dirty="0">
                <a:solidFill>
                  <a:srgbClr val="E1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and in testing whether Ethos deserves to trade closer to higher-quality distribution platforms than to lower-quality marketplaces or unprofitable insurers. EV / EBITDA is better used as a secondary check rather than the primary anchor, because EBITDA comparability is still influenced by differences in business mix, commission economics, operating leverage, and investment intensity across the peer set</a:t>
            </a:r>
            <a:endParaRPr lang="en-US" sz="1100" dirty="0"/>
          </a:p>
        </p:txBody>
      </p:sp>
      <p:sp>
        <p:nvSpPr>
          <p:cNvPr id="17" name="Text 46">
            <a:extLst>
              <a:ext uri="{FF2B5EF4-FFF2-40B4-BE49-F238E27FC236}">
                <a16:creationId xmlns:a16="http://schemas.microsoft.com/office/drawing/2014/main" id="{81437123-F205-397D-6C34-93545A262B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80861" y="5288069"/>
            <a:ext cx="4823458" cy="90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1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Ethos is GAAP profitable and public-market investors do care </a:t>
            </a:r>
            <a:r>
              <a:rPr lang="en-US" sz="11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earnings-based valuation for mature, profitable businesses</a:t>
            </a:r>
            <a:r>
              <a:rPr lang="en-US" sz="1100" dirty="0">
                <a:solidFill>
                  <a:srgbClr val="E1F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However, P / E is the least reliable of the three metrics in this case. It is more sensitive to capital structure, tax effects, accounting treatment, and share-count assumptions, and it also suffers from limited comparability because </a:t>
            </a:r>
            <a:r>
              <a:rPr lang="en-US" sz="11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several peers have non-meaningful earnings</a:t>
            </a:r>
            <a:endParaRPr lang="en-US" sz="1100" i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7951FA51-6FA6-E958-DE95-A3471952D6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88326" y="3333576"/>
            <a:ext cx="3371239" cy="2344"/>
          </a:xfrm>
          <a:prstGeom prst="line">
            <a:avLst/>
          </a:prstGeom>
          <a:noFill/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38">
            <a:extLst>
              <a:ext uri="{FF2B5EF4-FFF2-40B4-BE49-F238E27FC236}">
                <a16:creationId xmlns:a16="http://schemas.microsoft.com/office/drawing/2014/main" id="{B970D447-F9C4-3F6E-6B75-901259624F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88326" y="5150291"/>
            <a:ext cx="3371239" cy="2344"/>
          </a:xfrm>
          <a:prstGeom prst="line">
            <a:avLst/>
          </a:prstGeom>
          <a:noFill/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38">
            <a:extLst>
              <a:ext uri="{FF2B5EF4-FFF2-40B4-BE49-F238E27FC236}">
                <a16:creationId xmlns:a16="http://schemas.microsoft.com/office/drawing/2014/main" id="{8CB9EB99-6CF2-C49A-D60B-6EF6AEB807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72123" y="1710921"/>
            <a:ext cx="3371239" cy="2344"/>
          </a:xfrm>
          <a:prstGeom prst="line">
            <a:avLst/>
          </a:prstGeom>
          <a:noFill/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894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39" y="218885"/>
            <a:ext cx="2641821" cy="293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 COMMENTARY</a:t>
            </a:r>
            <a:endParaRPr lang="en-US" sz="900" dirty="0"/>
          </a:p>
        </p:txBody>
      </p:sp>
      <p:sp>
        <p:nvSpPr>
          <p:cNvPr id="3" name="Text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512064"/>
            <a:ext cx="1149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Football Field Analysis</a:t>
            </a:r>
            <a:endParaRPr lang="en-US" sz="2300" dirty="0"/>
          </a:p>
        </p:txBody>
      </p:sp>
      <p:sp>
        <p:nvSpPr>
          <p:cNvPr id="4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98755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EV-based methods imply a tighter and more credible valuation range, while P/E shows greater dispersion.</a:t>
            </a:r>
            <a:endParaRPr lang="en-US" sz="1150" dirty="0"/>
          </a:p>
        </p:txBody>
      </p:sp>
      <p:sp>
        <p:nvSpPr>
          <p:cNvPr id="5" name="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298448"/>
            <a:ext cx="11124000" cy="0"/>
          </a:xfrm>
          <a:prstGeom prst="line">
            <a:avLst/>
          </a:prstGeom>
          <a:noFill/>
          <a:ln w="12700">
            <a:solidFill>
              <a:srgbClr val="C8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lide Number Placeholder 0"/>
          <p:cNvSpPr>
            <a:spLocks noGrp="1" noRot="1" noMove="1" noResize="1" noEditPoints="1" noAdjustHandles="1" noChangeArrowheads="1" noChangeShapeType="1"/>
          </p:cNvSpPr>
          <p:nvPr>
            <p:ph type="sldNum" sz="quarter" idx="4294967295"/>
          </p:nvPr>
        </p:nvSpPr>
        <p:spPr>
          <a:xfrm>
            <a:off x="11704320" y="6386193"/>
            <a:ext cx="3352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E7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ED731BD-4643-1950-83E6-F1C14390A72D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585339276"/>
              </p:ext>
            </p:extLst>
          </p:nvPr>
        </p:nvGraphicFramePr>
        <p:xfrm>
          <a:off x="541065" y="1399386"/>
          <a:ext cx="5694635" cy="385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2B80218-683E-436A-8C76-F230C1098407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907439591"/>
              </p:ext>
            </p:extLst>
          </p:nvPr>
        </p:nvGraphicFramePr>
        <p:xfrm>
          <a:off x="6444991" y="1399386"/>
          <a:ext cx="5205944" cy="385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12">
            <a:extLst>
              <a:ext uri="{FF2B5EF4-FFF2-40B4-BE49-F238E27FC236}">
                <a16:creationId xmlns:a16="http://schemas.microsoft.com/office/drawing/2014/main" id="{0FD3E22D-1473-AE23-A4F3-52F094B52C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39" y="5359974"/>
            <a:ext cx="5694635" cy="985957"/>
          </a:xfrm>
          <a:prstGeom prst="roundRect">
            <a:avLst>
              <a:gd name="adj" fmla="val 8000"/>
            </a:avLst>
          </a:prstGeom>
          <a:solidFill>
            <a:srgbClr val="E7F3EE"/>
          </a:solidFill>
          <a:ln w="12700">
            <a:solidFill>
              <a:srgbClr val="E7F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8447C4AA-5EA3-2641-915E-E8EFA97964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1" y="5452548"/>
            <a:ext cx="5866932" cy="794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43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1: Use as the primary valuation reference points</a:t>
            </a:r>
            <a:endParaRPr lang="en-US" sz="108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77FD49-4D24-65DD-2FB3-5419CD7F36C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78057" y="5359982"/>
            <a:ext cx="5483219" cy="985957"/>
            <a:chOff x="578057" y="5359982"/>
            <a:chExt cx="5686056" cy="985957"/>
          </a:xfrm>
        </p:grpSpPr>
        <p:sp>
          <p:nvSpPr>
            <p:cNvPr id="13" name="Shape 12">
              <a:extLst>
                <a:ext uri="{FF2B5EF4-FFF2-40B4-BE49-F238E27FC236}">
                  <a16:creationId xmlns:a16="http://schemas.microsoft.com/office/drawing/2014/main" id="{AFB7F0A9-1716-5296-C6A9-B5FD934642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8057" y="5359982"/>
              <a:ext cx="5657644" cy="985957"/>
            </a:xfrm>
            <a:prstGeom prst="roundRect">
              <a:avLst>
                <a:gd name="adj" fmla="val 8000"/>
              </a:avLst>
            </a:prstGeom>
            <a:solidFill>
              <a:srgbClr val="E8EFEC"/>
            </a:solidFill>
            <a:ln w="12700">
              <a:solidFill>
                <a:srgbClr val="E7F3EE"/>
              </a:solidFill>
              <a:prstDash val="solid"/>
            </a:ln>
          </p:spPr>
          <p:txBody>
            <a:bodyPr/>
            <a:lstStyle/>
            <a:p>
              <a:endParaRPr lang="zh-CN" altLang="en-US">
                <a:solidFill>
                  <a:srgbClr val="E8EFEC"/>
                </a:solidFill>
              </a:endParaRPr>
            </a:p>
          </p:txBody>
        </p:sp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61671D0A-7FAF-D5E5-0911-0AF8DE7AB2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2220" y="5452554"/>
              <a:ext cx="5501893" cy="794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43A3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Mean reflects the full peer set average, while median provides a more robust midpoint that is less influenced by outliers. In this analysis, the EV-based methods produce consistent mean and median indications, whereas P/E shows greater dispersion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34548D-665D-95E8-B25B-E510B6B11C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442971" y="5359971"/>
            <a:ext cx="5200389" cy="985960"/>
            <a:chOff x="6349022" y="5261210"/>
            <a:chExt cx="6480378" cy="985957"/>
          </a:xfrm>
        </p:grpSpPr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DB85EBF4-5C84-A6AB-8D4A-902E16E460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349022" y="5261210"/>
              <a:ext cx="6480378" cy="985957"/>
            </a:xfrm>
            <a:prstGeom prst="roundRect">
              <a:avLst>
                <a:gd name="adj" fmla="val 8000"/>
              </a:avLst>
            </a:prstGeom>
            <a:solidFill>
              <a:srgbClr val="E8EFEC"/>
            </a:solidFill>
            <a:ln w="12700">
              <a:solidFill>
                <a:srgbClr val="E7F3EE"/>
              </a:solidFill>
              <a:prstDash val="solid"/>
            </a:ln>
          </p:spPr>
          <p:txBody>
            <a:bodyPr/>
            <a:lstStyle/>
            <a:p>
              <a:endParaRPr lang="zh-CN" altLang="en-US">
                <a:solidFill>
                  <a:srgbClr val="E8EFEC"/>
                </a:solidFill>
              </a:endParaRPr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93D345E5-2415-BA8B-259E-F8AF03CED8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35020" y="5353781"/>
              <a:ext cx="6342578" cy="794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43A3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The “difference” measures how wide the valuation range is under each methodology, while the current stock price indicates where Ethos is trading relative to those implied ranges. EV-based methods show narrower and more stable ranges than P/E, suggesting they are the more reliable reference points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5744-1FC3-7551-411C-0C4EC7326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919680-85FE-F7A3-AFD3-775A6F031F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39" y="218885"/>
            <a:ext cx="2641821" cy="293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7A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 COMMENTARY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5C7476-BE63-6D8B-EA71-5C3D2C5D1B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512064"/>
            <a:ext cx="1149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3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Comparison &amp; Post-IPO Performance Commentary</a:t>
            </a:r>
            <a:endParaRPr lang="en-US" sz="2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F7F39E-2B35-8CFB-4752-61EF5BCD86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39" y="987552"/>
            <a:ext cx="107956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EV-based metrics best capture Ethos’ fundamental value, but weak post-IPO trading shows investors remained cautious on valuation, deal structure, and execution risk</a:t>
            </a:r>
            <a:endParaRPr lang="en-US" sz="11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AA93EC-FE82-3A0B-357E-84C15B5F20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298448"/>
            <a:ext cx="11088000" cy="0"/>
          </a:xfrm>
          <a:prstGeom prst="line">
            <a:avLst/>
          </a:prstGeom>
          <a:noFill/>
          <a:ln w="12700">
            <a:solidFill>
              <a:srgbClr val="C8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AA55E5F-A795-5717-BB8D-09A40E9EA8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1600200"/>
            <a:ext cx="56692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CF3C547-C5B8-F7F1-B092-23E996F212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00800" y="1600200"/>
            <a:ext cx="523951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8D8D1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B67596B-B3A6-DA7B-26F9-B318FB5B49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294967295"/>
          </p:nvPr>
        </p:nvSpPr>
        <p:spPr>
          <a:xfrm>
            <a:off x="11704320" y="6481312"/>
            <a:ext cx="335280" cy="10236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E72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07BF297F-31FA-D08F-8D27-E66BD0D255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7048" y="1713778"/>
            <a:ext cx="5365948" cy="39381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Aptos Display" pitchFamily="34" charset="0"/>
              </a:rPr>
              <a:t>Valuation Commentary</a:t>
            </a:r>
          </a:p>
          <a:p>
            <a:r>
              <a:rPr lang="en-US" sz="1200" i="1" dirty="0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*Other questions are explained in previous slides</a:t>
            </a:r>
          </a:p>
          <a:p>
            <a:endParaRPr lang="en-US" sz="1200" i="1" dirty="0">
              <a:solidFill>
                <a:schemeClr val="tx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en-US" sz="1200" b="1" dirty="0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Did you consider other comps but ultimately not use them in your analysis?</a:t>
            </a:r>
          </a:p>
          <a:p>
            <a:r>
              <a:rPr lang="en-US" sz="1200" dirty="0">
                <a:latin typeface="Aptos" panose="020B0004020202020204" pitchFamily="34" charset="0"/>
              </a:rPr>
              <a:t>I did consider other public insurance and Insurtech names, but I did not use traditional risk-bearing insurers as core comps </a:t>
            </a:r>
            <a:r>
              <a:rPr lang="en-US" sz="12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because Ethos does not carry underwriting risk on its balance sheet.</a:t>
            </a:r>
            <a:r>
              <a:rPr lang="en-US" sz="1200" dirty="0">
                <a:latin typeface="Aptos" panose="020B0004020202020204" pitchFamily="34" charset="0"/>
              </a:rPr>
              <a:t> I also avoided giving meaningful weight to companies whose economics were driven more </a:t>
            </a:r>
            <a:r>
              <a:rPr lang="en-US" sz="12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by insurance liabilities, distressed fundamentals, or a materially different monetization model.</a:t>
            </a:r>
          </a:p>
          <a:p>
            <a:pPr algn="ctr"/>
            <a:endParaRPr lang="en-US" sz="1200" dirty="0">
              <a:latin typeface="Aptos" panose="020B00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en-US" sz="1200" b="1" dirty="0">
                <a:solidFill>
                  <a:schemeClr val="tx2">
                    <a:lumMod val="50000"/>
                  </a:schemeClr>
                </a:solidFill>
                <a:latin typeface="Aptos" panose="020B0004020202020204" pitchFamily="34" charset="0"/>
              </a:rPr>
              <a:t>What metrics were the most/least relevant valuation metrics?</a:t>
            </a:r>
          </a:p>
          <a:p>
            <a:r>
              <a:rPr lang="en-US" sz="12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The most relevant valuation metrics were EV / LTM Revenue and EV / LTM EBITDA</a:t>
            </a:r>
            <a:r>
              <a:rPr lang="en-US" sz="1200" dirty="0">
                <a:latin typeface="Aptos" panose="020B0004020202020204" pitchFamily="34" charset="0"/>
              </a:rPr>
              <a:t>. EV / Revenue was the best primary metric because Ethos is still a high-growth platform story, </a:t>
            </a:r>
            <a:r>
              <a:rPr lang="en-US" sz="12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and revenue is the cleanest way to compare peers with different margin profiles</a:t>
            </a:r>
            <a:r>
              <a:rPr lang="en-US" sz="1200" dirty="0">
                <a:latin typeface="Aptos" panose="020B0004020202020204" pitchFamily="34" charset="0"/>
              </a:rPr>
              <a:t>. EV / EBITDA was the best secondary metric because Ethos is already profitable, </a:t>
            </a:r>
            <a:r>
              <a:rPr lang="en-US" sz="12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so it provides an important check on monetization quality and operating efficiency</a:t>
            </a:r>
            <a:r>
              <a:rPr lang="en-US" sz="1200" dirty="0">
                <a:latin typeface="Aptos" panose="020B0004020202020204" pitchFamily="34" charset="0"/>
              </a:rPr>
              <a:t>. The least relevant metric was P / E (TTM), which was included only as a supplementary reference because it is more sensitive to accounting treatment, capital structure, and share-count assumptions, and several peers do not have meaningful earnings.</a:t>
            </a:r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63D93067-53B0-EC6C-EFA8-57C036126A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21450" y="1662023"/>
            <a:ext cx="4999990" cy="435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altLang="zh-CN" b="1" dirty="0">
                <a:solidFill>
                  <a:schemeClr val="tx2">
                    <a:lumMod val="5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Post-IPO Performance Commentary</a:t>
            </a:r>
          </a:p>
          <a:p>
            <a:endParaRPr lang="en-US" sz="1200" b="1" dirty="0">
              <a:solidFill>
                <a:schemeClr val="tx2">
                  <a:lumMod val="50000"/>
                </a:schemeClr>
              </a:solidFill>
              <a:latin typeface="Aptos Display" pitchFamily="34" charset="0"/>
            </a:endParaRPr>
          </a:p>
          <a:p>
            <a:endParaRPr lang="en-US" sz="1200" b="1" dirty="0">
              <a:solidFill>
                <a:schemeClr val="tx2">
                  <a:lumMod val="50000"/>
                </a:schemeClr>
              </a:solidFill>
              <a:latin typeface="Aptos Display" pitchFamily="34" charset="0"/>
            </a:endParaRPr>
          </a:p>
          <a:p>
            <a:endParaRPr lang="en-US" sz="1200" b="1" dirty="0">
              <a:solidFill>
                <a:schemeClr val="tx2">
                  <a:lumMod val="50000"/>
                </a:schemeClr>
              </a:solidFill>
              <a:latin typeface="Aptos Display" pitchFamily="34" charset="0"/>
            </a:endParaRPr>
          </a:p>
          <a:p>
            <a:endParaRPr lang="en-US" sz="1200" b="1" dirty="0">
              <a:solidFill>
                <a:schemeClr val="tx2">
                  <a:lumMod val="50000"/>
                </a:schemeClr>
              </a:solidFill>
              <a:latin typeface="Aptos Display" pitchFamily="34" charset="0"/>
            </a:endParaRPr>
          </a:p>
          <a:p>
            <a:endParaRPr lang="en-US" sz="1200" b="1" dirty="0">
              <a:solidFill>
                <a:schemeClr val="tx2">
                  <a:lumMod val="50000"/>
                </a:schemeClr>
              </a:solidFill>
              <a:latin typeface="Aptos Display" pitchFamily="34" charset="0"/>
            </a:endParaRPr>
          </a:p>
          <a:p>
            <a:endParaRPr lang="en-US" sz="1200" b="1" dirty="0">
              <a:solidFill>
                <a:schemeClr val="tx2">
                  <a:lumMod val="50000"/>
                </a:schemeClr>
              </a:solidFill>
              <a:latin typeface="Aptos Display" pitchFamily="34" charset="0"/>
            </a:endParaRPr>
          </a:p>
          <a:p>
            <a:endParaRPr lang="en-US" sz="1200" b="1" dirty="0">
              <a:solidFill>
                <a:schemeClr val="tx2">
                  <a:lumMod val="50000"/>
                </a:schemeClr>
              </a:solidFill>
              <a:latin typeface="Aptos Display" pitchFamily="34" charset="0"/>
            </a:endParaRPr>
          </a:p>
          <a:p>
            <a:endParaRPr lang="en-US" sz="1200" b="1" dirty="0">
              <a:solidFill>
                <a:schemeClr val="tx2">
                  <a:lumMod val="50000"/>
                </a:schemeClr>
              </a:solidFill>
              <a:latin typeface="Aptos Display" pitchFamily="34" charset="0"/>
            </a:endParaRPr>
          </a:p>
          <a:p>
            <a:endParaRPr lang="en-US" sz="1200" b="1" dirty="0">
              <a:solidFill>
                <a:schemeClr val="tx2">
                  <a:lumMod val="50000"/>
                </a:schemeClr>
              </a:solidFill>
              <a:latin typeface="Aptos Display" pitchFamily="34" charset="0"/>
            </a:endParaRPr>
          </a:p>
          <a:p>
            <a:endParaRPr lang="en-US" sz="1200" b="1" dirty="0">
              <a:solidFill>
                <a:schemeClr val="tx2">
                  <a:lumMod val="50000"/>
                </a:schemeClr>
              </a:solidFill>
              <a:latin typeface="Aptos Display" pitchFamily="34" charset="0"/>
            </a:endParaRPr>
          </a:p>
          <a:p>
            <a:endParaRPr lang="en-US" sz="1200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sz="1200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sz="1200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sz="1200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dirty="0"/>
              <a:t>Post-IPO performance was weak. Ethos priced at $19.00 per share, closed its first trading day at $16.85 (down 11.3%), fell to $11.55 by February 5, and closed at $13.81 on April 10, which was </a:t>
            </a:r>
            <a:r>
              <a:rPr lang="en-US" sz="1200" b="1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still well below the IPO price</a:t>
            </a:r>
            <a:r>
              <a:rPr lang="en-US" sz="1200" dirty="0"/>
              <a:t>.</a:t>
            </a:r>
          </a:p>
          <a:p>
            <a:r>
              <a:rPr lang="en-US" sz="1200" dirty="0"/>
              <a:t>My commentary would be, the IPO got done, but aftermarket trading suggests </a:t>
            </a:r>
            <a:r>
              <a:rPr lang="en-US" sz="1200" b="1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investors liked the business model more than the valuation and structure</a:t>
            </a:r>
            <a:r>
              <a:rPr lang="en-US" sz="1200" dirty="0"/>
              <a:t>. Ethos’ weak post-IPO trading suggests that narrative strength alone was not enough to offset investor concerns around valuation, secondary selling, governance, and aftermarket support. Near-term performance will likely depend on execution against 2026 growth expectations, ARPU recovery, and whether the company can manage lock-up, S&amp;M, and carrier-related risks.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EE04E432-3C7A-6026-D422-C700E74B62F2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750329189"/>
              </p:ext>
            </p:extLst>
          </p:nvPr>
        </p:nvGraphicFramePr>
        <p:xfrm>
          <a:off x="6484962" y="1992312"/>
          <a:ext cx="4999990" cy="2222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2">
            <a:extLst>
              <a:ext uri="{FF2B5EF4-FFF2-40B4-BE49-F238E27FC236}">
                <a16:creationId xmlns:a16="http://schemas.microsoft.com/office/drawing/2014/main" id="{DD1FFA37-0D77-E72E-8F5A-0242E02FAD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89524" y="4054223"/>
            <a:ext cx="1669032" cy="2332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5B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*Source from stockanalysis.com</a:t>
            </a:r>
            <a:endParaRPr lang="en-US" sz="600" i="1" dirty="0"/>
          </a:p>
        </p:txBody>
      </p:sp>
    </p:spTree>
    <p:extLst>
      <p:ext uri="{BB962C8B-B14F-4D97-AF65-F5344CB8AC3E}">
        <p14:creationId xmlns:p14="http://schemas.microsoft.com/office/powerpoint/2010/main" val="7016760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WPS">
  <a:themeElements>
    <a:clrScheme name="Custom 1">
      <a:dk1>
        <a:srgbClr val="000000"/>
      </a:dk1>
      <a:lt1>
        <a:srgbClr val="FFFFFF"/>
      </a:lt1>
      <a:dk2>
        <a:srgbClr val="337562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6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6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6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ED721D-BD17-42AD-A282-A07B43694EFA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728565fa-8ede-480f-945b-7f043ff0e9a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4430</TotalTime>
  <Words>4796</Words>
  <Application>Microsoft Office PowerPoint</Application>
  <PresentationFormat>Widescreen</PresentationFormat>
  <Paragraphs>845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Noto Sans SC Black</vt:lpstr>
      <vt:lpstr>等线</vt:lpstr>
      <vt:lpstr>Aptos</vt:lpstr>
      <vt:lpstr>Aptos Display</vt:lpstr>
      <vt:lpstr>Arial</vt:lpstr>
      <vt:lpstr>Calibri</vt:lpstr>
      <vt:lpstr>Wingdings</vt:lpstr>
      <vt:lpstr>WPS</vt:lpstr>
      <vt:lpstr>IPO TRANSACTION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林静绮</dc:creator>
  <cp:lastModifiedBy>Jasmine Lin</cp:lastModifiedBy>
  <cp:revision>135</cp:revision>
  <dcterms:created xsi:type="dcterms:W3CDTF">2023-08-09T12:44:55Z</dcterms:created>
  <dcterms:modified xsi:type="dcterms:W3CDTF">2026-04-13T00:56:09Z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